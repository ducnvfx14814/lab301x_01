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87" r:id="rId4"/>
    <p:sldId id="258" r:id="rId5"/>
    <p:sldId id="259" r:id="rId6"/>
    <p:sldId id="260" r:id="rId7"/>
    <p:sldId id="261" r:id="rId8"/>
    <p:sldId id="262" r:id="rId9"/>
    <p:sldId id="288" r:id="rId10"/>
    <p:sldId id="263" r:id="rId11"/>
    <p:sldId id="293" r:id="rId12"/>
    <p:sldId id="264" r:id="rId13"/>
    <p:sldId id="265" r:id="rId14"/>
    <p:sldId id="266" r:id="rId15"/>
    <p:sldId id="267" r:id="rId16"/>
    <p:sldId id="289" r:id="rId17"/>
    <p:sldId id="268" r:id="rId18"/>
    <p:sldId id="290" r:id="rId19"/>
    <p:sldId id="269" r:id="rId20"/>
    <p:sldId id="271" r:id="rId21"/>
    <p:sldId id="272" r:id="rId22"/>
    <p:sldId id="273" r:id="rId23"/>
    <p:sldId id="274" r:id="rId24"/>
    <p:sldId id="275" r:id="rId25"/>
    <p:sldId id="276" r:id="rId26"/>
    <p:sldId id="277" r:id="rId27"/>
    <p:sldId id="291" r:id="rId28"/>
    <p:sldId id="278" r:id="rId29"/>
    <p:sldId id="279" r:id="rId30"/>
    <p:sldId id="280" r:id="rId31"/>
    <p:sldId id="281" r:id="rId32"/>
    <p:sldId id="282" r:id="rId33"/>
    <p:sldId id="292" r:id="rId34"/>
    <p:sldId id="283" r:id="rId35"/>
    <p:sldId id="284" r:id="rId36"/>
    <p:sldId id="285" r:id="rId37"/>
    <p:sldId id="286"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Số test</c:v>
                </c:pt>
              </c:strCache>
            </c:strRef>
          </c:tx>
          <c:spPr>
            <a:solidFill>
              <a:srgbClr val="1D4ED8"/>
            </a:solidFill>
            <a:effectLst/>
          </c:spPr>
          <c:invertIfNegative val="0"/>
          <c:dLbls>
            <c:numFmt formatCode="#,##0" sourceLinked="0"/>
            <c:spPr>
              <a:noFill/>
              <a:ln>
                <a:noFill/>
              </a:ln>
              <a:effectLst/>
            </c:spPr>
            <c:txPr>
              <a:bodyPr/>
              <a:lstStyle/>
              <a:p>
                <a:pPr>
                  <a:defRPr sz="1200" b="0" i="0" u="none" strike="noStrike">
                    <a:solidFill>
                      <a:srgbClr val="1F2937"/>
                    </a:solidFill>
                    <a:latin typeface="Arial"/>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BO</c:v>
                </c:pt>
                <c:pt idx="1">
                  <c:v>Tiện ích</c:v>
                </c:pt>
                <c:pt idx="2">
                  <c:v>Model</c:v>
                </c:pt>
                <c:pt idx="3">
                  <c:v>Filter</c:v>
                </c:pt>
              </c:strCache>
            </c:strRef>
          </c:cat>
          <c:val>
            <c:numRef>
              <c:f>Sheet1!$B$2:$B$5</c:f>
              <c:numCache>
                <c:formatCode>General</c:formatCode>
                <c:ptCount val="4"/>
                <c:pt idx="0">
                  <c:v>114</c:v>
                </c:pt>
                <c:pt idx="1">
                  <c:v>61</c:v>
                </c:pt>
                <c:pt idx="2">
                  <c:v>15</c:v>
                </c:pt>
                <c:pt idx="3">
                  <c:v>11</c:v>
                </c:pt>
              </c:numCache>
            </c:numRef>
          </c:val>
          <c:extLst>
            <c:ext xmlns:c16="http://schemas.microsoft.com/office/drawing/2014/chart" uri="{C3380CC4-5D6E-409C-BE32-E72D297353CC}">
              <c16:uniqueId val="{00000000-417A-4C03-813A-AD63785F0B61}"/>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Test case</c:v>
                </c:pt>
              </c:strCache>
            </c:strRef>
          </c:tx>
          <c:spPr>
            <a:solidFill>
              <a:schemeClr val="accent1">
                <a:alpha val="85000"/>
              </a:schemeClr>
            </a:solidFill>
            <a:ln w="9525" cap="flat" cmpd="sng" algn="ctr">
              <a:solidFill>
                <a:schemeClr val="lt1">
                  <a:alpha val="50000"/>
                </a:schemeClr>
              </a:solidFill>
              <a:round/>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vi-V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CN1</c:v>
                </c:pt>
                <c:pt idx="1">
                  <c:v>CN2</c:v>
                </c:pt>
                <c:pt idx="2">
                  <c:v>CN3</c:v>
                </c:pt>
                <c:pt idx="3">
                  <c:v>CN4</c:v>
                </c:pt>
              </c:strCache>
            </c:strRef>
          </c:cat>
          <c:val>
            <c:numRef>
              <c:f>Sheet1!$B$2:$B$5</c:f>
              <c:numCache>
                <c:formatCode>General</c:formatCode>
                <c:ptCount val="4"/>
                <c:pt idx="0">
                  <c:v>38</c:v>
                </c:pt>
                <c:pt idx="1">
                  <c:v>18</c:v>
                </c:pt>
                <c:pt idx="2">
                  <c:v>44</c:v>
                </c:pt>
                <c:pt idx="3">
                  <c:v>14</c:v>
                </c:pt>
              </c:numCache>
            </c:numRef>
          </c:val>
          <c:extLst>
            <c:ext xmlns:c16="http://schemas.microsoft.com/office/drawing/2014/chart" uri="{C3380CC4-5D6E-409C-BE32-E72D297353CC}">
              <c16:uniqueId val="{00000000-6438-49FD-9092-C6130C3D5B79}"/>
            </c:ext>
          </c:extLst>
        </c:ser>
        <c:dLbls>
          <c:dLblPos val="inEnd"/>
          <c:showLegendKey val="0"/>
          <c:showVal val="1"/>
          <c:showCatName val="0"/>
          <c:showSerName val="0"/>
          <c:showPercent val="0"/>
          <c:showBubbleSize val="0"/>
        </c:dLbls>
        <c:gapWidth val="65"/>
        <c:axId val="2094734554"/>
        <c:axId val="2094734552"/>
      </c:barChart>
      <c:catAx>
        <c:axId val="2094734554"/>
        <c:scaling>
          <c:orientation val="maxMin"/>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vi-V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5541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hội đồng. Em là Nguyễn Việt Đức. Em xin trình bày dự án Dò vé số: ứng dụng web giúp người dùng dò kết quả xổ số và giúp quản trị viên quản lý dữ liệu. Dự án có 4 chức năng chính, 3 nhóm người dùng và 239 test tự động.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 cục sáu phần. Em dành thời gian cho phần code hoạt động như thế nào và phần demo; phần đảm bảo chất lượng gồm bảo mật và kiểm thử.</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Dò vé thủ công từng giải rất dễ nhầm, và không lưu lại được những lần đã dò. Phía quản lý phải nhập kết quả từng ngày, từng đài. Hệ thống đối chiếu tự động theo 8 giải, lưu lịch sử, gợi ý số tham khảo, và lấy kết quả tự động từ Minh Ngọc để ADMIN xem trước rồi mới lưu.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NO_USER chỉ đăng ký và dò 1 vé. USER đăng nhập, dò nhiều vé tối đa 20 số, xem lịch sử và đề xuất số. ADMIN quản trị người dùng và vé dò, không dùng các chức năng dò vé; Filter chuyển ADMIN về trang quản lý người dùng.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nâng cao đã làm: xem trước vé dò, nhập hàng loạt, thời gian đăng nhập gần nhất kèm lọc người dùng lâu không đăng nhập, và đề xuất số. Chưa làm: đăng nhập Facebook/Google, mời qua email, xuất Excel.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1 có 9 chức năng con. NO_USER: Đăng ký tài khoản. USER: Đăng nhập, Đăng xuất, Đổi mật khẩu, Quên mật khẩu. ADMIN: Xem danh sách, Tìm kiếm, Khoá hoặc mở khoá, Phân quyền ROLE. Chức năng 2 do ADMIN thực hiện: thêm vé dò mới, tìm kiếm, publish, xem thống kê lượt dò.</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NO_USER chỉ dò 1 vé và không lưu lịch sử. USER dò nhiều vé và xem lịch sử dò. Cả hai cùng đi qua chức năng Xem kết quả dò. Chức năng 4 do USER thực hiện: xem đề xuất số nên mua.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dùng mô hình MVC. View là JSP kết hợp JSTL, chỉ hiển thị dữ liệu. Controller là các Servlet, nhận request rồi gọi xuống Model. Model em tách thành hai phần: BO chứa quy tắc nghiệp vụ và DAO chứa truy vấn SQL. Lý do tách là BO không phụ thuộc HttpServletRequest và không viết SQL nên khi viết unit test có thể thay DAO bằng mock. Filter đứng trước Controller để mã hoá, kiểm tra đăng nhập và phân quyền.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mô tả luồng tổng quát, áp dụng cho mọi chức năng. Một: người dùng thao tác trên trình duyệt, trình duyệt gửi HTTP request. Hai: Filter chặn trước, đặt UTF-8, kiểm tra đăng nhập và ROLE. Ba: Controller đọc tham số, lấy người dùng từ session, gọi BO. Bốn: BO kiểm tra dữ liệu và áp dụng quy tắc nghiệp vụ, gọi DAO hoặc dịch vụ ngoài như Minh Ngọc khi cần. Năm: DAO chạy câu SQL bằng PreparedStatement qua connection pool và trả entity về. Sáu: kết quả hoặc lỗi trả ngược về Controller, Controller đặt dữ liệu vào request rồi forward sang JSP, JSP dựng HTML trả về trình duyệt. Quy tắc quan trọng là Controller không gọi trực tiếp DAO, và BO không dùng HttpServletRequest.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là Maven Web Application. Gốc dự án có pom.xml, thư mục database chứa schema.sql và thư mục docs chứa coding standard. Trong src có hai nhánh: main gồm Java, tài nguyên cấu hình và webapp; test chứa unit test và integration test.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chia package theo tính năng: auth, admin, user, lottery. Giao diện cũng chia folder views đúng theo tên đó, nên khi sửa một màn hình em biết ngay Servlet nào tương ứng. Các package còn lại như model, bo, dao, filter, listener, util không có giao diện. Thư mục test lặp lại cấu trúc package: unit test ở bo, util, filter, model; integration test ở dao/impl. Thư mục common trong views chứa phần dùng chung như header, footer, trang lỗi.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jBCrypt băm mật khẩu, Jakarta Mail gửi email đặt lại mật khẩu, jsoup đọc HTML trang Minh Ngọc, HikariCP là connection pool. Tomcat 9 dùng namespace javax.servlet.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users lưu mật khẩu băm BCrypt. Vé dò có trạng thái UNPUBLISH hoặc PUBLISH. Mỗi vé có nhiều giải, xoá vé thì xoá các giải. Lịch sử dò lưu tóm tắt kết quả và số tiền trúng.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dùng Bootstrap 5; khu quản trị dùng SB Admin 2. Hiển thị tốt trên máy tính và thiết bị di động. Tài liệu có đủ các màn hình ở chương 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đăng nhập inactive@gmail.com để thấy thông báo tài khoản bị khoá, rồi đăng nhập duc.nguyen@gmail.com. Quên mật khẩu cần cấu hình email nên có thể chỉ nói và chiếu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Đăng nhập admin@doveso.vn. Cho thấy USER vào /admin bị từ chối 403. Quy tắc: không thể khoá hoặc hạ quyền tài khoản ADMIN, chỉ ADMIN chính mới thăng cấp người khác lên ADMIN.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lọc UNPUBLISH, publish vé 10/09/2026; sau đó thêm vé mới bằng Xem trước. Nếu mất mạng, chuyển sang slide và nói rõ rủi ro phụ thuộc nguồn ngoài.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Nhập hàng loạt là chức năng nâng cao, chỉ ADMIN chính dùng được. Nếu hết thời gian có thể bỏ qua thao tác và chỉ chiếu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miền Bắc, ngày 01/09/2026, số 05521 trúng giải Đặc biệt. Với USER nhập 05521, 69764 và một số không trúng. Dò ngày 10/09 chưa công bố để thấy thông báo.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dùng phân trang phía server để chỉ tải đúng số dòng cần hiển thị, kiểm soát được truy vấn và kiểm thử được.</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chọn tỉnh miền Bắc và bấm Xem thống kê. Thuật toán thống kê có unit test riêng NumberSuggestionUtilTest. Kết quả chỉ mang tính tham khảo.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lưu mật khẩu Gmail hay mật khẩu DB trong mã nguồn; mail.properties trong source để trống và có file .example. Mật khẩu người dùng băm BCrypt, không lưu mật khẩu gốc.</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chia kiểm thử thành ba lớp. Unit test không cần cơ sở dữ liệu và Internet, chạy nhanh. Integration test chạy trên MySQL thật để kiểm tra các câu SQL của DAO. Kiểm thử hệ thống làm thủ công trên giao diện, bù cho phần Servlet và JSP chưa có test tự động. Tổng 239 test tự động gồm 201 unit test và 38 integration test.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 có 114 test, nhiều nhất vì chứa quy tắc nghiệp vụ. Nhóm tiện ích gồm thuật toán đối chiếu trúng giải, thống kê đề xuất số, kiểm tra dữ liệu, BCrypt, token đặt lại mật khẩu, bộ nhớ đệm và phân tích HTML Minh Ngọc trên file mẫu. Filter 11 test, Model 15 test. Tất cả dùng Mockito hoặc đối tượng thuần, không cần MySQL.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test của em tập trung vào tầng DAO. Mỗi test chạy trực tiếp trên MySQL, đọc cấu hình giống lúc chạy ứng dụng, không dùng mock. Mỗi test tự tạo dữ liệu riêng, ngày quay số ở xa trong tương lai, và tự xoá sau khi chạy nên không ảnh hưởng dữ liệu mẫu. Vì cần cơ sở dữ liệu, nhóm này tách riêng với unit test.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thử hệ thống thực hiện thủ công theo test case đã viết, môi trường Windows 10, Chrome, Tomcat 9, MySQL 8.0 với dữ liệu mẫu trong schema.sql. Phần này bù cho Servlet và JSP chưa có test tự động. Mỗi chức năng có sheet tình huống, test case chi tiết và báo cáo tổng hợp.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kết luận theo trọng tâm môn học. Một, xây dựng ứng dụng web bằng Servlet, JSP, JSTL theo mô hình MVC. Hai, tổ chức mã nguồn rõ ràng với Controller, BO, DAO. Ba, làm việc với cơ sở dữ liệu quan hệ bằng JDBC và connection pool. Bốn, bảo mật và phân quyền. Năm, kiểm thử gồm unit test, integration test và kiểm thử hệ thống. Sáu, đầy đủ tài liệu. Kết quả: 4 chức năng, 239 test tự động và 114 test case đều đạt.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chính là phụ thuộc nguồn Minh Ngọc và Internet; nếu trang nguồn đổi cấu trúc thì không lấy được kết quả, nhưng vé đã lưu không bị ảnh hưởng. Một số chức năng nâng cao của đề bài chưa làm. Hướng phát triển ưu tiên là nhập kết quả thủ công để dự phòng.</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tài liệu và công cụ em tham khảo trong quá trình làm dự án; danh sách đầy đủ có trong Project Document.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có thể gặp: (1) Vì sao không dùng DataTables: dùng phân trang phía server để chỉ tải đúng số dòng cần thiết. (2) Mật khẩu DB và email lưu ở đâu: biến môi trường DOVESO_*, không lưu trong source; mật khẩu người dùng băm BCrypt. (3) Nếu Minh Ngọc đổi cấu trúc: hệ thống báo lỗi cho ADMIN, vé đã lưu không ảnh hưởng, có test phân tích HTML và hướng phát triển là nhập thủ công. (4) Controller có gọi DAO không: không, chỉ gọi BO; BO nhận DAO qua constructor nên test bằng Mockito. (5) Khác nhau giữa unit test và integration test: unit test giả lập DAO bằng Mockito nên không cần CSDL; integration test chạy SQL thật trên MySQL cho các DAO. (6) Vì sao USER không vào được /admin: AdminAuthorizationFilter trả 403. (7) Vì sao tách BO và DAO: BO không phụ thuộc HttpServletRequest và không viết SQL nên test được độc lập.</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3.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1D4ED8"/>
          </a:solidFill>
          <a:ln w="12700">
            <a:solidFill>
              <a:srgbClr val="1D4ED8"/>
            </a:solidFill>
            <a:prstDash val="solid"/>
          </a:ln>
        </p:spPr>
      </p:sp>
      <p:sp>
        <p:nvSpPr>
          <p:cNvPr id="3" name="Shape 1"/>
          <p:cNvSpPr/>
          <p:nvPr/>
        </p:nvSpPr>
        <p:spPr>
          <a:xfrm>
            <a:off x="5943600" y="0"/>
            <a:ext cx="3200400" cy="5143500"/>
          </a:xfrm>
          <a:prstGeom prst="rect">
            <a:avLst/>
          </a:prstGeom>
          <a:solidFill>
            <a:srgbClr val="EFF6FF"/>
          </a:solidFill>
          <a:ln w="12700">
            <a:solidFill>
              <a:srgbClr val="EFF6FF"/>
            </a:solidFill>
            <a:prstDash val="solid"/>
          </a:ln>
        </p:spPr>
      </p:sp>
      <p:sp>
        <p:nvSpPr>
          <p:cNvPr id="4" name="Text 2"/>
          <p:cNvSpPr txBox="1"/>
          <p:nvPr/>
        </p:nvSpPr>
        <p:spPr>
          <a:xfrm>
            <a:off x="822960" y="914400"/>
            <a:ext cx="4937760" cy="365760"/>
          </a:xfrm>
          <a:prstGeom prst="rect">
            <a:avLst/>
          </a:prstGeom>
          <a:noFill/>
          <a:ln/>
        </p:spPr>
        <p:txBody>
          <a:bodyPr wrap="square" lIns="0" tIns="0" rIns="0" bIns="0" rtlCol="0" anchor="t"/>
          <a:lstStyle/>
          <a:p>
            <a:pPr marL="0" indent="0">
              <a:buNone/>
            </a:pPr>
            <a:r>
              <a:rPr lang="vi-VN" altLang="en-US" sz="1400" b="1" dirty="0">
                <a:solidFill>
                  <a:srgbClr val="3B82F6"/>
                </a:solidFill>
                <a:latin typeface="Calibri" pitchFamily="34" charset="0"/>
                <a:ea typeface="Calibri" pitchFamily="34" charset="-122"/>
                <a:cs typeface="Calibri" pitchFamily="34" charset="-120"/>
              </a:rPr>
              <a:t>BÁO CÁO DỰ ÁN  ·  LAB301x</a:t>
            </a:r>
            <a:endParaRPr lang="vi-VN" sz="1400" dirty="0"/>
          </a:p>
        </p:txBody>
      </p:sp>
      <p:sp>
        <p:nvSpPr>
          <p:cNvPr id="5" name="Text 3"/>
          <p:cNvSpPr txBox="1"/>
          <p:nvPr/>
        </p:nvSpPr>
        <p:spPr>
          <a:xfrm>
            <a:off x="822960" y="1325880"/>
            <a:ext cx="5029200" cy="1097280"/>
          </a:xfrm>
          <a:prstGeom prst="rect">
            <a:avLst/>
          </a:prstGeom>
          <a:noFill/>
          <a:ln/>
        </p:spPr>
        <p:txBody>
          <a:bodyPr wrap="square" lIns="0" tIns="0" rIns="0" bIns="0" rtlCol="0" anchor="ctr"/>
          <a:lstStyle/>
          <a:p>
            <a:pPr marL="0" indent="0">
              <a:buNone/>
            </a:pPr>
            <a:r>
              <a:rPr lang="vi-VN" altLang="en-US" sz="6400" b="1" dirty="0">
                <a:solidFill>
                  <a:srgbClr val="0F2A5C"/>
                </a:solidFill>
                <a:latin typeface="Calibri" pitchFamily="34" charset="0"/>
                <a:ea typeface="Calibri" pitchFamily="34" charset="-122"/>
                <a:cs typeface="Calibri" pitchFamily="34" charset="-120"/>
              </a:rPr>
              <a:t>Dò Vé Số</a:t>
            </a:r>
            <a:endParaRPr lang="vi-VN" sz="6400" dirty="0"/>
          </a:p>
        </p:txBody>
      </p:sp>
      <p:sp>
        <p:nvSpPr>
          <p:cNvPr id="6" name="Text 4"/>
          <p:cNvSpPr txBox="1"/>
          <p:nvPr/>
        </p:nvSpPr>
        <p:spPr>
          <a:xfrm>
            <a:off x="822960" y="2514600"/>
            <a:ext cx="4846320" cy="731520"/>
          </a:xfrm>
          <a:prstGeom prst="rect">
            <a:avLst/>
          </a:prstGeom>
          <a:noFill/>
          <a:ln/>
        </p:spPr>
        <p:txBody>
          <a:bodyPr wrap="square" lIns="0" tIns="0" rIns="0" bIns="0" rtlCol="0" anchor="t"/>
          <a:lstStyle/>
          <a:p>
            <a:pPr marL="0" indent="0">
              <a:buNone/>
            </a:pPr>
            <a:r>
              <a:rPr lang="vi-VN" altLang="en-US" sz="2000" dirty="0">
                <a:solidFill>
                  <a:srgbClr val="1F2937"/>
                </a:solidFill>
                <a:latin typeface="Calibri" pitchFamily="34" charset="0"/>
                <a:ea typeface="Calibri" pitchFamily="34" charset="-122"/>
                <a:cs typeface="Calibri" pitchFamily="34" charset="-120"/>
              </a:rPr>
              <a:t>Ứng dụng web dò kết quả xổ số kiến thiết ba miền</a:t>
            </a:r>
            <a:endParaRPr lang="vi-VN" sz="2000" dirty="0"/>
          </a:p>
        </p:txBody>
      </p:sp>
      <p:sp>
        <p:nvSpPr>
          <p:cNvPr id="7" name="Shape 5"/>
          <p:cNvSpPr/>
          <p:nvPr/>
        </p:nvSpPr>
        <p:spPr>
          <a:xfrm>
            <a:off x="822960" y="3474720"/>
            <a:ext cx="4531822" cy="0"/>
          </a:xfrm>
          <a:prstGeom prst="line">
            <a:avLst/>
          </a:prstGeom>
          <a:noFill/>
          <a:ln w="31750">
            <a:solidFill>
              <a:srgbClr val="1D4ED8"/>
            </a:solidFill>
            <a:prstDash val="solid"/>
          </a:ln>
        </p:spPr>
      </p:sp>
      <p:sp>
        <p:nvSpPr>
          <p:cNvPr id="8" name="Text 6"/>
          <p:cNvSpPr txBox="1"/>
          <p:nvPr/>
        </p:nvSpPr>
        <p:spPr>
          <a:xfrm>
            <a:off x="822960" y="3703320"/>
            <a:ext cx="4937760" cy="731520"/>
          </a:xfrm>
          <a:prstGeom prst="rect">
            <a:avLst/>
          </a:prstGeom>
          <a:noFill/>
          <a:ln/>
        </p:spPr>
        <p:txBody>
          <a:bodyPr wrap="square" lIns="0" tIns="0" rIns="0" bIns="0" rtlCol="0" anchor="t"/>
          <a:lstStyle/>
          <a:p>
            <a:pPr marL="0" indent="0">
              <a:buNone/>
            </a:pPr>
            <a:r>
              <a:rPr lang="en-US" altLang="en-US" sz="1400" dirty="0">
                <a:solidFill>
                  <a:srgbClr val="64748B"/>
                </a:solidFill>
                <a:latin typeface="Calibri" pitchFamily="34" charset="0"/>
                <a:ea typeface="Calibri" pitchFamily="34" charset="-122"/>
                <a:cs typeface="Calibri" pitchFamily="34" charset="-120"/>
              </a:rPr>
              <a:t>Học </a:t>
            </a:r>
            <a:r>
              <a:rPr lang="en-US" altLang="en-US" sz="1400" dirty="0" err="1">
                <a:solidFill>
                  <a:srgbClr val="64748B"/>
                </a:solidFill>
                <a:latin typeface="Calibri" pitchFamily="34" charset="0"/>
                <a:ea typeface="Calibri" pitchFamily="34" charset="-122"/>
                <a:cs typeface="Calibri" pitchFamily="34" charset="-120"/>
              </a:rPr>
              <a:t>viên</a:t>
            </a:r>
            <a:r>
              <a:rPr lang="en-US" altLang="en-US" sz="1400" dirty="0">
                <a:solidFill>
                  <a:srgbClr val="64748B"/>
                </a:solidFill>
                <a:latin typeface="Calibri" pitchFamily="34" charset="0"/>
                <a:ea typeface="Calibri" pitchFamily="34" charset="-122"/>
                <a:cs typeface="Calibri" pitchFamily="34" charset="-120"/>
              </a:rPr>
              <a:t>: </a:t>
            </a:r>
            <a:r>
              <a:rPr lang="vi-VN" altLang="en-US" sz="1400" dirty="0">
                <a:solidFill>
                  <a:srgbClr val="64748B"/>
                </a:solidFill>
                <a:latin typeface="Calibri" pitchFamily="34" charset="0"/>
                <a:ea typeface="Calibri" pitchFamily="34" charset="-122"/>
                <a:cs typeface="Calibri" pitchFamily="34" charset="-120"/>
              </a:rPr>
              <a:t>Nguyễn Việt Đức </a:t>
            </a:r>
            <a:r>
              <a:rPr lang="en-US" altLang="en-US" sz="1400" dirty="0">
                <a:solidFill>
                  <a:srgbClr val="64748B"/>
                </a:solidFill>
                <a:latin typeface="Calibri" pitchFamily="34" charset="0"/>
                <a:ea typeface="Calibri" pitchFamily="34" charset="-122"/>
                <a:cs typeface="Calibri" pitchFamily="34" charset="-120"/>
              </a:rPr>
              <a:t>-</a:t>
            </a:r>
            <a:r>
              <a:rPr lang="vi-VN" altLang="en-US" sz="1400" dirty="0">
                <a:solidFill>
                  <a:srgbClr val="64748B"/>
                </a:solidFill>
                <a:latin typeface="Calibri" pitchFamily="34" charset="0"/>
                <a:ea typeface="Calibri" pitchFamily="34" charset="-122"/>
                <a:cs typeface="Calibri" pitchFamily="34" charset="-120"/>
              </a:rPr>
              <a:t> DucNVFX14814</a:t>
            </a:r>
            <a:endParaRPr lang="vi-VN" sz="1400" dirty="0"/>
          </a:p>
          <a:p>
            <a:pPr marL="0" indent="0">
              <a:buNone/>
            </a:pPr>
            <a:r>
              <a:rPr lang="en-US" altLang="en-US" sz="1400" dirty="0">
                <a:solidFill>
                  <a:srgbClr val="64748B"/>
                </a:solidFill>
                <a:latin typeface="Calibri" pitchFamily="34" charset="0"/>
                <a:ea typeface="Calibri" pitchFamily="34" charset="-122"/>
                <a:cs typeface="Calibri" pitchFamily="34" charset="-120"/>
              </a:rPr>
              <a:t>Mentor: </a:t>
            </a:r>
            <a:r>
              <a:rPr lang="en-US" altLang="en-US" sz="1400" dirty="0" err="1">
                <a:solidFill>
                  <a:srgbClr val="64748B"/>
                </a:solidFill>
                <a:latin typeface="Calibri" pitchFamily="34" charset="0"/>
                <a:ea typeface="Calibri" pitchFamily="34" charset="-122"/>
                <a:cs typeface="Calibri" pitchFamily="34" charset="-120"/>
              </a:rPr>
              <a:t>ToanHK</a:t>
            </a:r>
            <a:endParaRPr lang="vi-VN" sz="1400" dirty="0"/>
          </a:p>
        </p:txBody>
      </p:sp>
      <p:sp>
        <p:nvSpPr>
          <p:cNvPr id="9" name="Text 7"/>
          <p:cNvSpPr txBox="1"/>
          <p:nvPr/>
        </p:nvSpPr>
        <p:spPr>
          <a:xfrm>
            <a:off x="6355080" y="1005840"/>
            <a:ext cx="2560320" cy="731520"/>
          </a:xfrm>
          <a:prstGeom prst="rect">
            <a:avLst/>
          </a:prstGeom>
          <a:noFill/>
          <a:ln/>
        </p:spPr>
        <p:txBody>
          <a:bodyPr wrap="square" lIns="0" tIns="0" rIns="0" bIns="0" rtlCol="0" anchor="t"/>
          <a:lstStyle/>
          <a:p>
            <a:pPr marL="0" indent="0">
              <a:buNone/>
            </a:pPr>
            <a:r>
              <a:rPr lang="vi-VN" altLang="en-US" sz="4600" b="1" dirty="0">
                <a:solidFill>
                  <a:srgbClr val="1D4ED8"/>
                </a:solidFill>
                <a:latin typeface="Calibri" pitchFamily="34" charset="0"/>
                <a:ea typeface="Calibri" pitchFamily="34" charset="-122"/>
                <a:cs typeface="Calibri" pitchFamily="34" charset="-120"/>
              </a:rPr>
              <a:t>4</a:t>
            </a:r>
            <a:endParaRPr lang="vi-VN" sz="4600" dirty="0"/>
          </a:p>
        </p:txBody>
      </p:sp>
      <p:sp>
        <p:nvSpPr>
          <p:cNvPr id="10" name="Text 8"/>
          <p:cNvSpPr txBox="1"/>
          <p:nvPr/>
        </p:nvSpPr>
        <p:spPr>
          <a:xfrm>
            <a:off x="6355080" y="1737360"/>
            <a:ext cx="2560320" cy="320040"/>
          </a:xfrm>
          <a:prstGeom prst="rect">
            <a:avLst/>
          </a:prstGeom>
          <a:noFill/>
          <a:ln/>
        </p:spPr>
        <p:txBody>
          <a:bodyPr wrap="square" lIns="0" tIns="0" rIns="0" bIns="0" rtlCol="0" anchor="t"/>
          <a:lstStyle/>
          <a:p>
            <a:pPr marL="0" indent="0">
              <a:buNone/>
            </a:pPr>
            <a:r>
              <a:rPr lang="vi-VN" altLang="en-US" sz="1500" dirty="0">
                <a:solidFill>
                  <a:srgbClr val="64748B"/>
                </a:solidFill>
                <a:latin typeface="Calibri" pitchFamily="34" charset="0"/>
                <a:ea typeface="Calibri" pitchFamily="34" charset="-122"/>
                <a:cs typeface="Calibri" pitchFamily="34" charset="-120"/>
              </a:rPr>
              <a:t>chức năng chính</a:t>
            </a:r>
            <a:endParaRPr lang="vi-VN" sz="1500" dirty="0"/>
          </a:p>
        </p:txBody>
      </p:sp>
      <p:sp>
        <p:nvSpPr>
          <p:cNvPr id="11" name="Text 9"/>
          <p:cNvSpPr txBox="1"/>
          <p:nvPr/>
        </p:nvSpPr>
        <p:spPr>
          <a:xfrm>
            <a:off x="6355080" y="2286000"/>
            <a:ext cx="2560320" cy="731520"/>
          </a:xfrm>
          <a:prstGeom prst="rect">
            <a:avLst/>
          </a:prstGeom>
          <a:noFill/>
          <a:ln/>
        </p:spPr>
        <p:txBody>
          <a:bodyPr wrap="square" lIns="0" tIns="0" rIns="0" bIns="0" rtlCol="0" anchor="t"/>
          <a:lstStyle/>
          <a:p>
            <a:pPr marL="0" indent="0">
              <a:buNone/>
            </a:pPr>
            <a:r>
              <a:rPr lang="vi-VN" altLang="en-US" sz="4600" b="1" dirty="0">
                <a:solidFill>
                  <a:srgbClr val="1D4ED8"/>
                </a:solidFill>
                <a:latin typeface="Calibri" pitchFamily="34" charset="0"/>
                <a:ea typeface="Calibri" pitchFamily="34" charset="-122"/>
                <a:cs typeface="Calibri" pitchFamily="34" charset="-120"/>
              </a:rPr>
              <a:t>3</a:t>
            </a:r>
            <a:endParaRPr lang="vi-VN" sz="4600" dirty="0"/>
          </a:p>
        </p:txBody>
      </p:sp>
      <p:sp>
        <p:nvSpPr>
          <p:cNvPr id="12" name="Text 10"/>
          <p:cNvSpPr txBox="1"/>
          <p:nvPr/>
        </p:nvSpPr>
        <p:spPr>
          <a:xfrm>
            <a:off x="6355080" y="3017520"/>
            <a:ext cx="2560320" cy="320040"/>
          </a:xfrm>
          <a:prstGeom prst="rect">
            <a:avLst/>
          </a:prstGeom>
          <a:noFill/>
          <a:ln/>
        </p:spPr>
        <p:txBody>
          <a:bodyPr wrap="square" lIns="0" tIns="0" rIns="0" bIns="0" rtlCol="0" anchor="t"/>
          <a:lstStyle/>
          <a:p>
            <a:pPr marL="0" indent="0">
              <a:buNone/>
            </a:pPr>
            <a:r>
              <a:rPr lang="vi-VN" altLang="en-US" sz="1500" dirty="0">
                <a:solidFill>
                  <a:srgbClr val="64748B"/>
                </a:solidFill>
                <a:latin typeface="Calibri" pitchFamily="34" charset="0"/>
                <a:ea typeface="Calibri" pitchFamily="34" charset="-122"/>
                <a:cs typeface="Calibri" pitchFamily="34" charset="-120"/>
              </a:rPr>
              <a:t>nhóm người dùng</a:t>
            </a:r>
            <a:endParaRPr lang="vi-VN"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a:t>
            </a:r>
            <a:endParaRPr lang="vi-VN" sz="900" dirty="0"/>
          </a:p>
        </p:txBody>
      </p:sp>
      <p:sp>
        <p:nvSpPr>
          <p:cNvPr id="9" name="Shape 6"/>
          <p:cNvSpPr/>
          <p:nvPr/>
        </p:nvSpPr>
        <p:spPr>
          <a:xfrm>
            <a:off x="502920" y="1170432"/>
            <a:ext cx="4023360" cy="914400"/>
          </a:xfrm>
          <a:prstGeom prst="roundRect">
            <a:avLst>
              <a:gd name="adj" fmla="val 10000"/>
            </a:avLst>
          </a:prstGeom>
          <a:solidFill>
            <a:srgbClr val="EFF6FF"/>
          </a:solidFill>
          <a:ln w="12700">
            <a:solidFill>
              <a:srgbClr val="EFF6FF"/>
            </a:solidFill>
            <a:prstDash val="solid"/>
          </a:ln>
        </p:spPr>
      </p:sp>
      <p:sp>
        <p:nvSpPr>
          <p:cNvPr id="10" name="Shape 7"/>
          <p:cNvSpPr/>
          <p:nvPr/>
        </p:nvSpPr>
        <p:spPr>
          <a:xfrm>
            <a:off x="685800" y="1371600"/>
            <a:ext cx="512064" cy="512064"/>
          </a:xfrm>
          <a:prstGeom prst="ellipse">
            <a:avLst/>
          </a:prstGeom>
          <a:solidFill>
            <a:srgbClr val="1D4ED8"/>
          </a:solidFill>
          <a:ln w="12700">
            <a:solidFill>
              <a:srgbClr val="1D4ED8"/>
            </a:solidFill>
            <a:prstDash val="solid"/>
          </a:ln>
        </p:spPr>
      </p:sp>
      <p:pic>
        <p:nvPicPr>
          <p:cNvPr id="11" name="Image 0" descr="preencoded.png"/>
          <p:cNvPicPr>
            <a:picLocks noChangeAspect="1"/>
          </p:cNvPicPr>
          <p:nvPr/>
        </p:nvPicPr>
        <p:blipFill>
          <a:blip r:embed="rId3"/>
          <a:stretch>
            <a:fillRect/>
          </a:stretch>
        </p:blipFill>
        <p:spPr>
          <a:xfrm>
            <a:off x="813816" y="1499616"/>
            <a:ext cx="256032" cy="256032"/>
          </a:xfrm>
          <a:prstGeom prst="rect">
            <a:avLst/>
          </a:prstGeom>
        </p:spPr>
      </p:pic>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EFF6FF"/>
          </a:solidFill>
          <a:ln w="12700">
            <a:solidFill>
              <a:srgbClr val="EFF6FF"/>
            </a:solidFill>
            <a:prstDash val="solid"/>
          </a:ln>
        </p:spPr>
      </p:sp>
      <p:sp>
        <p:nvSpPr>
          <p:cNvPr id="15" name="Shape 11"/>
          <p:cNvSpPr/>
          <p:nvPr/>
        </p:nvSpPr>
        <p:spPr>
          <a:xfrm>
            <a:off x="4892040" y="1371600"/>
            <a:ext cx="512064" cy="512064"/>
          </a:xfrm>
          <a:prstGeom prst="ellipse">
            <a:avLst/>
          </a:prstGeom>
          <a:solidFill>
            <a:srgbClr val="1D4ED8"/>
          </a:solidFill>
          <a:ln w="12700">
            <a:solidFill>
              <a:srgbClr val="1D4ED8"/>
            </a:solidFill>
            <a:prstDash val="solid"/>
          </a:ln>
        </p:spPr>
      </p:sp>
      <p:pic>
        <p:nvPicPr>
          <p:cNvPr id="16" name="Image 1" descr="preencoded.png"/>
          <p:cNvPicPr>
            <a:picLocks noChangeAspect="1"/>
          </p:cNvPicPr>
          <p:nvPr/>
        </p:nvPicPr>
        <p:blipFill>
          <a:blip r:embed="rId4"/>
          <a:stretch>
            <a:fillRect/>
          </a:stretch>
        </p:blipFill>
        <p:spPr>
          <a:xfrm>
            <a:off x="5020056" y="1499616"/>
            <a:ext cx="256032" cy="256032"/>
          </a:xfrm>
          <a:prstGeom prst="rect">
            <a:avLst/>
          </a:prstGeom>
        </p:spPr>
      </p:pic>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EFF6FF"/>
          </a:solidFill>
          <a:ln w="12700">
            <a:solidFill>
              <a:srgbClr val="EFF6FF"/>
            </a:solidFill>
            <a:prstDash val="solid"/>
          </a:ln>
        </p:spPr>
      </p:sp>
      <p:sp>
        <p:nvSpPr>
          <p:cNvPr id="20" name="Shape 15"/>
          <p:cNvSpPr/>
          <p:nvPr/>
        </p:nvSpPr>
        <p:spPr>
          <a:xfrm>
            <a:off x="685800" y="2468880"/>
            <a:ext cx="512064" cy="512064"/>
          </a:xfrm>
          <a:prstGeom prst="ellipse">
            <a:avLst/>
          </a:prstGeom>
          <a:solidFill>
            <a:srgbClr val="1D4ED8"/>
          </a:solidFill>
          <a:ln w="12700">
            <a:solidFill>
              <a:srgbClr val="1D4ED8"/>
            </a:solidFill>
            <a:prstDash val="solid"/>
          </a:ln>
        </p:spPr>
      </p:sp>
      <p:pic>
        <p:nvPicPr>
          <p:cNvPr id="21" name="Image 2" descr="preencoded.png"/>
          <p:cNvPicPr>
            <a:picLocks noChangeAspect="1"/>
          </p:cNvPicPr>
          <p:nvPr/>
        </p:nvPicPr>
        <p:blipFill>
          <a:blip r:embed="rId5"/>
          <a:stretch>
            <a:fillRect/>
          </a:stretch>
        </p:blipFill>
        <p:spPr>
          <a:xfrm>
            <a:off x="813816" y="2596896"/>
            <a:ext cx="256032" cy="256032"/>
          </a:xfrm>
          <a:prstGeom prst="rect">
            <a:avLst/>
          </a:prstGeom>
        </p:spPr>
      </p:pic>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EFF6FF"/>
          </a:solidFill>
          <a:ln w="12700">
            <a:solidFill>
              <a:srgbClr val="EFF6FF"/>
            </a:solidFill>
            <a:prstDash val="solid"/>
          </a:ln>
        </p:spPr>
      </p:sp>
      <p:sp>
        <p:nvSpPr>
          <p:cNvPr id="25" name="Shape 19"/>
          <p:cNvSpPr/>
          <p:nvPr/>
        </p:nvSpPr>
        <p:spPr>
          <a:xfrm>
            <a:off x="4892040" y="2468880"/>
            <a:ext cx="512064" cy="512064"/>
          </a:xfrm>
          <a:prstGeom prst="ellipse">
            <a:avLst/>
          </a:prstGeom>
          <a:solidFill>
            <a:srgbClr val="1D4ED8"/>
          </a:solidFill>
          <a:ln w="12700">
            <a:solidFill>
              <a:srgbClr val="1D4ED8"/>
            </a:solidFill>
            <a:prstDash val="solid"/>
          </a:ln>
        </p:spPr>
      </p:sp>
      <p:pic>
        <p:nvPicPr>
          <p:cNvPr id="26" name="Image 3" descr="preencoded.png"/>
          <p:cNvPicPr>
            <a:picLocks noChangeAspect="1"/>
          </p:cNvPicPr>
          <p:nvPr/>
        </p:nvPicPr>
        <p:blipFill>
          <a:blip r:embed="rId6"/>
          <a:stretch>
            <a:fillRect/>
          </a:stretch>
        </p:blipFill>
        <p:spPr>
          <a:xfrm>
            <a:off x="5020056" y="2596896"/>
            <a:ext cx="256032" cy="256032"/>
          </a:xfrm>
          <a:prstGeom prst="rect">
            <a:avLst/>
          </a:prstGeom>
        </p:spPr>
      </p:pic>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EFF6FF"/>
          </a:solidFill>
          <a:ln w="12700">
            <a:solidFill>
              <a:srgbClr val="EFF6FF"/>
            </a:solidFill>
            <a:prstDash val="solid"/>
          </a:ln>
        </p:spPr>
      </p:sp>
      <p:sp>
        <p:nvSpPr>
          <p:cNvPr id="30" name="Shape 23"/>
          <p:cNvSpPr/>
          <p:nvPr/>
        </p:nvSpPr>
        <p:spPr>
          <a:xfrm>
            <a:off x="685800" y="3566160"/>
            <a:ext cx="512064" cy="512064"/>
          </a:xfrm>
          <a:prstGeom prst="ellipse">
            <a:avLst/>
          </a:prstGeom>
          <a:solidFill>
            <a:srgbClr val="1D4ED8"/>
          </a:solidFill>
          <a:ln w="12700">
            <a:solidFill>
              <a:srgbClr val="1D4ED8"/>
            </a:solidFill>
            <a:prstDash val="solid"/>
          </a:ln>
        </p:spPr>
      </p:sp>
      <p:pic>
        <p:nvPicPr>
          <p:cNvPr id="31" name="Image 4" descr="preencoded.png"/>
          <p:cNvPicPr>
            <a:picLocks noChangeAspect="1"/>
          </p:cNvPicPr>
          <p:nvPr/>
        </p:nvPicPr>
        <p:blipFill>
          <a:blip r:embed="rId7"/>
          <a:stretch>
            <a:fillRect/>
          </a:stretch>
        </p:blipFill>
        <p:spPr>
          <a:xfrm>
            <a:off x="813816" y="3694176"/>
            <a:ext cx="256032" cy="256032"/>
          </a:xfrm>
          <a:prstGeom prst="rect">
            <a:avLst/>
          </a:prstGeom>
        </p:spPr>
      </p:pic>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EFF6FF"/>
          </a:solidFill>
          <a:ln w="12700">
            <a:solidFill>
              <a:srgbClr val="EFF6FF"/>
            </a:solidFill>
            <a:prstDash val="solid"/>
          </a:ln>
        </p:spPr>
      </p:sp>
      <p:sp>
        <p:nvSpPr>
          <p:cNvPr id="35" name="Shape 27"/>
          <p:cNvSpPr/>
          <p:nvPr/>
        </p:nvSpPr>
        <p:spPr>
          <a:xfrm>
            <a:off x="4892040" y="3566160"/>
            <a:ext cx="512064" cy="512064"/>
          </a:xfrm>
          <a:prstGeom prst="ellipse">
            <a:avLst/>
          </a:prstGeom>
          <a:solidFill>
            <a:srgbClr val="1D4ED8"/>
          </a:solidFill>
          <a:ln w="12700">
            <a:solidFill>
              <a:srgbClr val="1D4ED8"/>
            </a:solidFill>
            <a:prstDash val="solid"/>
          </a:ln>
        </p:spPr>
      </p:sp>
      <p:pic>
        <p:nvPicPr>
          <p:cNvPr id="36" name="Image 5" descr="preencoded.png"/>
          <p:cNvPicPr>
            <a:picLocks noChangeAspect="1"/>
          </p:cNvPicPr>
          <p:nvPr/>
        </p:nvPicPr>
        <p:blipFill>
          <a:blip r:embed="rId8"/>
          <a:stretch>
            <a:fillRect/>
          </a:stretch>
        </p:blipFill>
        <p:spPr>
          <a:xfrm>
            <a:off x="5020056" y="3694176"/>
            <a:ext cx="256032" cy="256032"/>
          </a:xfrm>
          <a:prstGeom prst="rect">
            <a:avLst/>
          </a:prstGeom>
        </p:spPr>
      </p:pic>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a:t>
            </a:r>
            <a:endParaRPr lang="vi-VN" sz="900" dirty="0"/>
          </a:p>
        </p:txBody>
      </p:sp>
      <p:sp>
        <p:nvSpPr>
          <p:cNvPr id="9" name="Shape 6"/>
          <p:cNvSpPr/>
          <p:nvPr/>
        </p:nvSpPr>
        <p:spPr>
          <a:xfrm>
            <a:off x="502920" y="1170432"/>
            <a:ext cx="4023360" cy="914400"/>
          </a:xfrm>
          <a:prstGeom prst="roundRect">
            <a:avLst>
              <a:gd name="adj" fmla="val 10000"/>
            </a:avLst>
          </a:prstGeom>
          <a:solidFill>
            <a:srgbClr val="DBEAFE"/>
          </a:solidFill>
          <a:ln w="28575">
            <a:solidFill>
              <a:srgbClr val="1D4ED8"/>
            </a:solidFill>
          </a:ln>
        </p:spPr>
      </p:sp>
      <p:sp>
        <p:nvSpPr>
          <p:cNvPr id="10" name="Shape 7"/>
          <p:cNvSpPr/>
          <p:nvPr/>
        </p:nvSpPr>
        <p:spPr>
          <a:xfrm>
            <a:off x="685800" y="1371600"/>
            <a:ext cx="512064" cy="512064"/>
          </a:xfrm>
          <a:prstGeom prst="ellipse">
            <a:avLst/>
          </a:prstGeom>
          <a:solidFill>
            <a:srgbClr val="1D4ED8"/>
          </a:solidFill>
          <a:ln w="12700">
            <a:solidFill>
              <a:srgbClr val="1D4ED8"/>
            </a:solidFill>
            <a:prstDash val="solid"/>
          </a:ln>
        </p:spPr>
      </p:sp>
      <p:pic>
        <p:nvPicPr>
          <p:cNvPr id="11" name="Image 0" descr="preencoded.png"/>
          <p:cNvPicPr>
            <a:picLocks noChangeAspect="1"/>
          </p:cNvPicPr>
          <p:nvPr/>
        </p:nvPicPr>
        <p:blipFill>
          <a:blip r:embed="rId2"/>
          <a:stretch>
            <a:fillRect/>
          </a:stretch>
        </p:blipFill>
        <p:spPr>
          <a:xfrm>
            <a:off x="813816" y="1499616"/>
            <a:ext cx="256032" cy="256032"/>
          </a:xfrm>
          <a:prstGeom prst="rect">
            <a:avLst/>
          </a:prstGeom>
        </p:spPr>
      </p:pic>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F8FAFC"/>
          </a:solidFill>
          <a:ln w="12700">
            <a:solidFill>
              <a:srgbClr val="F1F5F9"/>
            </a:solidFill>
          </a:ln>
        </p:spPr>
      </p:sp>
      <p:sp>
        <p:nvSpPr>
          <p:cNvPr id="15" name="Shape 11"/>
          <p:cNvSpPr/>
          <p:nvPr/>
        </p:nvSpPr>
        <p:spPr>
          <a:xfrm>
            <a:off x="4892040" y="1371600"/>
            <a:ext cx="512064" cy="512064"/>
          </a:xfrm>
          <a:prstGeom prst="ellipse">
            <a:avLst/>
          </a:prstGeom>
          <a:solidFill>
            <a:srgbClr val="CBD5E1"/>
          </a:solidFill>
          <a:ln w="12700">
            <a:solidFill>
              <a:srgbClr val="CBD5E1"/>
            </a:solidFill>
          </a:ln>
        </p:spPr>
      </p:sp>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F8FAFC"/>
          </a:solidFill>
          <a:ln w="12700">
            <a:solidFill>
              <a:srgbClr val="F1F5F9"/>
            </a:solidFill>
          </a:ln>
        </p:spPr>
      </p:sp>
      <p:sp>
        <p:nvSpPr>
          <p:cNvPr id="20" name="Shape 15"/>
          <p:cNvSpPr/>
          <p:nvPr/>
        </p:nvSpPr>
        <p:spPr>
          <a:xfrm>
            <a:off x="685800" y="2468880"/>
            <a:ext cx="512064" cy="512064"/>
          </a:xfrm>
          <a:prstGeom prst="ellipse">
            <a:avLst/>
          </a:prstGeom>
          <a:solidFill>
            <a:srgbClr val="CBD5E1"/>
          </a:solidFill>
          <a:ln w="12700">
            <a:solidFill>
              <a:srgbClr val="CBD5E1"/>
            </a:solidFill>
          </a:ln>
        </p:spPr>
      </p:sp>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F8FAFC"/>
          </a:solidFill>
          <a:ln w="12700">
            <a:solidFill>
              <a:srgbClr val="F1F5F9"/>
            </a:solidFill>
          </a:ln>
        </p:spPr>
      </p:sp>
      <p:sp>
        <p:nvSpPr>
          <p:cNvPr id="25" name="Shape 19"/>
          <p:cNvSpPr/>
          <p:nvPr/>
        </p:nvSpPr>
        <p:spPr>
          <a:xfrm>
            <a:off x="4892040" y="2468880"/>
            <a:ext cx="512064" cy="512064"/>
          </a:xfrm>
          <a:prstGeom prst="ellipse">
            <a:avLst/>
          </a:prstGeom>
          <a:solidFill>
            <a:srgbClr val="CBD5E1"/>
          </a:solidFill>
          <a:ln w="12700">
            <a:solidFill>
              <a:srgbClr val="CBD5E1"/>
            </a:solidFill>
          </a:ln>
        </p:spPr>
      </p:sp>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F8FAFC"/>
          </a:solidFill>
          <a:ln w="12700">
            <a:solidFill>
              <a:srgbClr val="F1F5F9"/>
            </a:solidFill>
          </a:ln>
        </p:spPr>
      </p:sp>
      <p:sp>
        <p:nvSpPr>
          <p:cNvPr id="30" name="Shape 23"/>
          <p:cNvSpPr/>
          <p:nvPr/>
        </p:nvSpPr>
        <p:spPr>
          <a:xfrm>
            <a:off x="685800" y="3566160"/>
            <a:ext cx="512064" cy="512064"/>
          </a:xfrm>
          <a:prstGeom prst="ellipse">
            <a:avLst/>
          </a:prstGeom>
          <a:solidFill>
            <a:srgbClr val="CBD5E1"/>
          </a:solidFill>
          <a:ln w="12700">
            <a:solidFill>
              <a:srgbClr val="CBD5E1"/>
            </a:solidFill>
          </a:ln>
        </p:spPr>
      </p:sp>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F8FAFC"/>
          </a:solidFill>
          <a:ln w="12700">
            <a:solidFill>
              <a:srgbClr val="F1F5F9"/>
            </a:solidFill>
          </a:ln>
        </p:spPr>
      </p:sp>
      <p:sp>
        <p:nvSpPr>
          <p:cNvPr id="35" name="Shape 27"/>
          <p:cNvSpPr/>
          <p:nvPr/>
        </p:nvSpPr>
        <p:spPr>
          <a:xfrm>
            <a:off x="4892040" y="3566160"/>
            <a:ext cx="512064" cy="512064"/>
          </a:xfrm>
          <a:prstGeom prst="ellipse">
            <a:avLst/>
          </a:prstGeom>
          <a:solidFill>
            <a:srgbClr val="CBD5E1"/>
          </a:solidFill>
          <a:ln w="12700">
            <a:solidFill>
              <a:srgbClr val="CBD5E1"/>
            </a:solidFill>
          </a:ln>
        </p:spPr>
      </p:sp>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Bài toán và mục tiêu</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Rút ngắn thao tác dò vé</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4</a:t>
            </a:r>
            <a:endParaRPr lang="vi-VN" sz="900" dirty="0"/>
          </a:p>
        </p:txBody>
      </p:sp>
      <p:sp>
        <p:nvSpPr>
          <p:cNvPr id="9" name="Shape 6"/>
          <p:cNvSpPr/>
          <p:nvPr/>
        </p:nvSpPr>
        <p:spPr>
          <a:xfrm>
            <a:off x="502920" y="1371600"/>
            <a:ext cx="3977640" cy="2743200"/>
          </a:xfrm>
          <a:prstGeom prst="roundRect">
            <a:avLst>
              <a:gd name="adj" fmla="val 3333"/>
            </a:avLst>
          </a:prstGeom>
          <a:solidFill>
            <a:srgbClr val="EFF6FF"/>
          </a:solidFill>
          <a:ln w="12700">
            <a:solidFill>
              <a:srgbClr val="EFF6FF"/>
            </a:solidFill>
            <a:prstDash val="solid"/>
          </a:ln>
        </p:spPr>
      </p:sp>
      <p:sp>
        <p:nvSpPr>
          <p:cNvPr id="10" name="Shape 7"/>
          <p:cNvSpPr/>
          <p:nvPr/>
        </p:nvSpPr>
        <p:spPr>
          <a:xfrm>
            <a:off x="4663440" y="1371600"/>
            <a:ext cx="4023360" cy="2743200"/>
          </a:xfrm>
          <a:prstGeom prst="roundRect">
            <a:avLst>
              <a:gd name="adj" fmla="val 3333"/>
            </a:avLst>
          </a:prstGeom>
          <a:solidFill>
            <a:srgbClr val="EFF6FF"/>
          </a:solidFill>
          <a:ln w="12700">
            <a:solidFill>
              <a:srgbClr val="EFF6FF"/>
            </a:solidFill>
            <a:prstDash val="solid"/>
          </a:ln>
        </p:spPr>
      </p:sp>
      <p:sp>
        <p:nvSpPr>
          <p:cNvPr id="11" name="Shape 8"/>
          <p:cNvSpPr/>
          <p:nvPr/>
        </p:nvSpPr>
        <p:spPr>
          <a:xfrm>
            <a:off x="731520" y="1554480"/>
            <a:ext cx="502920" cy="502920"/>
          </a:xfrm>
          <a:prstGeom prst="ellipse">
            <a:avLst/>
          </a:prstGeom>
          <a:solidFill>
            <a:srgbClr val="DC2626"/>
          </a:solidFill>
          <a:ln w="12700">
            <a:solidFill>
              <a:srgbClr val="DC2626"/>
            </a:solidFill>
            <a:prstDash val="solid"/>
          </a:ln>
        </p:spPr>
      </p:sp>
      <p:pic>
        <p:nvPicPr>
          <p:cNvPr id="12" name="Image 0" descr="preencoded.png"/>
          <p:cNvPicPr>
            <a:picLocks noChangeAspect="1"/>
          </p:cNvPicPr>
          <p:nvPr/>
        </p:nvPicPr>
        <p:blipFill>
          <a:blip r:embed="rId3"/>
          <a:stretch>
            <a:fillRect/>
          </a:stretch>
        </p:blipFill>
        <p:spPr>
          <a:xfrm>
            <a:off x="857250" y="1680210"/>
            <a:ext cx="251460" cy="251460"/>
          </a:xfrm>
          <a:prstGeom prst="rect">
            <a:avLst/>
          </a:prstGeom>
        </p:spPr>
      </p:pic>
      <p:sp>
        <p:nvSpPr>
          <p:cNvPr id="13" name="Text 9"/>
          <p:cNvSpPr txBox="1"/>
          <p:nvPr/>
        </p:nvSpPr>
        <p:spPr>
          <a:xfrm>
            <a:off x="1371600" y="1554480"/>
            <a:ext cx="2743200" cy="502920"/>
          </a:xfrm>
          <a:prstGeom prst="rect">
            <a:avLst/>
          </a:prstGeom>
          <a:noFill/>
          <a:ln/>
        </p:spPr>
        <p:txBody>
          <a:bodyPr wrap="square" lIns="0" tIns="0" rIns="0" bIns="0" rtlCol="0" anchor="ctr"/>
          <a:lstStyle/>
          <a:p>
            <a:pPr marL="0" indent="0">
              <a:buNone/>
            </a:pPr>
            <a:r>
              <a:rPr lang="vi-VN" altLang="en-US" sz="2000" b="1" dirty="0">
                <a:solidFill>
                  <a:srgbClr val="DC2626"/>
                </a:solidFill>
                <a:latin typeface="Calibri" pitchFamily="34" charset="0"/>
                <a:ea typeface="Calibri" pitchFamily="34" charset="-122"/>
                <a:cs typeface="Calibri" pitchFamily="34" charset="-120"/>
              </a:rPr>
              <a:t>Vấn đề</a:t>
            </a:r>
            <a:endParaRPr lang="vi-VN" sz="2000" dirty="0"/>
          </a:p>
        </p:txBody>
      </p:sp>
      <p:sp>
        <p:nvSpPr>
          <p:cNvPr id="14" name="Text 10"/>
          <p:cNvSpPr txBox="1"/>
          <p:nvPr/>
        </p:nvSpPr>
        <p:spPr>
          <a:xfrm>
            <a:off x="731520" y="2286000"/>
            <a:ext cx="3566160" cy="1737360"/>
          </a:xfrm>
          <a:prstGeom prst="rect">
            <a:avLst/>
          </a:prstGeom>
          <a:noFill/>
          <a:ln/>
        </p:spPr>
        <p:txBody>
          <a:bodyPr wrap="square" lIns="0" tIns="0" rIns="0" bIns="0" rtlCol="0" anchor="t"/>
          <a:lstStyle/>
          <a:p>
            <a:pPr marL="177800" indent="-177800">
              <a:spcAft>
                <a:spcPts val="600"/>
              </a:spcAft>
              <a:buSzPct val="100000"/>
              <a:buChar char="•"/>
            </a:pPr>
            <a:r>
              <a:rPr lang="vi-VN" altLang="en-US" sz="1500" dirty="0">
                <a:solidFill>
                  <a:srgbClr val="1F2937"/>
                </a:solidFill>
                <a:latin typeface="Calibri" pitchFamily="34" charset="0"/>
                <a:ea typeface="Calibri" pitchFamily="34" charset="-122"/>
                <a:cs typeface="Calibri" pitchFamily="34" charset="-120"/>
              </a:rPr>
              <a:t>Dò thủ công từng giải, dễ nhầm</a:t>
            </a:r>
            <a:endParaRPr lang="vi-VN" sz="1500" dirty="0"/>
          </a:p>
          <a:p>
            <a:pPr marL="177800" indent="-177800">
              <a:spcAft>
                <a:spcPts val="600"/>
              </a:spcAft>
              <a:buSzPct val="100000"/>
              <a:buChar char="•"/>
            </a:pPr>
            <a:r>
              <a:rPr lang="vi-VN" altLang="en-US" sz="1500" dirty="0">
                <a:solidFill>
                  <a:srgbClr val="1F2937"/>
                </a:solidFill>
                <a:latin typeface="Calibri" pitchFamily="34" charset="0"/>
                <a:ea typeface="Calibri" pitchFamily="34" charset="-122"/>
                <a:cs typeface="Calibri" pitchFamily="34" charset="-120"/>
              </a:rPr>
              <a:t>Không lưu lại các lần đã dò</a:t>
            </a:r>
            <a:endParaRPr lang="vi-VN" sz="1500" dirty="0"/>
          </a:p>
        </p:txBody>
      </p:sp>
      <p:sp>
        <p:nvSpPr>
          <p:cNvPr id="15" name="Shape 11"/>
          <p:cNvSpPr/>
          <p:nvPr/>
        </p:nvSpPr>
        <p:spPr>
          <a:xfrm>
            <a:off x="4892040" y="1554480"/>
            <a:ext cx="502920" cy="502920"/>
          </a:xfrm>
          <a:prstGeom prst="ellipse">
            <a:avLst/>
          </a:prstGeom>
          <a:solidFill>
            <a:srgbClr val="16A34A"/>
          </a:solidFill>
          <a:ln w="12700">
            <a:solidFill>
              <a:srgbClr val="16A34A"/>
            </a:solidFill>
            <a:prstDash val="solid"/>
          </a:ln>
        </p:spPr>
      </p:sp>
      <p:pic>
        <p:nvPicPr>
          <p:cNvPr id="16" name="Image 1" descr="preencoded.png"/>
          <p:cNvPicPr>
            <a:picLocks noChangeAspect="1"/>
          </p:cNvPicPr>
          <p:nvPr/>
        </p:nvPicPr>
        <p:blipFill>
          <a:blip r:embed="rId4"/>
          <a:stretch>
            <a:fillRect/>
          </a:stretch>
        </p:blipFill>
        <p:spPr>
          <a:xfrm>
            <a:off x="5017770" y="1680210"/>
            <a:ext cx="251460" cy="251460"/>
          </a:xfrm>
          <a:prstGeom prst="rect">
            <a:avLst/>
          </a:prstGeom>
        </p:spPr>
      </p:pic>
      <p:sp>
        <p:nvSpPr>
          <p:cNvPr id="17" name="Text 12"/>
          <p:cNvSpPr txBox="1"/>
          <p:nvPr/>
        </p:nvSpPr>
        <p:spPr>
          <a:xfrm>
            <a:off x="5532120" y="1554480"/>
            <a:ext cx="2743200" cy="502920"/>
          </a:xfrm>
          <a:prstGeom prst="rect">
            <a:avLst/>
          </a:prstGeom>
          <a:noFill/>
          <a:ln/>
        </p:spPr>
        <p:txBody>
          <a:bodyPr wrap="square" lIns="0" tIns="0" rIns="0" bIns="0" rtlCol="0" anchor="ctr"/>
          <a:lstStyle/>
          <a:p>
            <a:pPr marL="0" indent="0">
              <a:buNone/>
            </a:pPr>
            <a:r>
              <a:rPr lang="vi-VN" altLang="en-US" sz="2000" b="1" dirty="0">
                <a:solidFill>
                  <a:srgbClr val="16A34A"/>
                </a:solidFill>
                <a:latin typeface="Calibri" pitchFamily="34" charset="0"/>
                <a:ea typeface="Calibri" pitchFamily="34" charset="-122"/>
                <a:cs typeface="Calibri" pitchFamily="34" charset="-120"/>
              </a:rPr>
              <a:t>Giải pháp</a:t>
            </a:r>
            <a:endParaRPr lang="vi-VN" sz="2000" dirty="0"/>
          </a:p>
        </p:txBody>
      </p:sp>
      <p:sp>
        <p:nvSpPr>
          <p:cNvPr id="18" name="Text 13"/>
          <p:cNvSpPr txBox="1"/>
          <p:nvPr/>
        </p:nvSpPr>
        <p:spPr>
          <a:xfrm>
            <a:off x="4892040" y="2286000"/>
            <a:ext cx="3611880" cy="1737360"/>
          </a:xfrm>
          <a:prstGeom prst="rect">
            <a:avLst/>
          </a:prstGeom>
          <a:noFill/>
          <a:ln/>
        </p:spPr>
        <p:txBody>
          <a:bodyPr wrap="square" lIns="0" tIns="0" rIns="0" bIns="0" rtlCol="0" anchor="t"/>
          <a:lstStyle/>
          <a:p>
            <a:pPr marL="177800" indent="-177800">
              <a:spcAft>
                <a:spcPts val="600"/>
              </a:spcAft>
              <a:buSzPct val="100000"/>
              <a:buChar char="•"/>
            </a:pPr>
            <a:r>
              <a:rPr lang="vi-VN" altLang="en-US" sz="1500" dirty="0">
                <a:solidFill>
                  <a:srgbClr val="1F2937"/>
                </a:solidFill>
                <a:latin typeface="Calibri" pitchFamily="34" charset="0"/>
                <a:ea typeface="Calibri" pitchFamily="34" charset="-122"/>
                <a:cs typeface="Calibri" pitchFamily="34" charset="-120"/>
              </a:rPr>
              <a:t>Đối chiếu tự động </a:t>
            </a:r>
            <a:r>
              <a:rPr lang="en-US" altLang="en-US" sz="1500" dirty="0" err="1">
                <a:solidFill>
                  <a:srgbClr val="1F2937"/>
                </a:solidFill>
                <a:latin typeface="Calibri" pitchFamily="34" charset="0"/>
                <a:ea typeface="Calibri" pitchFamily="34" charset="-122"/>
                <a:cs typeface="Calibri" pitchFamily="34" charset="-120"/>
              </a:rPr>
              <a:t>các</a:t>
            </a:r>
            <a:r>
              <a:rPr lang="vi-VN" altLang="en-US" sz="1500" dirty="0">
                <a:solidFill>
                  <a:srgbClr val="1F2937"/>
                </a:solidFill>
                <a:latin typeface="Calibri" pitchFamily="34" charset="0"/>
                <a:ea typeface="Calibri" pitchFamily="34" charset="-122"/>
                <a:cs typeface="Calibri" pitchFamily="34" charset="-120"/>
              </a:rPr>
              <a:t> giải theo miền</a:t>
            </a:r>
            <a:endParaRPr lang="vi-VN" sz="1500" dirty="0"/>
          </a:p>
          <a:p>
            <a:pPr marL="177800" indent="-177800">
              <a:spcAft>
                <a:spcPts val="600"/>
              </a:spcAft>
              <a:buSzPct val="100000"/>
              <a:buChar char="•"/>
            </a:pPr>
            <a:r>
              <a:rPr lang="vi-VN" altLang="en-US" sz="1500" dirty="0">
                <a:solidFill>
                  <a:srgbClr val="1F2937"/>
                </a:solidFill>
                <a:latin typeface="Calibri" pitchFamily="34" charset="0"/>
                <a:ea typeface="Calibri" pitchFamily="34" charset="-122"/>
                <a:cs typeface="Calibri" pitchFamily="34" charset="-120"/>
              </a:rPr>
              <a:t>Lưu lịch sử dò, gợi ý số tham khảo</a:t>
            </a:r>
            <a:endParaRPr lang="vi-VN"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Ba nhóm người dùng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Quyền được chốt theo từng nhóm; chỉ vé PUBLISH mới được dò</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5</a:t>
            </a:r>
            <a:endParaRPr lang="vi-VN" sz="900" dirty="0"/>
          </a:p>
        </p:txBody>
      </p:sp>
      <p:graphicFrame>
        <p:nvGraphicFramePr>
          <p:cNvPr id="8" name="Table 0"/>
          <p:cNvGraphicFramePr>
            <a:graphicFrameLocks noGrp="1"/>
          </p:cNvGraphicFramePr>
          <p:nvPr>
            <p:extLst>
              <p:ext uri="{D42A27DB-BD31-4B8C-83A1-F6EECF244321}">
                <p14:modId xmlns:p14="http://schemas.microsoft.com/office/powerpoint/2010/main" val="3996887661"/>
              </p:ext>
            </p:extLst>
          </p:nvPr>
        </p:nvGraphicFramePr>
        <p:xfrm>
          <a:off x="502920" y="1293016"/>
          <a:ext cx="8183880" cy="3456432"/>
        </p:xfrm>
        <a:graphic>
          <a:graphicData uri="http://schemas.openxmlformats.org/drawingml/2006/table">
            <a:tbl>
              <a:tblPr/>
              <a:tblGrid>
                <a:gridCol w="4069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Chức năng</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NO_USER</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USER</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ADMIN</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Đăng ký</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Đăng nhập, đổi và quên mật khẩu</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Dò 1 vé</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Dò nhiều vé</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altLang="en-US" sz="1300" dirty="0">
                          <a:solidFill>
                            <a:srgbClr val="1F2937"/>
                          </a:solidFill>
                          <a:latin typeface="Calibri" pitchFamily="34" charset="0"/>
                          <a:ea typeface="Calibri" pitchFamily="34" charset="-122"/>
                          <a:cs typeface="Calibri" pitchFamily="34" charset="-120"/>
                        </a:rPr>
                        <a:t>Xem </a:t>
                      </a:r>
                      <a:r>
                        <a:rPr lang="vi-VN" altLang="en-US" sz="1300" dirty="0">
                          <a:solidFill>
                            <a:srgbClr val="1F2937"/>
                          </a:solidFill>
                          <a:latin typeface="Calibri" pitchFamily="34" charset="0"/>
                          <a:ea typeface="Calibri" pitchFamily="34" charset="-122"/>
                          <a:cs typeface="Calibri" pitchFamily="34" charset="-120"/>
                        </a:rPr>
                        <a:t>lịch sử</a:t>
                      </a:r>
                      <a:r>
                        <a:rPr lang="en-US" altLang="en-US" sz="1300" dirty="0">
                          <a:solidFill>
                            <a:srgbClr val="1F2937"/>
                          </a:solidFill>
                          <a:latin typeface="Calibri" pitchFamily="34" charset="0"/>
                          <a:ea typeface="Calibri" pitchFamily="34" charset="-122"/>
                          <a:cs typeface="Calibri" pitchFamily="34" charset="-120"/>
                        </a:rPr>
                        <a:t> </a:t>
                      </a:r>
                      <a:r>
                        <a:rPr lang="en-US" altLang="en-US" sz="1300" dirty="0" err="1">
                          <a:solidFill>
                            <a:srgbClr val="1F2937"/>
                          </a:solidFill>
                          <a:latin typeface="Calibri" pitchFamily="34" charset="0"/>
                          <a:ea typeface="Calibri" pitchFamily="34" charset="-122"/>
                          <a:cs typeface="Calibri" pitchFamily="34" charset="-120"/>
                        </a:rPr>
                        <a:t>dò</a:t>
                      </a:r>
                      <a:r>
                        <a:rPr lang="en-US" altLang="en-US" sz="1300" dirty="0">
                          <a:solidFill>
                            <a:srgbClr val="1F2937"/>
                          </a:solidFill>
                          <a:latin typeface="Calibri" pitchFamily="34" charset="0"/>
                          <a:ea typeface="Calibri" pitchFamily="34" charset="-122"/>
                          <a:cs typeface="Calibri" pitchFamily="34" charset="-120"/>
                        </a:rPr>
                        <a:t> </a:t>
                      </a:r>
                      <a:r>
                        <a:rPr lang="en-US" altLang="en-US" sz="1300" dirty="0" err="1">
                          <a:solidFill>
                            <a:srgbClr val="1F2937"/>
                          </a:solidFill>
                          <a:latin typeface="Calibri" pitchFamily="34" charset="0"/>
                          <a:ea typeface="Calibri" pitchFamily="34" charset="-122"/>
                          <a:cs typeface="Calibri" pitchFamily="34" charset="-120"/>
                        </a:rPr>
                        <a:t>vé</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4293979675"/>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Đề xuất số nên mua</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Quản lý người dùng (khoá, phân </a:t>
                      </a:r>
                      <a:r>
                        <a:rPr lang="en-US" altLang="en-US" sz="1300" dirty="0" err="1">
                          <a:solidFill>
                            <a:srgbClr val="1F2937"/>
                          </a:solidFill>
                          <a:latin typeface="Calibri" pitchFamily="34" charset="0"/>
                          <a:ea typeface="Calibri" pitchFamily="34" charset="-122"/>
                          <a:cs typeface="Calibri" pitchFamily="34" charset="-120"/>
                        </a:rPr>
                        <a:t>quyền</a:t>
                      </a:r>
                      <a:r>
                        <a:rPr lang="vi-VN" altLang="en-US" sz="1300" dirty="0">
                          <a:solidFill>
                            <a:srgbClr val="1F2937"/>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l">
                        <a:buNone/>
                      </a:pPr>
                      <a:r>
                        <a:rPr lang="vi-VN" altLang="en-US" sz="1300" dirty="0">
                          <a:solidFill>
                            <a:srgbClr val="1F2937"/>
                          </a:solidFill>
                          <a:latin typeface="Calibri" pitchFamily="34" charset="0"/>
                          <a:ea typeface="Calibri" pitchFamily="34" charset="-122"/>
                          <a:cs typeface="Calibri" pitchFamily="34" charset="-120"/>
                        </a:rPr>
                        <a:t>Quản lý vé dò (thêm, publish)</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dirty="0">
                          <a:solidFill>
                            <a:srgbClr val="64748B"/>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300" b="1" dirty="0">
                          <a:solidFill>
                            <a:srgbClr val="16A34A"/>
                          </a:solidFill>
                          <a:latin typeface="Calibri" pitchFamily="34" charset="0"/>
                          <a:ea typeface="Calibri" pitchFamily="34" charset="-122"/>
                          <a:cs typeface="Calibri" pitchFamily="34" charset="-120"/>
                        </a:rPr>
                        <a:t>✓</a:t>
                      </a:r>
                      <a:endParaRPr lang="vi-VN" sz="13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Bốn nhóm chức năng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Bốn nhóm, cộng thêm các chức năng nâng cao</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6</a:t>
            </a:r>
            <a:endParaRPr lang="vi-VN" sz="900" dirty="0"/>
          </a:p>
        </p:txBody>
      </p:sp>
      <p:sp>
        <p:nvSpPr>
          <p:cNvPr id="9" name="Shape 6"/>
          <p:cNvSpPr/>
          <p:nvPr/>
        </p:nvSpPr>
        <p:spPr>
          <a:xfrm>
            <a:off x="502920" y="1371600"/>
            <a:ext cx="4023360" cy="1463040"/>
          </a:xfrm>
          <a:prstGeom prst="roundRect">
            <a:avLst>
              <a:gd name="adj" fmla="val 6250"/>
            </a:avLst>
          </a:prstGeom>
          <a:solidFill>
            <a:srgbClr val="EFF6FF"/>
          </a:solidFill>
          <a:ln w="12700">
            <a:solidFill>
              <a:srgbClr val="EFF6FF"/>
            </a:solidFill>
            <a:prstDash val="solid"/>
          </a:ln>
        </p:spPr>
      </p:sp>
      <p:sp>
        <p:nvSpPr>
          <p:cNvPr id="10" name="Shape 7"/>
          <p:cNvSpPr/>
          <p:nvPr/>
        </p:nvSpPr>
        <p:spPr>
          <a:xfrm>
            <a:off x="685800" y="1554480"/>
            <a:ext cx="566928" cy="566928"/>
          </a:xfrm>
          <a:prstGeom prst="ellipse">
            <a:avLst/>
          </a:prstGeom>
          <a:solidFill>
            <a:srgbClr val="1D4ED8"/>
          </a:solidFill>
          <a:ln w="12700">
            <a:solidFill>
              <a:srgbClr val="1D4ED8"/>
            </a:solidFill>
            <a:prstDash val="solid"/>
          </a:ln>
        </p:spPr>
      </p:sp>
      <p:pic>
        <p:nvPicPr>
          <p:cNvPr id="11" name="Image 0" descr="preencoded.png"/>
          <p:cNvPicPr>
            <a:picLocks noChangeAspect="1"/>
          </p:cNvPicPr>
          <p:nvPr/>
        </p:nvPicPr>
        <p:blipFill>
          <a:blip r:embed="rId3"/>
          <a:stretch>
            <a:fillRect/>
          </a:stretch>
        </p:blipFill>
        <p:spPr>
          <a:xfrm>
            <a:off x="827532" y="1696212"/>
            <a:ext cx="283464" cy="283464"/>
          </a:xfrm>
          <a:prstGeom prst="rect">
            <a:avLst/>
          </a:prstGeom>
        </p:spPr>
      </p:pic>
      <p:sp>
        <p:nvSpPr>
          <p:cNvPr id="12" name="Text 8"/>
          <p:cNvSpPr txBox="1"/>
          <p:nvPr/>
        </p:nvSpPr>
        <p:spPr>
          <a:xfrm>
            <a:off x="1463040" y="1554480"/>
            <a:ext cx="297180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Chức năng 1: Quản lý người dùng</a:t>
            </a:r>
            <a:endParaRPr lang="vi-VN" sz="1500" dirty="0"/>
          </a:p>
        </p:txBody>
      </p:sp>
      <p:sp>
        <p:nvSpPr>
          <p:cNvPr id="13" name="Text 9"/>
          <p:cNvSpPr txBox="1"/>
          <p:nvPr/>
        </p:nvSpPr>
        <p:spPr>
          <a:xfrm>
            <a:off x="1463040" y="2057400"/>
            <a:ext cx="2926080" cy="73152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Đăng ký, đăng nhập, quên và đổi mật khẩu. ADMIN tìm, lọc, khoá, phân </a:t>
            </a:r>
            <a:r>
              <a:rPr lang="en-US" altLang="en-US" sz="1250" dirty="0" err="1">
                <a:solidFill>
                  <a:srgbClr val="1F2937"/>
                </a:solidFill>
                <a:latin typeface="Calibri" pitchFamily="34" charset="0"/>
                <a:ea typeface="Calibri" pitchFamily="34" charset="-122"/>
                <a:cs typeface="Calibri" pitchFamily="34" charset="-120"/>
              </a:rPr>
              <a:t>quyền</a:t>
            </a:r>
            <a:endParaRPr lang="vi-VN" sz="1250" dirty="0"/>
          </a:p>
        </p:txBody>
      </p:sp>
      <p:sp>
        <p:nvSpPr>
          <p:cNvPr id="14" name="Shape 10"/>
          <p:cNvSpPr/>
          <p:nvPr/>
        </p:nvSpPr>
        <p:spPr>
          <a:xfrm>
            <a:off x="4709160" y="1371600"/>
            <a:ext cx="4023360" cy="1463040"/>
          </a:xfrm>
          <a:prstGeom prst="roundRect">
            <a:avLst>
              <a:gd name="adj" fmla="val 6250"/>
            </a:avLst>
          </a:prstGeom>
          <a:solidFill>
            <a:srgbClr val="EFF6FF"/>
          </a:solidFill>
          <a:ln w="12700">
            <a:solidFill>
              <a:srgbClr val="EFF6FF"/>
            </a:solidFill>
            <a:prstDash val="solid"/>
          </a:ln>
        </p:spPr>
      </p:sp>
      <p:sp>
        <p:nvSpPr>
          <p:cNvPr id="15" name="Shape 11"/>
          <p:cNvSpPr/>
          <p:nvPr/>
        </p:nvSpPr>
        <p:spPr>
          <a:xfrm>
            <a:off x="4892040" y="1554480"/>
            <a:ext cx="566928" cy="566928"/>
          </a:xfrm>
          <a:prstGeom prst="ellipse">
            <a:avLst/>
          </a:prstGeom>
          <a:solidFill>
            <a:srgbClr val="1D4ED8"/>
          </a:solidFill>
          <a:ln w="12700">
            <a:solidFill>
              <a:srgbClr val="1D4ED8"/>
            </a:solidFill>
            <a:prstDash val="solid"/>
          </a:ln>
        </p:spPr>
      </p:sp>
      <p:pic>
        <p:nvPicPr>
          <p:cNvPr id="16" name="Image 1" descr="preencoded.png"/>
          <p:cNvPicPr>
            <a:picLocks noChangeAspect="1"/>
          </p:cNvPicPr>
          <p:nvPr/>
        </p:nvPicPr>
        <p:blipFill>
          <a:blip r:embed="rId4"/>
          <a:stretch>
            <a:fillRect/>
          </a:stretch>
        </p:blipFill>
        <p:spPr>
          <a:xfrm>
            <a:off x="5033772" y="1696212"/>
            <a:ext cx="283464" cy="283464"/>
          </a:xfrm>
          <a:prstGeom prst="rect">
            <a:avLst/>
          </a:prstGeom>
        </p:spPr>
      </p:pic>
      <p:sp>
        <p:nvSpPr>
          <p:cNvPr id="17" name="Text 12"/>
          <p:cNvSpPr txBox="1"/>
          <p:nvPr/>
        </p:nvSpPr>
        <p:spPr>
          <a:xfrm>
            <a:off x="5669280" y="1554480"/>
            <a:ext cx="297180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Chức năng 2: Quản lý vé dò</a:t>
            </a:r>
            <a:endParaRPr lang="vi-VN" sz="1500" dirty="0"/>
          </a:p>
        </p:txBody>
      </p:sp>
      <p:sp>
        <p:nvSpPr>
          <p:cNvPr id="18" name="Text 13"/>
          <p:cNvSpPr txBox="1"/>
          <p:nvPr/>
        </p:nvSpPr>
        <p:spPr>
          <a:xfrm>
            <a:off x="5669280" y="2057400"/>
            <a:ext cx="2926080" cy="73152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Thêm theo ngày hoặc hàng loạt, xem trước, publish, xem số lần được dò</a:t>
            </a:r>
            <a:endParaRPr lang="vi-VN" sz="1250" dirty="0"/>
          </a:p>
        </p:txBody>
      </p:sp>
      <p:sp>
        <p:nvSpPr>
          <p:cNvPr id="19" name="Shape 14"/>
          <p:cNvSpPr/>
          <p:nvPr/>
        </p:nvSpPr>
        <p:spPr>
          <a:xfrm>
            <a:off x="502920" y="3017520"/>
            <a:ext cx="4023360" cy="1463040"/>
          </a:xfrm>
          <a:prstGeom prst="roundRect">
            <a:avLst>
              <a:gd name="adj" fmla="val 6250"/>
            </a:avLst>
          </a:prstGeom>
          <a:solidFill>
            <a:srgbClr val="EFF6FF"/>
          </a:solidFill>
          <a:ln w="12700">
            <a:solidFill>
              <a:srgbClr val="EFF6FF"/>
            </a:solidFill>
            <a:prstDash val="solid"/>
          </a:ln>
        </p:spPr>
      </p:sp>
      <p:sp>
        <p:nvSpPr>
          <p:cNvPr id="20" name="Shape 15"/>
          <p:cNvSpPr/>
          <p:nvPr/>
        </p:nvSpPr>
        <p:spPr>
          <a:xfrm>
            <a:off x="685800" y="3200400"/>
            <a:ext cx="566928" cy="566928"/>
          </a:xfrm>
          <a:prstGeom prst="ellipse">
            <a:avLst/>
          </a:prstGeom>
          <a:solidFill>
            <a:srgbClr val="1D4ED8"/>
          </a:solidFill>
          <a:ln w="12700">
            <a:solidFill>
              <a:srgbClr val="1D4ED8"/>
            </a:solidFill>
            <a:prstDash val="solid"/>
          </a:ln>
        </p:spPr>
      </p:sp>
      <p:pic>
        <p:nvPicPr>
          <p:cNvPr id="21" name="Image 2" descr="preencoded.png"/>
          <p:cNvPicPr>
            <a:picLocks noChangeAspect="1"/>
          </p:cNvPicPr>
          <p:nvPr/>
        </p:nvPicPr>
        <p:blipFill>
          <a:blip r:embed="rId5"/>
          <a:stretch>
            <a:fillRect/>
          </a:stretch>
        </p:blipFill>
        <p:spPr>
          <a:xfrm>
            <a:off x="827532" y="3342132"/>
            <a:ext cx="283464" cy="283464"/>
          </a:xfrm>
          <a:prstGeom prst="rect">
            <a:avLst/>
          </a:prstGeom>
        </p:spPr>
      </p:pic>
      <p:sp>
        <p:nvSpPr>
          <p:cNvPr id="22" name="Text 16"/>
          <p:cNvSpPr txBox="1"/>
          <p:nvPr/>
        </p:nvSpPr>
        <p:spPr>
          <a:xfrm>
            <a:off x="1463040" y="3200400"/>
            <a:ext cx="297180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Chức năng 3: Thực hiện dò vé số</a:t>
            </a:r>
            <a:endParaRPr lang="vi-VN" sz="1500" dirty="0"/>
          </a:p>
        </p:txBody>
      </p:sp>
      <p:sp>
        <p:nvSpPr>
          <p:cNvPr id="23" name="Text 17"/>
          <p:cNvSpPr txBox="1"/>
          <p:nvPr/>
        </p:nvSpPr>
        <p:spPr>
          <a:xfrm>
            <a:off x="1463040" y="3703320"/>
            <a:ext cx="2926080" cy="73152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Đối chiếu </a:t>
            </a:r>
            <a:r>
              <a:rPr lang="en-US" altLang="en-US" sz="1250" dirty="0" err="1">
                <a:solidFill>
                  <a:srgbClr val="1F2937"/>
                </a:solidFill>
                <a:latin typeface="Calibri" pitchFamily="34" charset="0"/>
                <a:ea typeface="Calibri" pitchFamily="34" charset="-122"/>
                <a:cs typeface="Calibri" pitchFamily="34" charset="-120"/>
              </a:rPr>
              <a:t>các</a:t>
            </a:r>
            <a:r>
              <a:rPr lang="vi-VN" altLang="en-US" sz="1250" dirty="0">
                <a:solidFill>
                  <a:srgbClr val="1F2937"/>
                </a:solidFill>
                <a:latin typeface="Calibri" pitchFamily="34" charset="0"/>
                <a:ea typeface="Calibri" pitchFamily="34" charset="-122"/>
                <a:cs typeface="Calibri" pitchFamily="34" charset="-120"/>
              </a:rPr>
              <a:t> giải theo miền</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trả</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về</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kết</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quả</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dò</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vé</a:t>
            </a:r>
            <a:endParaRPr lang="vi-VN" sz="1250" dirty="0"/>
          </a:p>
        </p:txBody>
      </p:sp>
      <p:sp>
        <p:nvSpPr>
          <p:cNvPr id="24" name="Shape 18"/>
          <p:cNvSpPr/>
          <p:nvPr/>
        </p:nvSpPr>
        <p:spPr>
          <a:xfrm>
            <a:off x="4709160" y="3024664"/>
            <a:ext cx="4023360" cy="1463040"/>
          </a:xfrm>
          <a:prstGeom prst="roundRect">
            <a:avLst>
              <a:gd name="adj" fmla="val 6250"/>
            </a:avLst>
          </a:prstGeom>
          <a:solidFill>
            <a:srgbClr val="EFF6FF"/>
          </a:solidFill>
          <a:ln w="12700">
            <a:solidFill>
              <a:srgbClr val="EFF6FF"/>
            </a:solidFill>
            <a:prstDash val="solid"/>
          </a:ln>
        </p:spPr>
      </p:sp>
      <p:sp>
        <p:nvSpPr>
          <p:cNvPr id="25" name="Shape 19"/>
          <p:cNvSpPr/>
          <p:nvPr/>
        </p:nvSpPr>
        <p:spPr>
          <a:xfrm>
            <a:off x="4892040" y="3200400"/>
            <a:ext cx="566928" cy="566928"/>
          </a:xfrm>
          <a:prstGeom prst="ellipse">
            <a:avLst/>
          </a:prstGeom>
          <a:solidFill>
            <a:srgbClr val="1D4ED8"/>
          </a:solidFill>
          <a:ln w="12700">
            <a:solidFill>
              <a:srgbClr val="1D4ED8"/>
            </a:solidFill>
            <a:prstDash val="solid"/>
          </a:ln>
        </p:spPr>
      </p:sp>
      <p:pic>
        <p:nvPicPr>
          <p:cNvPr id="26" name="Image 3" descr="preencoded.png"/>
          <p:cNvPicPr>
            <a:picLocks noChangeAspect="1"/>
          </p:cNvPicPr>
          <p:nvPr/>
        </p:nvPicPr>
        <p:blipFill>
          <a:blip r:embed="rId6"/>
          <a:stretch>
            <a:fillRect/>
          </a:stretch>
        </p:blipFill>
        <p:spPr>
          <a:xfrm>
            <a:off x="5033772" y="3342132"/>
            <a:ext cx="283464" cy="283464"/>
          </a:xfrm>
          <a:prstGeom prst="rect">
            <a:avLst/>
          </a:prstGeom>
        </p:spPr>
      </p:pic>
      <p:sp>
        <p:nvSpPr>
          <p:cNvPr id="27" name="Text 20"/>
          <p:cNvSpPr txBox="1"/>
          <p:nvPr/>
        </p:nvSpPr>
        <p:spPr>
          <a:xfrm>
            <a:off x="5669280" y="3200400"/>
            <a:ext cx="297180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Chức năng 4: Đề xuất số nên mua</a:t>
            </a:r>
            <a:endParaRPr lang="vi-VN" sz="1500" dirty="0"/>
          </a:p>
        </p:txBody>
      </p:sp>
      <p:sp>
        <p:nvSpPr>
          <p:cNvPr id="28" name="Text 21"/>
          <p:cNvSpPr txBox="1"/>
          <p:nvPr/>
        </p:nvSpPr>
        <p:spPr>
          <a:xfrm>
            <a:off x="5669280" y="3703320"/>
            <a:ext cx="2926080" cy="73152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Top 10 số về nhiều nhất và Top 10 số lâu chưa về, tối đa 50 kỳ</a:t>
            </a:r>
            <a:endParaRPr lang="vi-VN"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Chức năng 1 và 2</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Quản lý người dùng và quản lý vé dò</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Sơ đồ</a:t>
            </a:r>
            <a:r>
              <a:rPr lang="en-US" altLang="en-US" sz="1200" b="1" dirty="0">
                <a:solidFill>
                  <a:srgbClr val="1D4ED8"/>
                </a:solidFill>
                <a:latin typeface="Calibri" pitchFamily="34" charset="0"/>
                <a:ea typeface="Calibri" pitchFamily="34" charset="-122"/>
                <a:cs typeface="Calibri" pitchFamily="34" charset="-120"/>
              </a:rPr>
              <a:t> Use case</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7</a:t>
            </a:r>
            <a:endParaRPr lang="vi-VN" sz="900" dirty="0"/>
          </a:p>
        </p:txBody>
      </p:sp>
      <p:sp>
        <p:nvSpPr>
          <p:cNvPr id="12" name="Shape 8"/>
          <p:cNvSpPr/>
          <p:nvPr/>
        </p:nvSpPr>
        <p:spPr>
          <a:xfrm>
            <a:off x="502920" y="1325880"/>
            <a:ext cx="4114800" cy="2788920"/>
          </a:xfrm>
          <a:prstGeom prst="roundRect">
            <a:avLst>
              <a:gd name="adj" fmla="val 2623"/>
            </a:avLst>
          </a:prstGeom>
          <a:solidFill>
            <a:srgbClr val="111827"/>
          </a:solidFill>
          <a:ln w="12700">
            <a:solidFill>
              <a:srgbClr val="111827"/>
            </a:solidFill>
            <a:prstDash val="solid"/>
          </a:ln>
        </p:spPr>
      </p:sp>
      <p:pic>
        <p:nvPicPr>
          <p:cNvPr id="13" name="Image 1" descr="u2/image2.png"/>
          <p:cNvPicPr>
            <a:picLocks noChangeAspect="1"/>
          </p:cNvPicPr>
          <p:nvPr/>
        </p:nvPicPr>
        <p:blipFill>
          <a:blip r:embed="rId4"/>
          <a:stretch>
            <a:fillRect/>
          </a:stretch>
        </p:blipFill>
        <p:spPr>
          <a:xfrm>
            <a:off x="602464" y="1325880"/>
            <a:ext cx="3915713" cy="2788920"/>
          </a:xfrm>
          <a:prstGeom prst="rect">
            <a:avLst/>
          </a:prstGeom>
        </p:spPr>
      </p:pic>
      <p:sp>
        <p:nvSpPr>
          <p:cNvPr id="14" name="Shape 9"/>
          <p:cNvSpPr/>
          <p:nvPr/>
        </p:nvSpPr>
        <p:spPr>
          <a:xfrm>
            <a:off x="4754880" y="1325880"/>
            <a:ext cx="3931920" cy="2788920"/>
          </a:xfrm>
          <a:prstGeom prst="roundRect">
            <a:avLst>
              <a:gd name="adj" fmla="val 2623"/>
            </a:avLst>
          </a:prstGeom>
          <a:solidFill>
            <a:srgbClr val="111827"/>
          </a:solidFill>
          <a:ln w="12700">
            <a:solidFill>
              <a:srgbClr val="111827"/>
            </a:solidFill>
            <a:prstDash val="solid"/>
          </a:ln>
        </p:spPr>
      </p:sp>
      <p:pic>
        <p:nvPicPr>
          <p:cNvPr id="15" name="Image 2" descr="u2/image3.png"/>
          <p:cNvPicPr>
            <a:picLocks noChangeAspect="1"/>
          </p:cNvPicPr>
          <p:nvPr/>
        </p:nvPicPr>
        <p:blipFill>
          <a:blip r:embed="rId5"/>
          <a:stretch>
            <a:fillRect/>
          </a:stretch>
        </p:blipFill>
        <p:spPr>
          <a:xfrm>
            <a:off x="5232759" y="1325880"/>
            <a:ext cx="2976162" cy="2788920"/>
          </a:xfrm>
          <a:prstGeom prst="rect">
            <a:avLst/>
          </a:prstGeom>
        </p:spPr>
      </p:pic>
      <p:sp>
        <p:nvSpPr>
          <p:cNvPr id="16" name="Text 10"/>
          <p:cNvSpPr txBox="1"/>
          <p:nvPr/>
        </p:nvSpPr>
        <p:spPr>
          <a:xfrm>
            <a:off x="502920" y="4206240"/>
            <a:ext cx="4114800" cy="274320"/>
          </a:xfrm>
          <a:prstGeom prst="rect">
            <a:avLst/>
          </a:prstGeom>
          <a:noFill/>
          <a:ln/>
        </p:spPr>
        <p:txBody>
          <a:bodyPr wrap="square" lIns="0" tIns="0" rIns="0" bIns="0" rtlCol="0" anchor="t"/>
          <a:lstStyle/>
          <a:p>
            <a:pPr marL="0" indent="0">
              <a:buNone/>
            </a:pPr>
            <a:r>
              <a:rPr lang="vi-VN" altLang="en-US" sz="1500" b="1" dirty="0">
                <a:solidFill>
                  <a:srgbClr val="1D4ED8"/>
                </a:solidFill>
                <a:latin typeface="Calibri" pitchFamily="34" charset="0"/>
                <a:ea typeface="Calibri" pitchFamily="34" charset="-122"/>
                <a:cs typeface="Calibri" pitchFamily="34" charset="-120"/>
              </a:rPr>
              <a:t>Chức năng 1: Quản lý người dùng</a:t>
            </a:r>
            <a:endParaRPr lang="vi-VN" sz="1500" dirty="0"/>
          </a:p>
        </p:txBody>
      </p:sp>
      <p:sp>
        <p:nvSpPr>
          <p:cNvPr id="17" name="Text 11"/>
          <p:cNvSpPr txBox="1"/>
          <p:nvPr/>
        </p:nvSpPr>
        <p:spPr>
          <a:xfrm>
            <a:off x="502920" y="4480560"/>
            <a:ext cx="4114800" cy="27432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NO_USER đăng ký; USER dùng tài khoản; ADMIN quản trị</a:t>
            </a:r>
            <a:endParaRPr lang="vi-VN" sz="1150" dirty="0"/>
          </a:p>
        </p:txBody>
      </p:sp>
      <p:sp>
        <p:nvSpPr>
          <p:cNvPr id="18" name="Text 12"/>
          <p:cNvSpPr txBox="1"/>
          <p:nvPr/>
        </p:nvSpPr>
        <p:spPr>
          <a:xfrm>
            <a:off x="4754880" y="4206240"/>
            <a:ext cx="3931920" cy="274320"/>
          </a:xfrm>
          <a:prstGeom prst="rect">
            <a:avLst/>
          </a:prstGeom>
          <a:noFill/>
          <a:ln/>
        </p:spPr>
        <p:txBody>
          <a:bodyPr wrap="square" lIns="0" tIns="0" rIns="0" bIns="0" rtlCol="0" anchor="t"/>
          <a:lstStyle/>
          <a:p>
            <a:pPr marL="0" indent="0">
              <a:buNone/>
            </a:pPr>
            <a:r>
              <a:rPr lang="vi-VN" altLang="en-US" sz="1500" b="1" dirty="0">
                <a:solidFill>
                  <a:srgbClr val="1D4ED8"/>
                </a:solidFill>
                <a:latin typeface="Calibri" pitchFamily="34" charset="0"/>
                <a:ea typeface="Calibri" pitchFamily="34" charset="-122"/>
                <a:cs typeface="Calibri" pitchFamily="34" charset="-120"/>
              </a:rPr>
              <a:t>Chức năng 2: Quản lý vé dò</a:t>
            </a:r>
            <a:endParaRPr lang="vi-VN" sz="1500" dirty="0"/>
          </a:p>
        </p:txBody>
      </p:sp>
      <p:sp>
        <p:nvSpPr>
          <p:cNvPr id="19" name="Text 13"/>
          <p:cNvSpPr txBox="1"/>
          <p:nvPr/>
        </p:nvSpPr>
        <p:spPr>
          <a:xfrm>
            <a:off x="4754880" y="4480560"/>
            <a:ext cx="3931920" cy="27432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Chỉ ADMIN: thêm, tìm kiếm, publish, xem thống kê</a:t>
            </a:r>
            <a:endParaRPr lang="vi-VN"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Chức năng 3 và 4</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Dò vé số và đề xuất số nên mua</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Sơ đồ</a:t>
            </a:r>
            <a:r>
              <a:rPr lang="en-US" altLang="en-US" sz="1200" b="1" dirty="0">
                <a:solidFill>
                  <a:srgbClr val="1D4ED8"/>
                </a:solidFill>
                <a:latin typeface="Calibri" pitchFamily="34" charset="0"/>
                <a:ea typeface="Calibri" pitchFamily="34" charset="-122"/>
                <a:cs typeface="Calibri" pitchFamily="34" charset="-120"/>
              </a:rPr>
              <a:t> Use case</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8</a:t>
            </a:r>
            <a:endParaRPr lang="vi-VN" sz="900" dirty="0"/>
          </a:p>
        </p:txBody>
      </p:sp>
      <p:sp>
        <p:nvSpPr>
          <p:cNvPr id="12" name="Shape 8"/>
          <p:cNvSpPr/>
          <p:nvPr/>
        </p:nvSpPr>
        <p:spPr>
          <a:xfrm>
            <a:off x="502920" y="1325880"/>
            <a:ext cx="4572000" cy="2788920"/>
          </a:xfrm>
          <a:prstGeom prst="roundRect">
            <a:avLst>
              <a:gd name="adj" fmla="val 2623"/>
            </a:avLst>
          </a:prstGeom>
          <a:solidFill>
            <a:srgbClr val="111827"/>
          </a:solidFill>
          <a:ln w="12700">
            <a:solidFill>
              <a:srgbClr val="111827"/>
            </a:solidFill>
            <a:prstDash val="solid"/>
          </a:ln>
        </p:spPr>
      </p:sp>
      <p:pic>
        <p:nvPicPr>
          <p:cNvPr id="13" name="Image 1" descr="u2/image4.png"/>
          <p:cNvPicPr>
            <a:picLocks noChangeAspect="1"/>
          </p:cNvPicPr>
          <p:nvPr/>
        </p:nvPicPr>
        <p:blipFill>
          <a:blip r:embed="rId4"/>
          <a:stretch>
            <a:fillRect/>
          </a:stretch>
        </p:blipFill>
        <p:spPr>
          <a:xfrm>
            <a:off x="537684" y="1325880"/>
            <a:ext cx="4502473" cy="2788920"/>
          </a:xfrm>
          <a:prstGeom prst="rect">
            <a:avLst/>
          </a:prstGeom>
        </p:spPr>
      </p:pic>
      <p:sp>
        <p:nvSpPr>
          <p:cNvPr id="14" name="Shape 9"/>
          <p:cNvSpPr/>
          <p:nvPr/>
        </p:nvSpPr>
        <p:spPr>
          <a:xfrm>
            <a:off x="5212080" y="1325880"/>
            <a:ext cx="3474720" cy="2788920"/>
          </a:xfrm>
          <a:prstGeom prst="roundRect">
            <a:avLst>
              <a:gd name="adj" fmla="val 2623"/>
            </a:avLst>
          </a:prstGeom>
          <a:solidFill>
            <a:srgbClr val="111827"/>
          </a:solidFill>
          <a:ln w="12700">
            <a:solidFill>
              <a:srgbClr val="111827"/>
            </a:solidFill>
            <a:prstDash val="solid"/>
          </a:ln>
        </p:spPr>
      </p:sp>
      <p:pic>
        <p:nvPicPr>
          <p:cNvPr id="15" name="Image 2" descr="u2/image5.png"/>
          <p:cNvPicPr>
            <a:picLocks noChangeAspect="1"/>
          </p:cNvPicPr>
          <p:nvPr/>
        </p:nvPicPr>
        <p:blipFill>
          <a:blip r:embed="rId5"/>
          <a:stretch>
            <a:fillRect/>
          </a:stretch>
        </p:blipFill>
        <p:spPr>
          <a:xfrm>
            <a:off x="5212080" y="1659110"/>
            <a:ext cx="3474720" cy="2122460"/>
          </a:xfrm>
          <a:prstGeom prst="rect">
            <a:avLst/>
          </a:prstGeom>
        </p:spPr>
      </p:pic>
      <p:sp>
        <p:nvSpPr>
          <p:cNvPr id="16" name="Text 10"/>
          <p:cNvSpPr txBox="1"/>
          <p:nvPr/>
        </p:nvSpPr>
        <p:spPr>
          <a:xfrm>
            <a:off x="502920" y="4206240"/>
            <a:ext cx="4572000" cy="274320"/>
          </a:xfrm>
          <a:prstGeom prst="rect">
            <a:avLst/>
          </a:prstGeom>
          <a:noFill/>
          <a:ln/>
        </p:spPr>
        <p:txBody>
          <a:bodyPr wrap="square" lIns="0" tIns="0" rIns="0" bIns="0" rtlCol="0" anchor="t"/>
          <a:lstStyle/>
          <a:p>
            <a:pPr marL="0" indent="0">
              <a:buNone/>
            </a:pPr>
            <a:r>
              <a:rPr lang="vi-VN" altLang="en-US" sz="1500" b="1" dirty="0">
                <a:solidFill>
                  <a:srgbClr val="1D4ED8"/>
                </a:solidFill>
                <a:latin typeface="Calibri" pitchFamily="34" charset="0"/>
                <a:ea typeface="Calibri" pitchFamily="34" charset="-122"/>
                <a:cs typeface="Calibri" pitchFamily="34" charset="-120"/>
              </a:rPr>
              <a:t>Chức năng 3: Thực hiện dò vé số</a:t>
            </a:r>
            <a:endParaRPr lang="vi-VN" sz="1500" dirty="0"/>
          </a:p>
        </p:txBody>
      </p:sp>
      <p:sp>
        <p:nvSpPr>
          <p:cNvPr id="17" name="Text 11"/>
          <p:cNvSpPr txBox="1"/>
          <p:nvPr/>
        </p:nvSpPr>
        <p:spPr>
          <a:xfrm>
            <a:off x="502920" y="4480560"/>
            <a:ext cx="4572000" cy="27432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NO_USER dò 1 vé; USER dò nhiều vé và xem lịch sử</a:t>
            </a:r>
            <a:endParaRPr lang="vi-VN" sz="1150" dirty="0"/>
          </a:p>
        </p:txBody>
      </p:sp>
      <p:sp>
        <p:nvSpPr>
          <p:cNvPr id="18" name="Text 12"/>
          <p:cNvSpPr txBox="1"/>
          <p:nvPr/>
        </p:nvSpPr>
        <p:spPr>
          <a:xfrm>
            <a:off x="5212080" y="4206240"/>
            <a:ext cx="3474720" cy="274320"/>
          </a:xfrm>
          <a:prstGeom prst="rect">
            <a:avLst/>
          </a:prstGeom>
          <a:noFill/>
          <a:ln/>
        </p:spPr>
        <p:txBody>
          <a:bodyPr wrap="square" lIns="0" tIns="0" rIns="0" bIns="0" rtlCol="0" anchor="t"/>
          <a:lstStyle/>
          <a:p>
            <a:pPr marL="0" indent="0">
              <a:buNone/>
            </a:pPr>
            <a:r>
              <a:rPr lang="vi-VN" altLang="en-US" sz="1500" b="1" dirty="0">
                <a:solidFill>
                  <a:srgbClr val="1D4ED8"/>
                </a:solidFill>
                <a:latin typeface="Calibri" pitchFamily="34" charset="0"/>
                <a:ea typeface="Calibri" pitchFamily="34" charset="-122"/>
                <a:cs typeface="Calibri" pitchFamily="34" charset="-120"/>
              </a:rPr>
              <a:t>Chức năng 4: Đề xuất số</a:t>
            </a:r>
            <a:endParaRPr lang="vi-VN" sz="1500" dirty="0"/>
          </a:p>
        </p:txBody>
      </p:sp>
      <p:sp>
        <p:nvSpPr>
          <p:cNvPr id="19" name="Text 13"/>
          <p:cNvSpPr txBox="1"/>
          <p:nvPr/>
        </p:nvSpPr>
        <p:spPr>
          <a:xfrm>
            <a:off x="5212080" y="4480560"/>
            <a:ext cx="3474720" cy="27432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Chỉ USER xem đề xuất số nên mua</a:t>
            </a:r>
            <a:endParaRPr lang="vi-VN"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9</a:t>
            </a:r>
            <a:endParaRPr lang="vi-VN" sz="900" dirty="0"/>
          </a:p>
        </p:txBody>
      </p:sp>
      <p:sp>
        <p:nvSpPr>
          <p:cNvPr id="9" name="Shape 6"/>
          <p:cNvSpPr/>
          <p:nvPr/>
        </p:nvSpPr>
        <p:spPr>
          <a:xfrm>
            <a:off x="502920" y="1170432"/>
            <a:ext cx="4023360" cy="914400"/>
          </a:xfrm>
          <a:prstGeom prst="roundRect">
            <a:avLst>
              <a:gd name="adj" fmla="val 10000"/>
            </a:avLst>
          </a:prstGeom>
          <a:solidFill>
            <a:srgbClr val="F8FAFC"/>
          </a:solidFill>
          <a:ln w="12700">
            <a:solidFill>
              <a:srgbClr val="F1F5F9"/>
            </a:solidFill>
          </a:ln>
        </p:spPr>
      </p:sp>
      <p:sp>
        <p:nvSpPr>
          <p:cNvPr id="10" name="Shape 7"/>
          <p:cNvSpPr/>
          <p:nvPr/>
        </p:nvSpPr>
        <p:spPr>
          <a:xfrm>
            <a:off x="685800" y="1371600"/>
            <a:ext cx="512064" cy="512064"/>
          </a:xfrm>
          <a:prstGeom prst="ellipse">
            <a:avLst/>
          </a:prstGeom>
          <a:solidFill>
            <a:srgbClr val="CBD5E1"/>
          </a:solidFill>
          <a:ln w="12700">
            <a:solidFill>
              <a:srgbClr val="CBD5E1"/>
            </a:solidFill>
          </a:ln>
        </p:spPr>
      </p:sp>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DBEAFE"/>
          </a:solidFill>
          <a:ln w="28575">
            <a:solidFill>
              <a:srgbClr val="1D4ED8"/>
            </a:solidFill>
          </a:ln>
        </p:spPr>
      </p:sp>
      <p:sp>
        <p:nvSpPr>
          <p:cNvPr id="15" name="Shape 11"/>
          <p:cNvSpPr/>
          <p:nvPr/>
        </p:nvSpPr>
        <p:spPr>
          <a:xfrm>
            <a:off x="4892040" y="1371600"/>
            <a:ext cx="512064" cy="512064"/>
          </a:xfrm>
          <a:prstGeom prst="ellipse">
            <a:avLst/>
          </a:prstGeom>
          <a:solidFill>
            <a:srgbClr val="1D4ED8"/>
          </a:solidFill>
          <a:ln w="12700">
            <a:solidFill>
              <a:srgbClr val="1D4ED8"/>
            </a:solidFill>
            <a:prstDash val="solid"/>
          </a:ln>
        </p:spPr>
      </p:sp>
      <p:pic>
        <p:nvPicPr>
          <p:cNvPr id="16" name="Image 1" descr="preencoded.png"/>
          <p:cNvPicPr>
            <a:picLocks noChangeAspect="1"/>
          </p:cNvPicPr>
          <p:nvPr/>
        </p:nvPicPr>
        <p:blipFill>
          <a:blip r:embed="rId2"/>
          <a:stretch>
            <a:fillRect/>
          </a:stretch>
        </p:blipFill>
        <p:spPr>
          <a:xfrm>
            <a:off x="5020056" y="1499616"/>
            <a:ext cx="256032" cy="256032"/>
          </a:xfrm>
          <a:prstGeom prst="rect">
            <a:avLst/>
          </a:prstGeom>
        </p:spPr>
      </p:pic>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F8FAFC"/>
          </a:solidFill>
          <a:ln w="12700">
            <a:solidFill>
              <a:srgbClr val="F1F5F9"/>
            </a:solidFill>
          </a:ln>
        </p:spPr>
      </p:sp>
      <p:sp>
        <p:nvSpPr>
          <p:cNvPr id="20" name="Shape 15"/>
          <p:cNvSpPr/>
          <p:nvPr/>
        </p:nvSpPr>
        <p:spPr>
          <a:xfrm>
            <a:off x="685800" y="2468880"/>
            <a:ext cx="512064" cy="512064"/>
          </a:xfrm>
          <a:prstGeom prst="ellipse">
            <a:avLst/>
          </a:prstGeom>
          <a:solidFill>
            <a:srgbClr val="CBD5E1"/>
          </a:solidFill>
          <a:ln w="12700">
            <a:solidFill>
              <a:srgbClr val="CBD5E1"/>
            </a:solidFill>
          </a:ln>
        </p:spPr>
      </p:sp>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F8FAFC"/>
          </a:solidFill>
          <a:ln w="12700">
            <a:solidFill>
              <a:srgbClr val="F1F5F9"/>
            </a:solidFill>
          </a:ln>
        </p:spPr>
      </p:sp>
      <p:sp>
        <p:nvSpPr>
          <p:cNvPr id="25" name="Shape 19"/>
          <p:cNvSpPr/>
          <p:nvPr/>
        </p:nvSpPr>
        <p:spPr>
          <a:xfrm>
            <a:off x="4892040" y="2468880"/>
            <a:ext cx="512064" cy="512064"/>
          </a:xfrm>
          <a:prstGeom prst="ellipse">
            <a:avLst/>
          </a:prstGeom>
          <a:solidFill>
            <a:srgbClr val="CBD5E1"/>
          </a:solidFill>
          <a:ln w="12700">
            <a:solidFill>
              <a:srgbClr val="CBD5E1"/>
            </a:solidFill>
          </a:ln>
        </p:spPr>
      </p:sp>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F8FAFC"/>
          </a:solidFill>
          <a:ln w="12700">
            <a:solidFill>
              <a:srgbClr val="F1F5F9"/>
            </a:solidFill>
          </a:ln>
        </p:spPr>
      </p:sp>
      <p:sp>
        <p:nvSpPr>
          <p:cNvPr id="30" name="Shape 23"/>
          <p:cNvSpPr/>
          <p:nvPr/>
        </p:nvSpPr>
        <p:spPr>
          <a:xfrm>
            <a:off x="685800" y="3566160"/>
            <a:ext cx="512064" cy="512064"/>
          </a:xfrm>
          <a:prstGeom prst="ellipse">
            <a:avLst/>
          </a:prstGeom>
          <a:solidFill>
            <a:srgbClr val="CBD5E1"/>
          </a:solidFill>
          <a:ln w="12700">
            <a:solidFill>
              <a:srgbClr val="CBD5E1"/>
            </a:solidFill>
          </a:ln>
        </p:spPr>
      </p:sp>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F8FAFC"/>
          </a:solidFill>
          <a:ln w="12700">
            <a:solidFill>
              <a:srgbClr val="F1F5F9"/>
            </a:solidFill>
          </a:ln>
        </p:spPr>
      </p:sp>
      <p:sp>
        <p:nvSpPr>
          <p:cNvPr id="35" name="Shape 27"/>
          <p:cNvSpPr/>
          <p:nvPr/>
        </p:nvSpPr>
        <p:spPr>
          <a:xfrm>
            <a:off x="4892040" y="3566160"/>
            <a:ext cx="512064" cy="512064"/>
          </a:xfrm>
          <a:prstGeom prst="ellipse">
            <a:avLst/>
          </a:prstGeom>
          <a:solidFill>
            <a:srgbClr val="CBD5E1"/>
          </a:solidFill>
          <a:ln w="12700">
            <a:solidFill>
              <a:srgbClr val="CBD5E1"/>
            </a:solidFill>
          </a:ln>
        </p:spPr>
      </p:sp>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Mô hình MVC</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Mỗi thành phần một nhiệm vụ, tách riêng để dễ sửa và dễ kiểm thử</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10</a:t>
            </a:r>
            <a:endParaRPr lang="vi-VN" sz="900" dirty="0"/>
          </a:p>
        </p:txBody>
      </p:sp>
      <p:sp>
        <p:nvSpPr>
          <p:cNvPr id="9" name="Shape 6"/>
          <p:cNvSpPr/>
          <p:nvPr/>
        </p:nvSpPr>
        <p:spPr>
          <a:xfrm>
            <a:off x="507492" y="1494628"/>
            <a:ext cx="2606040" cy="2697480"/>
          </a:xfrm>
          <a:prstGeom prst="roundRect">
            <a:avLst>
              <a:gd name="adj" fmla="val 3509"/>
            </a:avLst>
          </a:prstGeom>
          <a:solidFill>
            <a:srgbClr val="FFFFFF"/>
          </a:solidFill>
          <a:ln w="12700">
            <a:solidFill>
              <a:srgbClr val="D6E2F5"/>
            </a:solidFill>
            <a:prstDash val="solid"/>
          </a:ln>
        </p:spPr>
      </p:sp>
      <p:sp>
        <p:nvSpPr>
          <p:cNvPr id="10" name="Shape 7"/>
          <p:cNvSpPr/>
          <p:nvPr/>
        </p:nvSpPr>
        <p:spPr>
          <a:xfrm>
            <a:off x="507492" y="1494628"/>
            <a:ext cx="2606040" cy="82296"/>
          </a:xfrm>
          <a:prstGeom prst="rect">
            <a:avLst/>
          </a:prstGeom>
          <a:solidFill>
            <a:srgbClr val="16A34A"/>
          </a:solidFill>
          <a:ln w="12700">
            <a:solidFill>
              <a:srgbClr val="16A34A"/>
            </a:solidFill>
            <a:prstDash val="solid"/>
          </a:ln>
        </p:spPr>
      </p:sp>
      <p:sp>
        <p:nvSpPr>
          <p:cNvPr id="11" name="Shape 8"/>
          <p:cNvSpPr/>
          <p:nvPr/>
        </p:nvSpPr>
        <p:spPr>
          <a:xfrm>
            <a:off x="690372" y="1723228"/>
            <a:ext cx="457200" cy="457200"/>
          </a:xfrm>
          <a:prstGeom prst="ellipse">
            <a:avLst/>
          </a:prstGeom>
          <a:solidFill>
            <a:srgbClr val="16A34A"/>
          </a:solidFill>
          <a:ln w="12700">
            <a:solidFill>
              <a:srgbClr val="16A34A"/>
            </a:solidFill>
            <a:prstDash val="solid"/>
          </a:ln>
        </p:spPr>
      </p:sp>
      <p:pic>
        <p:nvPicPr>
          <p:cNvPr id="12" name="Image 0" descr="preencoded.png"/>
          <p:cNvPicPr>
            <a:picLocks noChangeAspect="1"/>
          </p:cNvPicPr>
          <p:nvPr/>
        </p:nvPicPr>
        <p:blipFill>
          <a:blip r:embed="rId3"/>
          <a:stretch>
            <a:fillRect/>
          </a:stretch>
        </p:blipFill>
        <p:spPr>
          <a:xfrm>
            <a:off x="804672" y="1837528"/>
            <a:ext cx="228600" cy="228600"/>
          </a:xfrm>
          <a:prstGeom prst="rect">
            <a:avLst/>
          </a:prstGeom>
        </p:spPr>
      </p:pic>
      <p:sp>
        <p:nvSpPr>
          <p:cNvPr id="13" name="Text 9"/>
          <p:cNvSpPr txBox="1"/>
          <p:nvPr/>
        </p:nvSpPr>
        <p:spPr>
          <a:xfrm>
            <a:off x="1284732" y="1695796"/>
            <a:ext cx="1737360" cy="274320"/>
          </a:xfrm>
          <a:prstGeom prst="rect">
            <a:avLst/>
          </a:prstGeom>
          <a:noFill/>
          <a:ln/>
        </p:spPr>
        <p:txBody>
          <a:bodyPr wrap="square" lIns="0" tIns="0" rIns="0" bIns="0" rtlCol="0" anchor="t"/>
          <a:lstStyle/>
          <a:p>
            <a:pPr marL="0" indent="0">
              <a:buNone/>
            </a:pPr>
            <a:r>
              <a:rPr lang="vi-VN" altLang="en-US" sz="1700" b="1" dirty="0">
                <a:solidFill>
                  <a:srgbClr val="0F2A5C"/>
                </a:solidFill>
                <a:latin typeface="Calibri" pitchFamily="34" charset="0"/>
                <a:ea typeface="Calibri" pitchFamily="34" charset="-122"/>
                <a:cs typeface="Calibri" pitchFamily="34" charset="-120"/>
              </a:rPr>
              <a:t>View</a:t>
            </a:r>
            <a:endParaRPr lang="vi-VN" sz="1700" dirty="0"/>
          </a:p>
        </p:txBody>
      </p:sp>
      <p:sp>
        <p:nvSpPr>
          <p:cNvPr id="14" name="Text 10"/>
          <p:cNvSpPr txBox="1"/>
          <p:nvPr/>
        </p:nvSpPr>
        <p:spPr>
          <a:xfrm>
            <a:off x="1284732" y="1979260"/>
            <a:ext cx="1737360" cy="228600"/>
          </a:xfrm>
          <a:prstGeom prst="rect">
            <a:avLst/>
          </a:prstGeom>
          <a:noFill/>
          <a:ln/>
        </p:spPr>
        <p:txBody>
          <a:bodyPr wrap="square" lIns="0" tIns="0" rIns="0" bIns="0" rtlCol="0" anchor="t"/>
          <a:lstStyle/>
          <a:p>
            <a:pPr marL="0" indent="0">
              <a:buNone/>
            </a:pPr>
            <a:r>
              <a:rPr lang="vi-VN" altLang="en-US" sz="1150" b="1" dirty="0">
                <a:solidFill>
                  <a:srgbClr val="16A34A"/>
                </a:solidFill>
                <a:latin typeface="Calibri" pitchFamily="34" charset="0"/>
                <a:ea typeface="Calibri" pitchFamily="34" charset="-122"/>
                <a:cs typeface="Calibri" pitchFamily="34" charset="-120"/>
              </a:rPr>
              <a:t>JSP + JSTL</a:t>
            </a:r>
            <a:endParaRPr lang="vi-VN" sz="1150" dirty="0"/>
          </a:p>
        </p:txBody>
      </p:sp>
      <p:sp>
        <p:nvSpPr>
          <p:cNvPr id="15" name="Text 11"/>
          <p:cNvSpPr txBox="1"/>
          <p:nvPr/>
        </p:nvSpPr>
        <p:spPr>
          <a:xfrm>
            <a:off x="690372" y="2409028"/>
            <a:ext cx="2286000" cy="822960"/>
          </a:xfrm>
          <a:prstGeom prst="rect">
            <a:avLst/>
          </a:prstGeom>
          <a:noFill/>
          <a:ln/>
        </p:spPr>
        <p:txBody>
          <a:bodyPr wrap="square" lIns="0" tIns="0" rIns="0" bIns="0" rtlCol="0" anchor="t"/>
          <a:lstStyle/>
          <a:p>
            <a:pPr marL="0" indent="0">
              <a:buNone/>
            </a:pPr>
            <a:r>
              <a:rPr lang="vi-VN" altLang="en-US" sz="1250" b="1" dirty="0">
                <a:solidFill>
                  <a:srgbClr val="1F2937"/>
                </a:solidFill>
                <a:latin typeface="Calibri" pitchFamily="34" charset="0"/>
                <a:ea typeface="Calibri" pitchFamily="34" charset="-122"/>
                <a:cs typeface="Calibri" pitchFamily="34" charset="-120"/>
              </a:rPr>
              <a:t>Hiển thị dữ liệu mà Controller gửi sang</a:t>
            </a:r>
            <a:endParaRPr lang="vi-VN" sz="1250" dirty="0"/>
          </a:p>
        </p:txBody>
      </p:sp>
      <p:sp>
        <p:nvSpPr>
          <p:cNvPr id="16" name="Text 12"/>
          <p:cNvSpPr txBox="1"/>
          <p:nvPr/>
        </p:nvSpPr>
        <p:spPr>
          <a:xfrm>
            <a:off x="690372" y="3277708"/>
            <a:ext cx="2286000" cy="8686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Đặt trong WEB-INF/views nên không truy cập trực tiếp được, phải đi qua Servlet</a:t>
            </a:r>
            <a:endParaRPr lang="vi-VN" sz="1150" dirty="0"/>
          </a:p>
        </p:txBody>
      </p:sp>
      <p:sp>
        <p:nvSpPr>
          <p:cNvPr id="17" name="Shape 13"/>
          <p:cNvSpPr/>
          <p:nvPr/>
        </p:nvSpPr>
        <p:spPr>
          <a:xfrm>
            <a:off x="3268980" y="1494628"/>
            <a:ext cx="2606040" cy="2697480"/>
          </a:xfrm>
          <a:prstGeom prst="roundRect">
            <a:avLst>
              <a:gd name="adj" fmla="val 3509"/>
            </a:avLst>
          </a:prstGeom>
          <a:solidFill>
            <a:srgbClr val="FFFFFF"/>
          </a:solidFill>
          <a:ln w="12700">
            <a:solidFill>
              <a:srgbClr val="D6E2F5"/>
            </a:solidFill>
            <a:prstDash val="solid"/>
          </a:ln>
        </p:spPr>
      </p:sp>
      <p:sp>
        <p:nvSpPr>
          <p:cNvPr id="18" name="Shape 14"/>
          <p:cNvSpPr/>
          <p:nvPr/>
        </p:nvSpPr>
        <p:spPr>
          <a:xfrm>
            <a:off x="3268980" y="1494628"/>
            <a:ext cx="2606040" cy="82296"/>
          </a:xfrm>
          <a:prstGeom prst="rect">
            <a:avLst/>
          </a:prstGeom>
          <a:solidFill>
            <a:srgbClr val="1D4ED8"/>
          </a:solidFill>
          <a:ln w="12700">
            <a:solidFill>
              <a:srgbClr val="1D4ED8"/>
            </a:solidFill>
            <a:prstDash val="solid"/>
          </a:ln>
        </p:spPr>
      </p:sp>
      <p:sp>
        <p:nvSpPr>
          <p:cNvPr id="19" name="Shape 15"/>
          <p:cNvSpPr/>
          <p:nvPr/>
        </p:nvSpPr>
        <p:spPr>
          <a:xfrm>
            <a:off x="3451860" y="1723228"/>
            <a:ext cx="457200" cy="457200"/>
          </a:xfrm>
          <a:prstGeom prst="ellipse">
            <a:avLst/>
          </a:prstGeom>
          <a:solidFill>
            <a:srgbClr val="1D4ED8"/>
          </a:solidFill>
          <a:ln w="12700">
            <a:solidFill>
              <a:srgbClr val="1D4ED8"/>
            </a:solidFill>
            <a:prstDash val="solid"/>
          </a:ln>
        </p:spPr>
      </p:sp>
      <p:pic>
        <p:nvPicPr>
          <p:cNvPr id="20" name="Image 1" descr="preencoded.png"/>
          <p:cNvPicPr>
            <a:picLocks noChangeAspect="1"/>
          </p:cNvPicPr>
          <p:nvPr/>
        </p:nvPicPr>
        <p:blipFill>
          <a:blip r:embed="rId4"/>
          <a:stretch>
            <a:fillRect/>
          </a:stretch>
        </p:blipFill>
        <p:spPr>
          <a:xfrm>
            <a:off x="3566160" y="1837528"/>
            <a:ext cx="228600" cy="228600"/>
          </a:xfrm>
          <a:prstGeom prst="rect">
            <a:avLst/>
          </a:prstGeom>
        </p:spPr>
      </p:pic>
      <p:sp>
        <p:nvSpPr>
          <p:cNvPr id="21" name="Text 16"/>
          <p:cNvSpPr txBox="1"/>
          <p:nvPr/>
        </p:nvSpPr>
        <p:spPr>
          <a:xfrm>
            <a:off x="4046220" y="1695796"/>
            <a:ext cx="1737360" cy="274320"/>
          </a:xfrm>
          <a:prstGeom prst="rect">
            <a:avLst/>
          </a:prstGeom>
          <a:noFill/>
          <a:ln/>
        </p:spPr>
        <p:txBody>
          <a:bodyPr wrap="square" lIns="0" tIns="0" rIns="0" bIns="0" rtlCol="0" anchor="t"/>
          <a:lstStyle/>
          <a:p>
            <a:pPr marL="0" indent="0">
              <a:buNone/>
            </a:pPr>
            <a:r>
              <a:rPr lang="vi-VN" altLang="en-US" sz="1700" b="1" dirty="0">
                <a:solidFill>
                  <a:srgbClr val="0F2A5C"/>
                </a:solidFill>
                <a:latin typeface="Calibri" pitchFamily="34" charset="0"/>
                <a:ea typeface="Calibri" pitchFamily="34" charset="-122"/>
                <a:cs typeface="Calibri" pitchFamily="34" charset="-120"/>
              </a:rPr>
              <a:t>Controller</a:t>
            </a:r>
            <a:endParaRPr lang="vi-VN" sz="1700" dirty="0"/>
          </a:p>
        </p:txBody>
      </p:sp>
      <p:sp>
        <p:nvSpPr>
          <p:cNvPr id="22" name="Text 17"/>
          <p:cNvSpPr txBox="1"/>
          <p:nvPr/>
        </p:nvSpPr>
        <p:spPr>
          <a:xfrm>
            <a:off x="4046220" y="1979260"/>
            <a:ext cx="1737360" cy="228600"/>
          </a:xfrm>
          <a:prstGeom prst="rect">
            <a:avLst/>
          </a:prstGeom>
          <a:noFill/>
          <a:ln/>
        </p:spPr>
        <p:txBody>
          <a:bodyPr wrap="square" lIns="0" tIns="0" rIns="0" bIns="0" rtlCol="0" anchor="t"/>
          <a:lstStyle/>
          <a:p>
            <a:pPr marL="0" indent="0">
              <a:buNone/>
            </a:pPr>
            <a:r>
              <a:rPr lang="vi-VN" altLang="en-US" sz="1150" b="1" dirty="0">
                <a:solidFill>
                  <a:srgbClr val="1D4ED8"/>
                </a:solidFill>
                <a:latin typeface="Calibri" pitchFamily="34" charset="0"/>
                <a:ea typeface="Calibri" pitchFamily="34" charset="-122"/>
                <a:cs typeface="Calibri" pitchFamily="34" charset="-120"/>
              </a:rPr>
              <a:t>Servlet</a:t>
            </a:r>
            <a:endParaRPr lang="vi-VN" sz="1150" dirty="0"/>
          </a:p>
        </p:txBody>
      </p:sp>
      <p:sp>
        <p:nvSpPr>
          <p:cNvPr id="23" name="Text 18"/>
          <p:cNvSpPr txBox="1"/>
          <p:nvPr/>
        </p:nvSpPr>
        <p:spPr>
          <a:xfrm>
            <a:off x="3451860" y="2409028"/>
            <a:ext cx="2286000" cy="822960"/>
          </a:xfrm>
          <a:prstGeom prst="rect">
            <a:avLst/>
          </a:prstGeom>
          <a:noFill/>
          <a:ln/>
        </p:spPr>
        <p:txBody>
          <a:bodyPr wrap="square" lIns="0" tIns="0" rIns="0" bIns="0" rtlCol="0" anchor="t"/>
          <a:lstStyle/>
          <a:p>
            <a:pPr marL="0" indent="0">
              <a:buNone/>
            </a:pPr>
            <a:r>
              <a:rPr lang="vi-VN" altLang="en-US" sz="1250" b="1" dirty="0">
                <a:solidFill>
                  <a:srgbClr val="1F2937"/>
                </a:solidFill>
                <a:latin typeface="Calibri" pitchFamily="34" charset="0"/>
                <a:ea typeface="Calibri" pitchFamily="34" charset="-122"/>
                <a:cs typeface="Calibri" pitchFamily="34" charset="-120"/>
              </a:rPr>
              <a:t>Nhận request, đọc tham số, gọi BO</a:t>
            </a:r>
            <a:endParaRPr lang="vi-VN" sz="1250" dirty="0"/>
          </a:p>
        </p:txBody>
      </p:sp>
      <p:sp>
        <p:nvSpPr>
          <p:cNvPr id="24" name="Text 19"/>
          <p:cNvSpPr txBox="1"/>
          <p:nvPr/>
        </p:nvSpPr>
        <p:spPr>
          <a:xfrm>
            <a:off x="3451860" y="3277708"/>
            <a:ext cx="2286000" cy="8686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Chọn JSP để hiển thị hoặc chuyển hướng; không chứa nghiệp vụ, không gọi DAO</a:t>
            </a:r>
            <a:endParaRPr lang="vi-VN" sz="1150" dirty="0"/>
          </a:p>
        </p:txBody>
      </p:sp>
      <p:sp>
        <p:nvSpPr>
          <p:cNvPr id="25" name="Shape 20"/>
          <p:cNvSpPr/>
          <p:nvPr/>
        </p:nvSpPr>
        <p:spPr>
          <a:xfrm>
            <a:off x="6030468" y="1494628"/>
            <a:ext cx="2606040" cy="2697480"/>
          </a:xfrm>
          <a:prstGeom prst="roundRect">
            <a:avLst>
              <a:gd name="adj" fmla="val 3509"/>
            </a:avLst>
          </a:prstGeom>
          <a:solidFill>
            <a:srgbClr val="FFFFFF"/>
          </a:solidFill>
          <a:ln w="12700">
            <a:solidFill>
              <a:srgbClr val="D6E2F5"/>
            </a:solidFill>
            <a:prstDash val="solid"/>
          </a:ln>
        </p:spPr>
      </p:sp>
      <p:sp>
        <p:nvSpPr>
          <p:cNvPr id="26" name="Shape 21"/>
          <p:cNvSpPr/>
          <p:nvPr/>
        </p:nvSpPr>
        <p:spPr>
          <a:xfrm>
            <a:off x="6030468" y="1494628"/>
            <a:ext cx="2606040" cy="82296"/>
          </a:xfrm>
          <a:prstGeom prst="rect">
            <a:avLst/>
          </a:prstGeom>
          <a:solidFill>
            <a:srgbClr val="D97706"/>
          </a:solidFill>
          <a:ln w="12700">
            <a:solidFill>
              <a:srgbClr val="D97706"/>
            </a:solidFill>
            <a:prstDash val="solid"/>
          </a:ln>
        </p:spPr>
      </p:sp>
      <p:sp>
        <p:nvSpPr>
          <p:cNvPr id="27" name="Shape 22"/>
          <p:cNvSpPr/>
          <p:nvPr/>
        </p:nvSpPr>
        <p:spPr>
          <a:xfrm>
            <a:off x="6213348" y="1723228"/>
            <a:ext cx="457200" cy="457200"/>
          </a:xfrm>
          <a:prstGeom prst="ellipse">
            <a:avLst/>
          </a:prstGeom>
          <a:solidFill>
            <a:srgbClr val="D97706"/>
          </a:solidFill>
          <a:ln w="12700">
            <a:solidFill>
              <a:srgbClr val="D97706"/>
            </a:solidFill>
            <a:prstDash val="solid"/>
          </a:ln>
        </p:spPr>
      </p:sp>
      <p:pic>
        <p:nvPicPr>
          <p:cNvPr id="28" name="Image 2" descr="preencoded.png"/>
          <p:cNvPicPr>
            <a:picLocks noChangeAspect="1"/>
          </p:cNvPicPr>
          <p:nvPr/>
        </p:nvPicPr>
        <p:blipFill>
          <a:blip r:embed="rId5"/>
          <a:stretch>
            <a:fillRect/>
          </a:stretch>
        </p:blipFill>
        <p:spPr>
          <a:xfrm>
            <a:off x="6327648" y="1837528"/>
            <a:ext cx="228600" cy="228600"/>
          </a:xfrm>
          <a:prstGeom prst="rect">
            <a:avLst/>
          </a:prstGeom>
        </p:spPr>
      </p:pic>
      <p:sp>
        <p:nvSpPr>
          <p:cNvPr id="29" name="Text 23"/>
          <p:cNvSpPr txBox="1"/>
          <p:nvPr/>
        </p:nvSpPr>
        <p:spPr>
          <a:xfrm>
            <a:off x="6807708" y="1695796"/>
            <a:ext cx="1737360" cy="274320"/>
          </a:xfrm>
          <a:prstGeom prst="rect">
            <a:avLst/>
          </a:prstGeom>
          <a:noFill/>
          <a:ln/>
        </p:spPr>
        <p:txBody>
          <a:bodyPr wrap="square" lIns="0" tIns="0" rIns="0" bIns="0" rtlCol="0" anchor="t"/>
          <a:lstStyle/>
          <a:p>
            <a:pPr marL="0" indent="0">
              <a:buNone/>
            </a:pPr>
            <a:r>
              <a:rPr lang="vi-VN" altLang="en-US" sz="1700" b="1" dirty="0">
                <a:solidFill>
                  <a:srgbClr val="0F2A5C"/>
                </a:solidFill>
                <a:latin typeface="Calibri" pitchFamily="34" charset="0"/>
                <a:ea typeface="Calibri" pitchFamily="34" charset="-122"/>
                <a:cs typeface="Calibri" pitchFamily="34" charset="-120"/>
              </a:rPr>
              <a:t>Model</a:t>
            </a:r>
            <a:endParaRPr lang="vi-VN" sz="1700" dirty="0"/>
          </a:p>
        </p:txBody>
      </p:sp>
      <p:sp>
        <p:nvSpPr>
          <p:cNvPr id="30" name="Text 24"/>
          <p:cNvSpPr txBox="1"/>
          <p:nvPr/>
        </p:nvSpPr>
        <p:spPr>
          <a:xfrm>
            <a:off x="6807708" y="1979260"/>
            <a:ext cx="1737360" cy="228600"/>
          </a:xfrm>
          <a:prstGeom prst="rect">
            <a:avLst/>
          </a:prstGeom>
          <a:noFill/>
          <a:ln/>
        </p:spPr>
        <p:txBody>
          <a:bodyPr wrap="square" lIns="0" tIns="0" rIns="0" bIns="0" rtlCol="0" anchor="t"/>
          <a:lstStyle/>
          <a:p>
            <a:pPr marL="0" indent="0">
              <a:buNone/>
            </a:pPr>
            <a:r>
              <a:rPr lang="vi-VN" altLang="en-US" sz="1150" b="1" dirty="0">
                <a:solidFill>
                  <a:srgbClr val="D97706"/>
                </a:solidFill>
                <a:latin typeface="Calibri" pitchFamily="34" charset="0"/>
                <a:ea typeface="Calibri" pitchFamily="34" charset="-122"/>
                <a:cs typeface="Calibri" pitchFamily="34" charset="-120"/>
              </a:rPr>
              <a:t>BO + DAO + Entity</a:t>
            </a:r>
            <a:endParaRPr lang="vi-VN" sz="1150" dirty="0"/>
          </a:p>
        </p:txBody>
      </p:sp>
      <p:sp>
        <p:nvSpPr>
          <p:cNvPr id="31" name="Text 25"/>
          <p:cNvSpPr txBox="1"/>
          <p:nvPr/>
        </p:nvSpPr>
        <p:spPr>
          <a:xfrm>
            <a:off x="6213348" y="2409028"/>
            <a:ext cx="2286000" cy="822960"/>
          </a:xfrm>
          <a:prstGeom prst="rect">
            <a:avLst/>
          </a:prstGeom>
          <a:noFill/>
          <a:ln/>
        </p:spPr>
        <p:txBody>
          <a:bodyPr wrap="square" lIns="0" tIns="0" rIns="0" bIns="0" rtlCol="0" anchor="t"/>
          <a:lstStyle/>
          <a:p>
            <a:pPr marL="0" indent="0">
              <a:buNone/>
            </a:pPr>
            <a:r>
              <a:rPr lang="vi-VN" altLang="en-US" sz="1250" b="1" dirty="0">
                <a:solidFill>
                  <a:srgbClr val="1F2937"/>
                </a:solidFill>
                <a:latin typeface="Calibri" pitchFamily="34" charset="0"/>
                <a:ea typeface="Calibri" pitchFamily="34" charset="-122"/>
                <a:cs typeface="Calibri" pitchFamily="34" charset="-120"/>
              </a:rPr>
              <a:t>BO: quy tắc nghiệp vụ, kiểm tra dữ liệu. DAO: truy vấn MySQL bằng JDBC</a:t>
            </a:r>
            <a:endParaRPr lang="vi-VN" sz="1250" dirty="0"/>
          </a:p>
        </p:txBody>
      </p:sp>
      <p:sp>
        <p:nvSpPr>
          <p:cNvPr id="32" name="Text 26"/>
          <p:cNvSpPr txBox="1"/>
          <p:nvPr/>
        </p:nvSpPr>
        <p:spPr>
          <a:xfrm>
            <a:off x="6213348" y="3277708"/>
            <a:ext cx="2286000" cy="8686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Entity (User, LotteryTicket...) mang dữ liệu giữa các tầng</a:t>
            </a:r>
            <a:endParaRPr lang="vi-VN"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Kiến trúc hệ thống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Trình duyệt → Filter → Controller → BO → DAO → MySQL, kết quả trả ngược về JSP</a:t>
            </a:r>
            <a:endParaRPr lang="vi-VN" sz="15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11</a:t>
            </a:r>
            <a:endParaRPr lang="vi-VN" sz="900" dirty="0"/>
          </a:p>
        </p:txBody>
      </p:sp>
      <p:pic>
        <p:nvPicPr>
          <p:cNvPr id="11" name="Picture 10" descr="image6.png"/>
          <p:cNvPicPr>
            <a:picLocks noChangeAspect="1"/>
          </p:cNvPicPr>
          <p:nvPr/>
        </p:nvPicPr>
        <p:blipFill>
          <a:blip r:embed="rId2"/>
          <a:stretch>
            <a:fillRect/>
          </a:stretch>
        </p:blipFill>
        <p:spPr>
          <a:xfrm>
            <a:off x="961466" y="1300000"/>
            <a:ext cx="7266787" cy="35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en-US" altLang="en-US" sz="2800" b="1" dirty="0" err="1">
                <a:solidFill>
                  <a:srgbClr val="0F2A5C"/>
                </a:solidFill>
                <a:latin typeface="Calibri" pitchFamily="34" charset="0"/>
                <a:ea typeface="Calibri" pitchFamily="34" charset="-122"/>
                <a:cs typeface="Calibri" pitchFamily="34" charset="-120"/>
              </a:rPr>
              <a:t>Luồng</a:t>
            </a:r>
            <a:r>
              <a:rPr lang="en-US" altLang="en-US" sz="2800" b="1" dirty="0">
                <a:solidFill>
                  <a:srgbClr val="0F2A5C"/>
                </a:solidFill>
                <a:latin typeface="Calibri" pitchFamily="34" charset="0"/>
                <a:ea typeface="Calibri" pitchFamily="34" charset="-122"/>
                <a:cs typeface="Calibri" pitchFamily="34" charset="-120"/>
              </a:rPr>
              <a:t> </a:t>
            </a:r>
            <a:r>
              <a:rPr lang="en-US" altLang="en-US" sz="2800" b="1" dirty="0" err="1">
                <a:solidFill>
                  <a:srgbClr val="0F2A5C"/>
                </a:solidFill>
                <a:latin typeface="Calibri" pitchFamily="34" charset="0"/>
                <a:ea typeface="Calibri" pitchFamily="34" charset="-122"/>
                <a:cs typeface="Calibri" pitchFamily="34" charset="-120"/>
              </a:rPr>
              <a:t>hoạt</a:t>
            </a:r>
            <a:r>
              <a:rPr lang="en-US" altLang="en-US" sz="2800" b="1" dirty="0">
                <a:solidFill>
                  <a:srgbClr val="0F2A5C"/>
                </a:solidFill>
                <a:latin typeface="Calibri" pitchFamily="34" charset="0"/>
                <a:ea typeface="Calibri" pitchFamily="34" charset="-122"/>
                <a:cs typeface="Calibri" pitchFamily="34" charset="-120"/>
              </a:rPr>
              <a:t> </a:t>
            </a:r>
            <a:r>
              <a:rPr lang="en-US" altLang="en-US" sz="2800" b="1" dirty="0" err="1">
                <a:solidFill>
                  <a:srgbClr val="0F2A5C"/>
                </a:solidFill>
                <a:latin typeface="Calibri" pitchFamily="34" charset="0"/>
                <a:ea typeface="Calibri" pitchFamily="34" charset="-122"/>
                <a:cs typeface="Calibri" pitchFamily="34" charset="-120"/>
              </a:rPr>
              <a:t>động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Một request đi xuống dữ liệu rồi quay ngược lại về trình duyệt</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12</a:t>
            </a:r>
            <a:endParaRPr lang="vi-VN" sz="900" dirty="0"/>
          </a:p>
        </p:txBody>
      </p:sp>
      <p:sp>
        <p:nvSpPr>
          <p:cNvPr id="9" name="Shape 6"/>
          <p:cNvSpPr/>
          <p:nvPr/>
        </p:nvSpPr>
        <p:spPr>
          <a:xfrm>
            <a:off x="502920" y="1325880"/>
            <a:ext cx="1188720" cy="566928"/>
          </a:xfrm>
          <a:prstGeom prst="roundRect">
            <a:avLst>
              <a:gd name="adj" fmla="val 12903"/>
            </a:avLst>
          </a:prstGeom>
          <a:solidFill>
            <a:srgbClr val="64748B"/>
          </a:solidFill>
          <a:ln w="12700">
            <a:solidFill>
              <a:srgbClr val="64748B"/>
            </a:solidFill>
            <a:prstDash val="solid"/>
          </a:ln>
        </p:spPr>
      </p:sp>
      <p:sp>
        <p:nvSpPr>
          <p:cNvPr id="10" name="Text 7"/>
          <p:cNvSpPr txBox="1"/>
          <p:nvPr/>
        </p:nvSpPr>
        <p:spPr>
          <a:xfrm>
            <a:off x="502920" y="1325880"/>
            <a:ext cx="1188720" cy="566928"/>
          </a:xfrm>
          <a:prstGeom prst="rect">
            <a:avLst/>
          </a:prstGeom>
          <a:noFill/>
          <a:ln/>
        </p:spPr>
        <p:txBody>
          <a:bodyPr wrap="square" lIns="0" tIns="0" rIns="0" bIns="0" rtlCol="0" anchor="ctr"/>
          <a:lstStyle/>
          <a:p>
            <a:pPr marL="0" indent="0" algn="ctr">
              <a:buNone/>
            </a:pPr>
            <a:r>
              <a:rPr lang="vi-VN" altLang="en-US" sz="1400" b="1" dirty="0">
                <a:solidFill>
                  <a:srgbClr val="FFFFFF"/>
                </a:solidFill>
                <a:latin typeface="Calibri" pitchFamily="34" charset="0"/>
                <a:ea typeface="Calibri" pitchFamily="34" charset="-122"/>
                <a:cs typeface="Calibri" pitchFamily="34" charset="-120"/>
              </a:rPr>
              <a:t>Trình duyệt</a:t>
            </a:r>
            <a:endParaRPr lang="vi-VN" sz="1400" dirty="0"/>
          </a:p>
        </p:txBody>
      </p:sp>
      <p:sp>
        <p:nvSpPr>
          <p:cNvPr id="11" name="Shape 8"/>
          <p:cNvSpPr/>
          <p:nvPr/>
        </p:nvSpPr>
        <p:spPr>
          <a:xfrm>
            <a:off x="1709928" y="1499616"/>
            <a:ext cx="146304" cy="219456"/>
          </a:xfrm>
          <a:prstGeom prst="rightArrow">
            <a:avLst/>
          </a:prstGeom>
          <a:solidFill>
            <a:srgbClr val="64748B"/>
          </a:solidFill>
          <a:ln w="12700">
            <a:solidFill>
              <a:srgbClr val="64748B"/>
            </a:solidFill>
            <a:prstDash val="solid"/>
          </a:ln>
        </p:spPr>
      </p:sp>
      <p:sp>
        <p:nvSpPr>
          <p:cNvPr id="12" name="Shape 9"/>
          <p:cNvSpPr/>
          <p:nvPr/>
        </p:nvSpPr>
        <p:spPr>
          <a:xfrm>
            <a:off x="1874520" y="1325880"/>
            <a:ext cx="1188720" cy="566928"/>
          </a:xfrm>
          <a:prstGeom prst="roundRect">
            <a:avLst>
              <a:gd name="adj" fmla="val 12903"/>
            </a:avLst>
          </a:prstGeom>
          <a:solidFill>
            <a:srgbClr val="7C3AED"/>
          </a:solidFill>
          <a:ln w="12700">
            <a:solidFill>
              <a:srgbClr val="7C3AED"/>
            </a:solidFill>
            <a:prstDash val="solid"/>
          </a:ln>
        </p:spPr>
      </p:sp>
      <p:sp>
        <p:nvSpPr>
          <p:cNvPr id="13" name="Text 10"/>
          <p:cNvSpPr txBox="1"/>
          <p:nvPr/>
        </p:nvSpPr>
        <p:spPr>
          <a:xfrm>
            <a:off x="1874520" y="1325880"/>
            <a:ext cx="1188720" cy="566928"/>
          </a:xfrm>
          <a:prstGeom prst="rect">
            <a:avLst/>
          </a:prstGeom>
          <a:noFill/>
          <a:ln/>
        </p:spPr>
        <p:txBody>
          <a:bodyPr wrap="square" lIns="0" tIns="0" rIns="0" bIns="0" rtlCol="0" anchor="ctr"/>
          <a:lstStyle/>
          <a:p>
            <a:pPr marL="0" indent="0" algn="ctr">
              <a:buNone/>
            </a:pPr>
            <a:r>
              <a:rPr lang="vi-VN" altLang="en-US" sz="1400" b="1" dirty="0">
                <a:solidFill>
                  <a:srgbClr val="FFFFFF"/>
                </a:solidFill>
                <a:latin typeface="Calibri" pitchFamily="34" charset="0"/>
                <a:ea typeface="Calibri" pitchFamily="34" charset="-122"/>
                <a:cs typeface="Calibri" pitchFamily="34" charset="-120"/>
              </a:rPr>
              <a:t>Filter</a:t>
            </a:r>
            <a:endParaRPr lang="vi-VN" sz="1400" dirty="0"/>
          </a:p>
        </p:txBody>
      </p:sp>
      <p:sp>
        <p:nvSpPr>
          <p:cNvPr id="14" name="Shape 11"/>
          <p:cNvSpPr/>
          <p:nvPr/>
        </p:nvSpPr>
        <p:spPr>
          <a:xfrm>
            <a:off x="3081528" y="1499616"/>
            <a:ext cx="146304" cy="219456"/>
          </a:xfrm>
          <a:prstGeom prst="rightArrow">
            <a:avLst/>
          </a:prstGeom>
          <a:solidFill>
            <a:srgbClr val="64748B"/>
          </a:solidFill>
          <a:ln w="12700">
            <a:solidFill>
              <a:srgbClr val="64748B"/>
            </a:solidFill>
            <a:prstDash val="solid"/>
          </a:ln>
        </p:spPr>
      </p:sp>
      <p:sp>
        <p:nvSpPr>
          <p:cNvPr id="15" name="Shape 12"/>
          <p:cNvSpPr/>
          <p:nvPr/>
        </p:nvSpPr>
        <p:spPr>
          <a:xfrm>
            <a:off x="3246120" y="1325880"/>
            <a:ext cx="1188720" cy="566928"/>
          </a:xfrm>
          <a:prstGeom prst="roundRect">
            <a:avLst>
              <a:gd name="adj" fmla="val 12903"/>
            </a:avLst>
          </a:prstGeom>
          <a:solidFill>
            <a:srgbClr val="1D4ED8"/>
          </a:solidFill>
          <a:ln w="12700">
            <a:solidFill>
              <a:srgbClr val="1D4ED8"/>
            </a:solidFill>
            <a:prstDash val="solid"/>
          </a:ln>
        </p:spPr>
      </p:sp>
      <p:sp>
        <p:nvSpPr>
          <p:cNvPr id="16" name="Text 13"/>
          <p:cNvSpPr txBox="1"/>
          <p:nvPr/>
        </p:nvSpPr>
        <p:spPr>
          <a:xfrm>
            <a:off x="3246120" y="1325880"/>
            <a:ext cx="1188720" cy="566928"/>
          </a:xfrm>
          <a:prstGeom prst="rect">
            <a:avLst/>
          </a:prstGeom>
          <a:noFill/>
          <a:ln/>
        </p:spPr>
        <p:txBody>
          <a:bodyPr wrap="square" lIns="0" tIns="0" rIns="0" bIns="0" rtlCol="0" anchor="ctr"/>
          <a:lstStyle/>
          <a:p>
            <a:pPr marL="0" indent="0" algn="ctr">
              <a:buNone/>
            </a:pPr>
            <a:r>
              <a:rPr lang="vi-VN" altLang="en-US" sz="1400" b="1" dirty="0">
                <a:solidFill>
                  <a:srgbClr val="FFFFFF"/>
                </a:solidFill>
                <a:latin typeface="Calibri" pitchFamily="34" charset="0"/>
                <a:ea typeface="Calibri" pitchFamily="34" charset="-122"/>
                <a:cs typeface="Calibri" pitchFamily="34" charset="-120"/>
              </a:rPr>
              <a:t>Controller</a:t>
            </a:r>
            <a:endParaRPr lang="vi-VN" sz="1400" dirty="0"/>
          </a:p>
        </p:txBody>
      </p:sp>
      <p:sp>
        <p:nvSpPr>
          <p:cNvPr id="17" name="Shape 14"/>
          <p:cNvSpPr/>
          <p:nvPr/>
        </p:nvSpPr>
        <p:spPr>
          <a:xfrm>
            <a:off x="4453128" y="1499616"/>
            <a:ext cx="146304" cy="219456"/>
          </a:xfrm>
          <a:prstGeom prst="rightArrow">
            <a:avLst/>
          </a:prstGeom>
          <a:solidFill>
            <a:srgbClr val="64748B"/>
          </a:solidFill>
          <a:ln w="12700">
            <a:solidFill>
              <a:srgbClr val="64748B"/>
            </a:solidFill>
            <a:prstDash val="solid"/>
          </a:ln>
        </p:spPr>
      </p:sp>
      <p:sp>
        <p:nvSpPr>
          <p:cNvPr id="18" name="Shape 15"/>
          <p:cNvSpPr/>
          <p:nvPr/>
        </p:nvSpPr>
        <p:spPr>
          <a:xfrm>
            <a:off x="4617720" y="1325880"/>
            <a:ext cx="1188720" cy="566928"/>
          </a:xfrm>
          <a:prstGeom prst="roundRect">
            <a:avLst>
              <a:gd name="adj" fmla="val 12903"/>
            </a:avLst>
          </a:prstGeom>
          <a:solidFill>
            <a:srgbClr val="16A34A"/>
          </a:solidFill>
          <a:ln w="12700">
            <a:solidFill>
              <a:srgbClr val="16A34A"/>
            </a:solidFill>
            <a:prstDash val="solid"/>
          </a:ln>
        </p:spPr>
      </p:sp>
      <p:sp>
        <p:nvSpPr>
          <p:cNvPr id="19" name="Text 16"/>
          <p:cNvSpPr txBox="1"/>
          <p:nvPr/>
        </p:nvSpPr>
        <p:spPr>
          <a:xfrm>
            <a:off x="4617720" y="1325880"/>
            <a:ext cx="1188720" cy="566928"/>
          </a:xfrm>
          <a:prstGeom prst="rect">
            <a:avLst/>
          </a:prstGeom>
          <a:noFill/>
          <a:ln/>
        </p:spPr>
        <p:txBody>
          <a:bodyPr wrap="square" lIns="0" tIns="0" rIns="0" bIns="0" rtlCol="0" anchor="ctr"/>
          <a:lstStyle/>
          <a:p>
            <a:pPr marL="0" indent="0" algn="ctr">
              <a:buNone/>
            </a:pPr>
            <a:r>
              <a:rPr lang="vi-VN" altLang="en-US" sz="1400" b="1" dirty="0">
                <a:solidFill>
                  <a:srgbClr val="FFFFFF"/>
                </a:solidFill>
                <a:latin typeface="Calibri" pitchFamily="34" charset="0"/>
                <a:ea typeface="Calibri" pitchFamily="34" charset="-122"/>
                <a:cs typeface="Calibri" pitchFamily="34" charset="-120"/>
              </a:rPr>
              <a:t>BO</a:t>
            </a:r>
            <a:endParaRPr lang="vi-VN" sz="1400" dirty="0"/>
          </a:p>
        </p:txBody>
      </p:sp>
      <p:sp>
        <p:nvSpPr>
          <p:cNvPr id="20" name="Shape 17"/>
          <p:cNvSpPr/>
          <p:nvPr/>
        </p:nvSpPr>
        <p:spPr>
          <a:xfrm>
            <a:off x="5824728" y="1499616"/>
            <a:ext cx="146304" cy="219456"/>
          </a:xfrm>
          <a:prstGeom prst="rightArrow">
            <a:avLst/>
          </a:prstGeom>
          <a:solidFill>
            <a:srgbClr val="64748B"/>
          </a:solidFill>
          <a:ln w="12700">
            <a:solidFill>
              <a:srgbClr val="64748B"/>
            </a:solidFill>
            <a:prstDash val="solid"/>
          </a:ln>
        </p:spPr>
      </p:sp>
      <p:sp>
        <p:nvSpPr>
          <p:cNvPr id="21" name="Shape 18"/>
          <p:cNvSpPr/>
          <p:nvPr/>
        </p:nvSpPr>
        <p:spPr>
          <a:xfrm>
            <a:off x="5989320" y="1325880"/>
            <a:ext cx="1188720" cy="566928"/>
          </a:xfrm>
          <a:prstGeom prst="roundRect">
            <a:avLst>
              <a:gd name="adj" fmla="val 12903"/>
            </a:avLst>
          </a:prstGeom>
          <a:solidFill>
            <a:srgbClr val="D97706"/>
          </a:solidFill>
          <a:ln w="12700">
            <a:solidFill>
              <a:srgbClr val="D97706"/>
            </a:solidFill>
            <a:prstDash val="solid"/>
          </a:ln>
        </p:spPr>
      </p:sp>
      <p:sp>
        <p:nvSpPr>
          <p:cNvPr id="22" name="Text 19"/>
          <p:cNvSpPr txBox="1"/>
          <p:nvPr/>
        </p:nvSpPr>
        <p:spPr>
          <a:xfrm>
            <a:off x="5989320" y="1325880"/>
            <a:ext cx="1188720" cy="566928"/>
          </a:xfrm>
          <a:prstGeom prst="rect">
            <a:avLst/>
          </a:prstGeom>
          <a:noFill/>
          <a:ln/>
        </p:spPr>
        <p:txBody>
          <a:bodyPr wrap="square" lIns="0" tIns="0" rIns="0" bIns="0" rtlCol="0" anchor="ctr"/>
          <a:lstStyle/>
          <a:p>
            <a:pPr marL="0" indent="0" algn="ctr">
              <a:buNone/>
            </a:pPr>
            <a:r>
              <a:rPr lang="vi-VN" altLang="en-US" sz="1400" b="1" dirty="0">
                <a:solidFill>
                  <a:srgbClr val="FFFFFF"/>
                </a:solidFill>
                <a:latin typeface="Calibri" pitchFamily="34" charset="0"/>
                <a:ea typeface="Calibri" pitchFamily="34" charset="-122"/>
                <a:cs typeface="Calibri" pitchFamily="34" charset="-120"/>
              </a:rPr>
              <a:t>DAO</a:t>
            </a:r>
            <a:endParaRPr lang="vi-VN" sz="1400" dirty="0"/>
          </a:p>
        </p:txBody>
      </p:sp>
      <p:sp>
        <p:nvSpPr>
          <p:cNvPr id="23" name="Shape 20"/>
          <p:cNvSpPr/>
          <p:nvPr/>
        </p:nvSpPr>
        <p:spPr>
          <a:xfrm>
            <a:off x="7196328" y="1499616"/>
            <a:ext cx="146304" cy="219456"/>
          </a:xfrm>
          <a:prstGeom prst="rightArrow">
            <a:avLst/>
          </a:prstGeom>
          <a:solidFill>
            <a:srgbClr val="64748B"/>
          </a:solidFill>
          <a:ln w="12700">
            <a:solidFill>
              <a:srgbClr val="64748B"/>
            </a:solidFill>
            <a:prstDash val="solid"/>
          </a:ln>
        </p:spPr>
      </p:sp>
      <p:sp>
        <p:nvSpPr>
          <p:cNvPr id="24" name="Shape 21"/>
          <p:cNvSpPr/>
          <p:nvPr/>
        </p:nvSpPr>
        <p:spPr>
          <a:xfrm>
            <a:off x="7360920" y="1325880"/>
            <a:ext cx="1188720" cy="566928"/>
          </a:xfrm>
          <a:prstGeom prst="roundRect">
            <a:avLst>
              <a:gd name="adj" fmla="val 12903"/>
            </a:avLst>
          </a:prstGeom>
          <a:solidFill>
            <a:srgbClr val="0F2A5C"/>
          </a:solidFill>
          <a:ln w="12700">
            <a:solidFill>
              <a:srgbClr val="0F2A5C"/>
            </a:solidFill>
            <a:prstDash val="solid"/>
          </a:ln>
        </p:spPr>
      </p:sp>
      <p:sp>
        <p:nvSpPr>
          <p:cNvPr id="25" name="Text 22"/>
          <p:cNvSpPr txBox="1"/>
          <p:nvPr/>
        </p:nvSpPr>
        <p:spPr>
          <a:xfrm>
            <a:off x="7360920" y="1325880"/>
            <a:ext cx="1188720" cy="566928"/>
          </a:xfrm>
          <a:prstGeom prst="rect">
            <a:avLst/>
          </a:prstGeom>
          <a:noFill/>
          <a:ln/>
        </p:spPr>
        <p:txBody>
          <a:bodyPr wrap="square" lIns="0" tIns="0" rIns="0" bIns="0" rtlCol="0" anchor="ctr"/>
          <a:lstStyle/>
          <a:p>
            <a:pPr marL="0" indent="0" algn="ctr">
              <a:buNone/>
            </a:pPr>
            <a:r>
              <a:rPr lang="vi-VN" altLang="en-US" sz="1400" b="1" dirty="0">
                <a:solidFill>
                  <a:srgbClr val="FFFFFF"/>
                </a:solidFill>
                <a:latin typeface="Calibri" pitchFamily="34" charset="0"/>
                <a:ea typeface="Calibri" pitchFamily="34" charset="-122"/>
                <a:cs typeface="Calibri" pitchFamily="34" charset="-120"/>
              </a:rPr>
              <a:t>MySQL</a:t>
            </a:r>
            <a:endParaRPr lang="vi-VN" sz="1400" dirty="0"/>
          </a:p>
        </p:txBody>
      </p:sp>
      <p:sp>
        <p:nvSpPr>
          <p:cNvPr id="26" name="Text 23"/>
          <p:cNvSpPr txBox="1"/>
          <p:nvPr/>
        </p:nvSpPr>
        <p:spPr>
          <a:xfrm>
            <a:off x="502920" y="1938528"/>
            <a:ext cx="8138160" cy="256032"/>
          </a:xfrm>
          <a:prstGeom prst="rect">
            <a:avLst/>
          </a:prstGeom>
          <a:noFill/>
          <a:ln/>
        </p:spPr>
        <p:txBody>
          <a:bodyPr wrap="square" lIns="0" tIns="0" rIns="0" bIns="0" rtlCol="0" anchor="t"/>
          <a:lstStyle/>
          <a:p>
            <a:pPr marL="0" indent="0" algn="ctr">
              <a:buNone/>
            </a:pPr>
            <a:r>
              <a:rPr lang="vi-VN" altLang="en-US" sz="1150" i="1" dirty="0">
                <a:solidFill>
                  <a:srgbClr val="64748B"/>
                </a:solidFill>
                <a:latin typeface="Calibri" pitchFamily="34" charset="0"/>
                <a:ea typeface="Calibri" pitchFamily="34" charset="-122"/>
                <a:cs typeface="Calibri" pitchFamily="34" charset="-120"/>
              </a:rPr>
              <a:t>← kết quả trả ngược lại: DAO → BO → Controller → JSP → trình duyệt</a:t>
            </a:r>
            <a:endParaRPr lang="vi-VN" sz="1150" dirty="0"/>
          </a:p>
        </p:txBody>
      </p:sp>
      <p:sp>
        <p:nvSpPr>
          <p:cNvPr id="27" name="Shape 24"/>
          <p:cNvSpPr/>
          <p:nvPr/>
        </p:nvSpPr>
        <p:spPr>
          <a:xfrm>
            <a:off x="502920" y="2286000"/>
            <a:ext cx="2606040" cy="987552"/>
          </a:xfrm>
          <a:prstGeom prst="roundRect">
            <a:avLst>
              <a:gd name="adj" fmla="val 9259"/>
            </a:avLst>
          </a:prstGeom>
          <a:solidFill>
            <a:srgbClr val="EFF6FF"/>
          </a:solidFill>
          <a:ln w="12700">
            <a:solidFill>
              <a:srgbClr val="EFF6FF"/>
            </a:solidFill>
            <a:prstDash val="solid"/>
          </a:ln>
        </p:spPr>
      </p:sp>
      <p:sp>
        <p:nvSpPr>
          <p:cNvPr id="28" name="Shape 25"/>
          <p:cNvSpPr/>
          <p:nvPr/>
        </p:nvSpPr>
        <p:spPr>
          <a:xfrm>
            <a:off x="640080" y="2423160"/>
            <a:ext cx="347472" cy="347472"/>
          </a:xfrm>
          <a:prstGeom prst="ellipse">
            <a:avLst/>
          </a:prstGeom>
          <a:solidFill>
            <a:srgbClr val="1D4ED8"/>
          </a:solidFill>
          <a:ln w="12700">
            <a:solidFill>
              <a:srgbClr val="1D4ED8"/>
            </a:solidFill>
            <a:prstDash val="solid"/>
          </a:ln>
        </p:spPr>
      </p:sp>
      <p:sp>
        <p:nvSpPr>
          <p:cNvPr id="29" name="Text 26"/>
          <p:cNvSpPr txBox="1"/>
          <p:nvPr/>
        </p:nvSpPr>
        <p:spPr>
          <a:xfrm>
            <a:off x="640080" y="2423160"/>
            <a:ext cx="347472" cy="347472"/>
          </a:xfrm>
          <a:prstGeom prst="rect">
            <a:avLst/>
          </a:prstGeom>
          <a:noFill/>
          <a:ln/>
        </p:spPr>
        <p:txBody>
          <a:bodyPr wrap="square" lIns="0" tIns="0" rIns="0" bIns="0" rtlCol="0" anchor="ctr"/>
          <a:lstStyle/>
          <a:p>
            <a:pPr marL="0" indent="0" algn="ctr">
              <a:buNone/>
            </a:pPr>
            <a:r>
              <a:rPr lang="vi-VN" altLang="en-US" sz="1300" b="1" dirty="0">
                <a:solidFill>
                  <a:srgbClr val="FFFFFF"/>
                </a:solidFill>
                <a:latin typeface="Calibri" pitchFamily="34" charset="0"/>
                <a:ea typeface="Calibri" pitchFamily="34" charset="-122"/>
                <a:cs typeface="Calibri" pitchFamily="34" charset="-120"/>
              </a:rPr>
              <a:t>1</a:t>
            </a:r>
            <a:endParaRPr lang="vi-VN" sz="1300" dirty="0"/>
          </a:p>
        </p:txBody>
      </p:sp>
      <p:sp>
        <p:nvSpPr>
          <p:cNvPr id="30" name="Text 27"/>
          <p:cNvSpPr txBox="1"/>
          <p:nvPr/>
        </p:nvSpPr>
        <p:spPr>
          <a:xfrm>
            <a:off x="1097280" y="2423160"/>
            <a:ext cx="1920240" cy="347472"/>
          </a:xfrm>
          <a:prstGeom prst="rect">
            <a:avLst/>
          </a:prstGeom>
          <a:noFill/>
          <a:ln/>
        </p:spPr>
        <p:txBody>
          <a:bodyPr wrap="square" lIns="0" tIns="0" rIns="0" bIns="0" rtlCol="0" anchor="ctr"/>
          <a:lstStyle/>
          <a:p>
            <a:pPr marL="0" indent="0">
              <a:buNone/>
            </a:pPr>
            <a:r>
              <a:rPr lang="vi-VN" altLang="en-US" sz="1350" b="1" dirty="0">
                <a:solidFill>
                  <a:srgbClr val="0F2A5C"/>
                </a:solidFill>
                <a:latin typeface="Calibri" pitchFamily="34" charset="0"/>
                <a:ea typeface="Calibri" pitchFamily="34" charset="-122"/>
                <a:cs typeface="Calibri" pitchFamily="34" charset="-120"/>
              </a:rPr>
              <a:t>Người dùng thao tác</a:t>
            </a:r>
            <a:endParaRPr lang="vi-VN" sz="1350" dirty="0"/>
          </a:p>
        </p:txBody>
      </p:sp>
      <p:sp>
        <p:nvSpPr>
          <p:cNvPr id="31" name="Text 28"/>
          <p:cNvSpPr txBox="1"/>
          <p:nvPr/>
        </p:nvSpPr>
        <p:spPr>
          <a:xfrm>
            <a:off x="640080" y="2816352"/>
            <a:ext cx="2331720" cy="438912"/>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Nhấn nút hoặc gửi form; trình duyệt gửi HTTP request</a:t>
            </a:r>
            <a:endParaRPr lang="vi-VN" sz="1100" dirty="0"/>
          </a:p>
        </p:txBody>
      </p:sp>
      <p:sp>
        <p:nvSpPr>
          <p:cNvPr id="32" name="Shape 29"/>
          <p:cNvSpPr/>
          <p:nvPr/>
        </p:nvSpPr>
        <p:spPr>
          <a:xfrm>
            <a:off x="3264408" y="2286000"/>
            <a:ext cx="2606040" cy="987552"/>
          </a:xfrm>
          <a:prstGeom prst="roundRect">
            <a:avLst>
              <a:gd name="adj" fmla="val 9259"/>
            </a:avLst>
          </a:prstGeom>
          <a:solidFill>
            <a:srgbClr val="EFF6FF"/>
          </a:solidFill>
          <a:ln w="12700">
            <a:solidFill>
              <a:srgbClr val="EFF6FF"/>
            </a:solidFill>
            <a:prstDash val="solid"/>
          </a:ln>
        </p:spPr>
      </p:sp>
      <p:sp>
        <p:nvSpPr>
          <p:cNvPr id="33" name="Shape 30"/>
          <p:cNvSpPr/>
          <p:nvPr/>
        </p:nvSpPr>
        <p:spPr>
          <a:xfrm>
            <a:off x="3401568" y="2423160"/>
            <a:ext cx="347472" cy="347472"/>
          </a:xfrm>
          <a:prstGeom prst="ellipse">
            <a:avLst/>
          </a:prstGeom>
          <a:solidFill>
            <a:srgbClr val="1D4ED8"/>
          </a:solidFill>
          <a:ln w="12700">
            <a:solidFill>
              <a:srgbClr val="1D4ED8"/>
            </a:solidFill>
            <a:prstDash val="solid"/>
          </a:ln>
        </p:spPr>
      </p:sp>
      <p:sp>
        <p:nvSpPr>
          <p:cNvPr id="34" name="Text 31"/>
          <p:cNvSpPr txBox="1"/>
          <p:nvPr/>
        </p:nvSpPr>
        <p:spPr>
          <a:xfrm>
            <a:off x="3401568" y="2423160"/>
            <a:ext cx="347472" cy="347472"/>
          </a:xfrm>
          <a:prstGeom prst="rect">
            <a:avLst/>
          </a:prstGeom>
          <a:noFill/>
          <a:ln/>
        </p:spPr>
        <p:txBody>
          <a:bodyPr wrap="square" lIns="0" tIns="0" rIns="0" bIns="0" rtlCol="0" anchor="ctr"/>
          <a:lstStyle/>
          <a:p>
            <a:pPr marL="0" indent="0" algn="ctr">
              <a:buNone/>
            </a:pPr>
            <a:r>
              <a:rPr lang="vi-VN" altLang="en-US" sz="1300" b="1" dirty="0">
                <a:solidFill>
                  <a:srgbClr val="FFFFFF"/>
                </a:solidFill>
                <a:latin typeface="Calibri" pitchFamily="34" charset="0"/>
                <a:ea typeface="Calibri" pitchFamily="34" charset="-122"/>
                <a:cs typeface="Calibri" pitchFamily="34" charset="-120"/>
              </a:rPr>
              <a:t>2</a:t>
            </a:r>
            <a:endParaRPr lang="vi-VN" sz="1300" dirty="0"/>
          </a:p>
        </p:txBody>
      </p:sp>
      <p:sp>
        <p:nvSpPr>
          <p:cNvPr id="35" name="Text 32"/>
          <p:cNvSpPr txBox="1"/>
          <p:nvPr/>
        </p:nvSpPr>
        <p:spPr>
          <a:xfrm>
            <a:off x="3858768" y="2423160"/>
            <a:ext cx="1920240" cy="347472"/>
          </a:xfrm>
          <a:prstGeom prst="rect">
            <a:avLst/>
          </a:prstGeom>
          <a:noFill/>
          <a:ln/>
        </p:spPr>
        <p:txBody>
          <a:bodyPr wrap="square" lIns="0" tIns="0" rIns="0" bIns="0" rtlCol="0" anchor="ctr"/>
          <a:lstStyle/>
          <a:p>
            <a:pPr marL="0" indent="0">
              <a:buNone/>
            </a:pPr>
            <a:r>
              <a:rPr lang="vi-VN" altLang="en-US" sz="1350" b="1" dirty="0">
                <a:solidFill>
                  <a:srgbClr val="0F2A5C"/>
                </a:solidFill>
                <a:latin typeface="Calibri" pitchFamily="34" charset="0"/>
                <a:ea typeface="Calibri" pitchFamily="34" charset="-122"/>
                <a:cs typeface="Calibri" pitchFamily="34" charset="-120"/>
              </a:rPr>
              <a:t>Filter chặn trước</a:t>
            </a:r>
            <a:endParaRPr lang="vi-VN" sz="1350" dirty="0"/>
          </a:p>
        </p:txBody>
      </p:sp>
      <p:sp>
        <p:nvSpPr>
          <p:cNvPr id="36" name="Text 33"/>
          <p:cNvSpPr txBox="1"/>
          <p:nvPr/>
        </p:nvSpPr>
        <p:spPr>
          <a:xfrm>
            <a:off x="3401568" y="2816352"/>
            <a:ext cx="2331720" cy="438912"/>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Đặt UTF-8, kiểm tra đã đăng nhập chưa, đúng ROLE chưa</a:t>
            </a:r>
            <a:endParaRPr lang="vi-VN" sz="1100" dirty="0"/>
          </a:p>
        </p:txBody>
      </p:sp>
      <p:sp>
        <p:nvSpPr>
          <p:cNvPr id="37" name="Shape 34"/>
          <p:cNvSpPr/>
          <p:nvPr/>
        </p:nvSpPr>
        <p:spPr>
          <a:xfrm>
            <a:off x="6025896" y="2286000"/>
            <a:ext cx="2606040" cy="987552"/>
          </a:xfrm>
          <a:prstGeom prst="roundRect">
            <a:avLst>
              <a:gd name="adj" fmla="val 9259"/>
            </a:avLst>
          </a:prstGeom>
          <a:solidFill>
            <a:srgbClr val="EFF6FF"/>
          </a:solidFill>
          <a:ln w="12700">
            <a:solidFill>
              <a:srgbClr val="EFF6FF"/>
            </a:solidFill>
            <a:prstDash val="solid"/>
          </a:ln>
        </p:spPr>
      </p:sp>
      <p:sp>
        <p:nvSpPr>
          <p:cNvPr id="38" name="Shape 35"/>
          <p:cNvSpPr/>
          <p:nvPr/>
        </p:nvSpPr>
        <p:spPr>
          <a:xfrm>
            <a:off x="6163056" y="2423160"/>
            <a:ext cx="347472" cy="347472"/>
          </a:xfrm>
          <a:prstGeom prst="ellipse">
            <a:avLst/>
          </a:prstGeom>
          <a:solidFill>
            <a:srgbClr val="1D4ED8"/>
          </a:solidFill>
          <a:ln w="12700">
            <a:solidFill>
              <a:srgbClr val="1D4ED8"/>
            </a:solidFill>
            <a:prstDash val="solid"/>
          </a:ln>
        </p:spPr>
      </p:sp>
      <p:sp>
        <p:nvSpPr>
          <p:cNvPr id="39" name="Text 36"/>
          <p:cNvSpPr txBox="1"/>
          <p:nvPr/>
        </p:nvSpPr>
        <p:spPr>
          <a:xfrm>
            <a:off x="6163056" y="2423160"/>
            <a:ext cx="347472" cy="347472"/>
          </a:xfrm>
          <a:prstGeom prst="rect">
            <a:avLst/>
          </a:prstGeom>
          <a:noFill/>
          <a:ln/>
        </p:spPr>
        <p:txBody>
          <a:bodyPr wrap="square" lIns="0" tIns="0" rIns="0" bIns="0" rtlCol="0" anchor="ctr"/>
          <a:lstStyle/>
          <a:p>
            <a:pPr marL="0" indent="0" algn="ctr">
              <a:buNone/>
            </a:pPr>
            <a:r>
              <a:rPr lang="vi-VN" altLang="en-US" sz="1300" b="1" dirty="0">
                <a:solidFill>
                  <a:srgbClr val="FFFFFF"/>
                </a:solidFill>
                <a:latin typeface="Calibri" pitchFamily="34" charset="0"/>
                <a:ea typeface="Calibri" pitchFamily="34" charset="-122"/>
                <a:cs typeface="Calibri" pitchFamily="34" charset="-120"/>
              </a:rPr>
              <a:t>3</a:t>
            </a:r>
            <a:endParaRPr lang="vi-VN" sz="1300" dirty="0"/>
          </a:p>
        </p:txBody>
      </p:sp>
      <p:sp>
        <p:nvSpPr>
          <p:cNvPr id="40" name="Text 37"/>
          <p:cNvSpPr txBox="1"/>
          <p:nvPr/>
        </p:nvSpPr>
        <p:spPr>
          <a:xfrm>
            <a:off x="6620256" y="2423160"/>
            <a:ext cx="1920240" cy="347472"/>
          </a:xfrm>
          <a:prstGeom prst="rect">
            <a:avLst/>
          </a:prstGeom>
          <a:noFill/>
          <a:ln/>
        </p:spPr>
        <p:txBody>
          <a:bodyPr wrap="square" lIns="0" tIns="0" rIns="0" bIns="0" rtlCol="0" anchor="ctr"/>
          <a:lstStyle/>
          <a:p>
            <a:pPr marL="0" indent="0">
              <a:buNone/>
            </a:pPr>
            <a:r>
              <a:rPr lang="vi-VN" altLang="en-US" sz="1350" b="1" dirty="0">
                <a:solidFill>
                  <a:srgbClr val="0F2A5C"/>
                </a:solidFill>
                <a:latin typeface="Calibri" pitchFamily="34" charset="0"/>
                <a:ea typeface="Calibri" pitchFamily="34" charset="-122"/>
                <a:cs typeface="Calibri" pitchFamily="34" charset="-120"/>
              </a:rPr>
              <a:t>Controller tiếp nhận</a:t>
            </a:r>
            <a:endParaRPr lang="vi-VN" sz="1350" dirty="0"/>
          </a:p>
        </p:txBody>
      </p:sp>
      <p:sp>
        <p:nvSpPr>
          <p:cNvPr id="41" name="Text 38"/>
          <p:cNvSpPr txBox="1"/>
          <p:nvPr/>
        </p:nvSpPr>
        <p:spPr>
          <a:xfrm>
            <a:off x="6163056" y="2816352"/>
            <a:ext cx="2331720" cy="438912"/>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Đọc tham số, lấy người dùng từ session, gọi BO</a:t>
            </a:r>
            <a:endParaRPr lang="vi-VN" sz="1100" dirty="0"/>
          </a:p>
        </p:txBody>
      </p:sp>
      <p:sp>
        <p:nvSpPr>
          <p:cNvPr id="42" name="Shape 39"/>
          <p:cNvSpPr/>
          <p:nvPr/>
        </p:nvSpPr>
        <p:spPr>
          <a:xfrm>
            <a:off x="502920" y="3383280"/>
            <a:ext cx="2606040" cy="987552"/>
          </a:xfrm>
          <a:prstGeom prst="roundRect">
            <a:avLst>
              <a:gd name="adj" fmla="val 9259"/>
            </a:avLst>
          </a:prstGeom>
          <a:solidFill>
            <a:srgbClr val="EFF6FF"/>
          </a:solidFill>
          <a:ln w="12700">
            <a:solidFill>
              <a:srgbClr val="EFF6FF"/>
            </a:solidFill>
            <a:prstDash val="solid"/>
          </a:ln>
        </p:spPr>
      </p:sp>
      <p:sp>
        <p:nvSpPr>
          <p:cNvPr id="43" name="Shape 40"/>
          <p:cNvSpPr/>
          <p:nvPr/>
        </p:nvSpPr>
        <p:spPr>
          <a:xfrm>
            <a:off x="640080" y="3520440"/>
            <a:ext cx="347472" cy="347472"/>
          </a:xfrm>
          <a:prstGeom prst="ellipse">
            <a:avLst/>
          </a:prstGeom>
          <a:solidFill>
            <a:srgbClr val="1D4ED8"/>
          </a:solidFill>
          <a:ln w="12700">
            <a:solidFill>
              <a:srgbClr val="1D4ED8"/>
            </a:solidFill>
            <a:prstDash val="solid"/>
          </a:ln>
        </p:spPr>
      </p:sp>
      <p:sp>
        <p:nvSpPr>
          <p:cNvPr id="44" name="Text 41"/>
          <p:cNvSpPr txBox="1"/>
          <p:nvPr/>
        </p:nvSpPr>
        <p:spPr>
          <a:xfrm>
            <a:off x="640080" y="3520440"/>
            <a:ext cx="347472" cy="347472"/>
          </a:xfrm>
          <a:prstGeom prst="rect">
            <a:avLst/>
          </a:prstGeom>
          <a:noFill/>
          <a:ln/>
        </p:spPr>
        <p:txBody>
          <a:bodyPr wrap="square" lIns="0" tIns="0" rIns="0" bIns="0" rtlCol="0" anchor="ctr"/>
          <a:lstStyle/>
          <a:p>
            <a:pPr marL="0" indent="0" algn="ctr">
              <a:buNone/>
            </a:pPr>
            <a:r>
              <a:rPr lang="vi-VN" altLang="en-US" sz="1300" b="1" dirty="0">
                <a:solidFill>
                  <a:srgbClr val="FFFFFF"/>
                </a:solidFill>
                <a:latin typeface="Calibri" pitchFamily="34" charset="0"/>
                <a:ea typeface="Calibri" pitchFamily="34" charset="-122"/>
                <a:cs typeface="Calibri" pitchFamily="34" charset="-120"/>
              </a:rPr>
              <a:t>4</a:t>
            </a:r>
            <a:endParaRPr lang="vi-VN" sz="1300" dirty="0"/>
          </a:p>
        </p:txBody>
      </p:sp>
      <p:sp>
        <p:nvSpPr>
          <p:cNvPr id="45" name="Text 42"/>
          <p:cNvSpPr txBox="1"/>
          <p:nvPr/>
        </p:nvSpPr>
        <p:spPr>
          <a:xfrm>
            <a:off x="1097280" y="3520440"/>
            <a:ext cx="1920240" cy="347472"/>
          </a:xfrm>
          <a:prstGeom prst="rect">
            <a:avLst/>
          </a:prstGeom>
          <a:noFill/>
          <a:ln/>
        </p:spPr>
        <p:txBody>
          <a:bodyPr wrap="square" lIns="0" tIns="0" rIns="0" bIns="0" rtlCol="0" anchor="ctr"/>
          <a:lstStyle/>
          <a:p>
            <a:pPr marL="0" indent="0">
              <a:buNone/>
            </a:pPr>
            <a:r>
              <a:rPr lang="vi-VN" altLang="en-US" sz="1350" b="1" dirty="0">
                <a:solidFill>
                  <a:srgbClr val="0F2A5C"/>
                </a:solidFill>
                <a:latin typeface="Calibri" pitchFamily="34" charset="0"/>
                <a:ea typeface="Calibri" pitchFamily="34" charset="-122"/>
                <a:cs typeface="Calibri" pitchFamily="34" charset="-120"/>
              </a:rPr>
              <a:t>BO xử lý nghiệp vụ</a:t>
            </a:r>
            <a:endParaRPr lang="vi-VN" sz="1350" dirty="0"/>
          </a:p>
        </p:txBody>
      </p:sp>
      <p:sp>
        <p:nvSpPr>
          <p:cNvPr id="46" name="Text 43"/>
          <p:cNvSpPr txBox="1"/>
          <p:nvPr/>
        </p:nvSpPr>
        <p:spPr>
          <a:xfrm>
            <a:off x="640080" y="3913632"/>
            <a:ext cx="2331720" cy="438912"/>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Kiểm tra dữ liệu, áp dụng quy tắc, gọi DAO hoặc dịch vụ ngoài</a:t>
            </a:r>
            <a:endParaRPr lang="vi-VN" sz="1100" dirty="0"/>
          </a:p>
        </p:txBody>
      </p:sp>
      <p:sp>
        <p:nvSpPr>
          <p:cNvPr id="47" name="Shape 44"/>
          <p:cNvSpPr/>
          <p:nvPr/>
        </p:nvSpPr>
        <p:spPr>
          <a:xfrm>
            <a:off x="3264408" y="3383280"/>
            <a:ext cx="2606040" cy="987552"/>
          </a:xfrm>
          <a:prstGeom prst="roundRect">
            <a:avLst>
              <a:gd name="adj" fmla="val 9259"/>
            </a:avLst>
          </a:prstGeom>
          <a:solidFill>
            <a:srgbClr val="EFF6FF"/>
          </a:solidFill>
          <a:ln w="12700">
            <a:solidFill>
              <a:srgbClr val="EFF6FF"/>
            </a:solidFill>
            <a:prstDash val="solid"/>
          </a:ln>
        </p:spPr>
      </p:sp>
      <p:sp>
        <p:nvSpPr>
          <p:cNvPr id="48" name="Shape 45"/>
          <p:cNvSpPr/>
          <p:nvPr/>
        </p:nvSpPr>
        <p:spPr>
          <a:xfrm>
            <a:off x="3401568" y="3520440"/>
            <a:ext cx="347472" cy="347472"/>
          </a:xfrm>
          <a:prstGeom prst="ellipse">
            <a:avLst/>
          </a:prstGeom>
          <a:solidFill>
            <a:srgbClr val="1D4ED8"/>
          </a:solidFill>
          <a:ln w="12700">
            <a:solidFill>
              <a:srgbClr val="1D4ED8"/>
            </a:solidFill>
            <a:prstDash val="solid"/>
          </a:ln>
        </p:spPr>
      </p:sp>
      <p:sp>
        <p:nvSpPr>
          <p:cNvPr id="49" name="Text 46"/>
          <p:cNvSpPr txBox="1"/>
          <p:nvPr/>
        </p:nvSpPr>
        <p:spPr>
          <a:xfrm>
            <a:off x="3401568" y="3520440"/>
            <a:ext cx="347472" cy="347472"/>
          </a:xfrm>
          <a:prstGeom prst="rect">
            <a:avLst/>
          </a:prstGeom>
          <a:noFill/>
          <a:ln/>
        </p:spPr>
        <p:txBody>
          <a:bodyPr wrap="square" lIns="0" tIns="0" rIns="0" bIns="0" rtlCol="0" anchor="ctr"/>
          <a:lstStyle/>
          <a:p>
            <a:pPr marL="0" indent="0" algn="ctr">
              <a:buNone/>
            </a:pPr>
            <a:r>
              <a:rPr lang="vi-VN" altLang="en-US" sz="1300" b="1" dirty="0">
                <a:solidFill>
                  <a:srgbClr val="FFFFFF"/>
                </a:solidFill>
                <a:latin typeface="Calibri" pitchFamily="34" charset="0"/>
                <a:ea typeface="Calibri" pitchFamily="34" charset="-122"/>
                <a:cs typeface="Calibri" pitchFamily="34" charset="-120"/>
              </a:rPr>
              <a:t>5</a:t>
            </a:r>
            <a:endParaRPr lang="vi-VN" sz="1300" dirty="0"/>
          </a:p>
        </p:txBody>
      </p:sp>
      <p:sp>
        <p:nvSpPr>
          <p:cNvPr id="50" name="Text 47"/>
          <p:cNvSpPr txBox="1"/>
          <p:nvPr/>
        </p:nvSpPr>
        <p:spPr>
          <a:xfrm>
            <a:off x="3858768" y="3520440"/>
            <a:ext cx="1920240" cy="347472"/>
          </a:xfrm>
          <a:prstGeom prst="rect">
            <a:avLst/>
          </a:prstGeom>
          <a:noFill/>
          <a:ln/>
        </p:spPr>
        <p:txBody>
          <a:bodyPr wrap="square" lIns="0" tIns="0" rIns="0" bIns="0" rtlCol="0" anchor="ctr"/>
          <a:lstStyle/>
          <a:p>
            <a:pPr marL="0" indent="0">
              <a:buNone/>
            </a:pPr>
            <a:r>
              <a:rPr lang="vi-VN" altLang="en-US" sz="1350" b="1" dirty="0">
                <a:solidFill>
                  <a:srgbClr val="0F2A5C"/>
                </a:solidFill>
                <a:latin typeface="Calibri" pitchFamily="34" charset="0"/>
                <a:ea typeface="Calibri" pitchFamily="34" charset="-122"/>
                <a:cs typeface="Calibri" pitchFamily="34" charset="-120"/>
              </a:rPr>
              <a:t>DAO truy vấn</a:t>
            </a:r>
            <a:endParaRPr lang="vi-VN" sz="1350" dirty="0"/>
          </a:p>
        </p:txBody>
      </p:sp>
      <p:sp>
        <p:nvSpPr>
          <p:cNvPr id="51" name="Text 48"/>
          <p:cNvSpPr txBox="1"/>
          <p:nvPr/>
        </p:nvSpPr>
        <p:spPr>
          <a:xfrm>
            <a:off x="3401568" y="3913632"/>
            <a:ext cx="2331720" cy="438912"/>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Chạy SQL (PreparedStatement) qua connection pool, trả entity</a:t>
            </a:r>
            <a:endParaRPr lang="vi-VN" sz="1100" dirty="0"/>
          </a:p>
        </p:txBody>
      </p:sp>
      <p:sp>
        <p:nvSpPr>
          <p:cNvPr id="52" name="Shape 49"/>
          <p:cNvSpPr/>
          <p:nvPr/>
        </p:nvSpPr>
        <p:spPr>
          <a:xfrm>
            <a:off x="6025896" y="3383280"/>
            <a:ext cx="2606040" cy="987552"/>
          </a:xfrm>
          <a:prstGeom prst="roundRect">
            <a:avLst>
              <a:gd name="adj" fmla="val 9259"/>
            </a:avLst>
          </a:prstGeom>
          <a:solidFill>
            <a:srgbClr val="EFF6FF"/>
          </a:solidFill>
          <a:ln w="12700">
            <a:solidFill>
              <a:srgbClr val="EFF6FF"/>
            </a:solidFill>
            <a:prstDash val="solid"/>
          </a:ln>
        </p:spPr>
      </p:sp>
      <p:sp>
        <p:nvSpPr>
          <p:cNvPr id="53" name="Shape 50"/>
          <p:cNvSpPr/>
          <p:nvPr/>
        </p:nvSpPr>
        <p:spPr>
          <a:xfrm>
            <a:off x="6163056" y="3520440"/>
            <a:ext cx="347472" cy="347472"/>
          </a:xfrm>
          <a:prstGeom prst="ellipse">
            <a:avLst/>
          </a:prstGeom>
          <a:solidFill>
            <a:srgbClr val="1D4ED8"/>
          </a:solidFill>
          <a:ln w="12700">
            <a:solidFill>
              <a:srgbClr val="1D4ED8"/>
            </a:solidFill>
            <a:prstDash val="solid"/>
          </a:ln>
        </p:spPr>
      </p:sp>
      <p:sp>
        <p:nvSpPr>
          <p:cNvPr id="54" name="Text 51"/>
          <p:cNvSpPr txBox="1"/>
          <p:nvPr/>
        </p:nvSpPr>
        <p:spPr>
          <a:xfrm>
            <a:off x="6163056" y="3520440"/>
            <a:ext cx="347472" cy="347472"/>
          </a:xfrm>
          <a:prstGeom prst="rect">
            <a:avLst/>
          </a:prstGeom>
          <a:noFill/>
          <a:ln/>
        </p:spPr>
        <p:txBody>
          <a:bodyPr wrap="square" lIns="0" tIns="0" rIns="0" bIns="0" rtlCol="0" anchor="ctr"/>
          <a:lstStyle/>
          <a:p>
            <a:pPr marL="0" indent="0" algn="ctr">
              <a:buNone/>
            </a:pPr>
            <a:r>
              <a:rPr lang="vi-VN" altLang="en-US" sz="1300" b="1" dirty="0">
                <a:solidFill>
                  <a:srgbClr val="FFFFFF"/>
                </a:solidFill>
                <a:latin typeface="Calibri" pitchFamily="34" charset="0"/>
                <a:ea typeface="Calibri" pitchFamily="34" charset="-122"/>
                <a:cs typeface="Calibri" pitchFamily="34" charset="-120"/>
              </a:rPr>
              <a:t>6</a:t>
            </a:r>
            <a:endParaRPr lang="vi-VN" sz="1300" dirty="0"/>
          </a:p>
        </p:txBody>
      </p:sp>
      <p:sp>
        <p:nvSpPr>
          <p:cNvPr id="55" name="Text 52"/>
          <p:cNvSpPr txBox="1"/>
          <p:nvPr/>
        </p:nvSpPr>
        <p:spPr>
          <a:xfrm>
            <a:off x="6620256" y="3520440"/>
            <a:ext cx="1920240" cy="347472"/>
          </a:xfrm>
          <a:prstGeom prst="rect">
            <a:avLst/>
          </a:prstGeom>
          <a:noFill/>
          <a:ln/>
        </p:spPr>
        <p:txBody>
          <a:bodyPr wrap="square" lIns="0" tIns="0" rIns="0" bIns="0" rtlCol="0" anchor="ctr"/>
          <a:lstStyle/>
          <a:p>
            <a:pPr marL="0" indent="0">
              <a:buNone/>
            </a:pPr>
            <a:r>
              <a:rPr lang="vi-VN" altLang="en-US" sz="1350" b="1" dirty="0">
                <a:solidFill>
                  <a:srgbClr val="0F2A5C"/>
                </a:solidFill>
                <a:latin typeface="Calibri" pitchFamily="34" charset="0"/>
                <a:ea typeface="Calibri" pitchFamily="34" charset="-122"/>
                <a:cs typeface="Calibri" pitchFamily="34" charset="-120"/>
              </a:rPr>
              <a:t>Trả kết quả</a:t>
            </a:r>
            <a:endParaRPr lang="vi-VN" sz="1350" dirty="0"/>
          </a:p>
        </p:txBody>
      </p:sp>
      <p:sp>
        <p:nvSpPr>
          <p:cNvPr id="56" name="Text 53"/>
          <p:cNvSpPr txBox="1"/>
          <p:nvPr/>
        </p:nvSpPr>
        <p:spPr>
          <a:xfrm>
            <a:off x="6163056" y="3913632"/>
            <a:ext cx="2331720" cy="438912"/>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Controller forward sang JSP, JSP dựng HTML gửi về trình duyệt</a:t>
            </a:r>
            <a:endParaRPr lang="vi-VN" sz="1100" dirty="0"/>
          </a:p>
        </p:txBody>
      </p:sp>
      <p:sp>
        <p:nvSpPr>
          <p:cNvPr id="57" name="Text 54"/>
          <p:cNvSpPr txBox="1"/>
          <p:nvPr/>
        </p:nvSpPr>
        <p:spPr>
          <a:xfrm>
            <a:off x="502920" y="4526280"/>
            <a:ext cx="8138160" cy="256032"/>
          </a:xfrm>
          <a:prstGeom prst="rect">
            <a:avLst/>
          </a:prstGeom>
          <a:noFill/>
          <a:ln/>
        </p:spPr>
        <p:txBody>
          <a:bodyPr wrap="square" lIns="0" tIns="0" rIns="0" bIns="0" rtlCol="0" anchor="t"/>
          <a:lstStyle/>
          <a:p>
            <a:pPr marL="0" indent="0" algn="ctr">
              <a:buNone/>
            </a:pPr>
            <a:r>
              <a:rPr lang="vi-VN" altLang="en-US" sz="1200" b="1" dirty="0">
                <a:solidFill>
                  <a:srgbClr val="1D4ED8"/>
                </a:solidFill>
                <a:latin typeface="Calibri" pitchFamily="34" charset="0"/>
                <a:ea typeface="Calibri" pitchFamily="34" charset="-122"/>
                <a:cs typeface="Calibri" pitchFamily="34" charset="-120"/>
              </a:rPr>
              <a:t>Quy tắc: Controller không gọi trực tiếp DAO; BO không dùng HttpServletRequest</a:t>
            </a:r>
            <a:endParaRPr lang="vi-VN"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Tổ chức mã nguồn (1): cấu trúc dự án</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Maven Web Application; mã nguồn, giao diện và test tách riêng</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13</a:t>
            </a:r>
            <a:endParaRPr lang="vi-VN" sz="900" dirty="0"/>
          </a:p>
        </p:txBody>
      </p:sp>
      <p:sp>
        <p:nvSpPr>
          <p:cNvPr id="9" name="Shape 6"/>
          <p:cNvSpPr/>
          <p:nvPr/>
        </p:nvSpPr>
        <p:spPr>
          <a:xfrm>
            <a:off x="502920" y="1325880"/>
            <a:ext cx="4754880" cy="3429000"/>
          </a:xfrm>
          <a:prstGeom prst="roundRect">
            <a:avLst>
              <a:gd name="adj" fmla="val 2667"/>
            </a:avLst>
          </a:prstGeom>
          <a:solidFill>
            <a:srgbClr val="F8FAFF"/>
          </a:solidFill>
          <a:ln w="12700">
            <a:solidFill>
              <a:srgbClr val="D6E2F5"/>
            </a:solidFill>
            <a:prstDash val="solid"/>
          </a:ln>
        </p:spPr>
      </p:sp>
      <p:sp>
        <p:nvSpPr>
          <p:cNvPr id="11" name="Shape 8"/>
          <p:cNvSpPr/>
          <p:nvPr/>
        </p:nvSpPr>
        <p:spPr>
          <a:xfrm>
            <a:off x="5440680" y="1325880"/>
            <a:ext cx="3246120" cy="1051560"/>
          </a:xfrm>
          <a:prstGeom prst="roundRect">
            <a:avLst>
              <a:gd name="adj" fmla="val 8696"/>
            </a:avLst>
          </a:prstGeom>
          <a:solidFill>
            <a:srgbClr val="EFF6FF"/>
          </a:solidFill>
          <a:ln w="12700">
            <a:solidFill>
              <a:srgbClr val="EFF6FF"/>
            </a:solidFill>
            <a:prstDash val="solid"/>
          </a:ln>
        </p:spPr>
      </p:sp>
      <p:sp>
        <p:nvSpPr>
          <p:cNvPr id="12" name="Shape 9"/>
          <p:cNvSpPr/>
          <p:nvPr/>
        </p:nvSpPr>
        <p:spPr>
          <a:xfrm>
            <a:off x="5577840" y="1463040"/>
            <a:ext cx="457200" cy="457200"/>
          </a:xfrm>
          <a:prstGeom prst="ellipse">
            <a:avLst/>
          </a:prstGeom>
          <a:solidFill>
            <a:srgbClr val="1D4ED8"/>
          </a:solidFill>
          <a:ln w="12700">
            <a:solidFill>
              <a:srgbClr val="1D4ED8"/>
            </a:solidFill>
            <a:prstDash val="solid"/>
          </a:ln>
        </p:spPr>
      </p:sp>
      <p:pic>
        <p:nvPicPr>
          <p:cNvPr id="13" name="Image 0" descr="preencoded.png"/>
          <p:cNvPicPr>
            <a:picLocks noChangeAspect="1"/>
          </p:cNvPicPr>
          <p:nvPr/>
        </p:nvPicPr>
        <p:blipFill>
          <a:blip r:embed="rId3"/>
          <a:stretch>
            <a:fillRect/>
          </a:stretch>
        </p:blipFill>
        <p:spPr>
          <a:xfrm>
            <a:off x="5692140" y="1577340"/>
            <a:ext cx="228600" cy="228600"/>
          </a:xfrm>
          <a:prstGeom prst="rect">
            <a:avLst/>
          </a:prstGeom>
        </p:spPr>
      </p:pic>
      <p:sp>
        <p:nvSpPr>
          <p:cNvPr id="14" name="Text 10"/>
          <p:cNvSpPr txBox="1"/>
          <p:nvPr/>
        </p:nvSpPr>
        <p:spPr>
          <a:xfrm>
            <a:off x="6172200" y="1435608"/>
            <a:ext cx="2468880" cy="292608"/>
          </a:xfrm>
          <a:prstGeom prst="rect">
            <a:avLst/>
          </a:prstGeom>
          <a:noFill/>
          <a:ln/>
        </p:spPr>
        <p:txBody>
          <a:bodyPr wrap="square" lIns="0" tIns="0" rIns="0" bIns="0" rtlCol="0" anchor="t"/>
          <a:lstStyle/>
          <a:p>
            <a:pPr marL="0" indent="0">
              <a:buNone/>
            </a:pPr>
            <a:r>
              <a:rPr lang="vi-VN" altLang="en-US" sz="1300" b="1" dirty="0">
                <a:solidFill>
                  <a:srgbClr val="0F2A5C"/>
                </a:solidFill>
                <a:latin typeface="Consolas" pitchFamily="34" charset="0"/>
                <a:ea typeface="Consolas" pitchFamily="34" charset="-122"/>
                <a:cs typeface="Consolas" pitchFamily="34" charset="-120"/>
              </a:rPr>
              <a:t>src/main/java</a:t>
            </a:r>
            <a:endParaRPr lang="vi-VN" sz="1300" dirty="0"/>
          </a:p>
        </p:txBody>
      </p:sp>
      <p:sp>
        <p:nvSpPr>
          <p:cNvPr id="15" name="Text 11"/>
          <p:cNvSpPr txBox="1"/>
          <p:nvPr/>
        </p:nvSpPr>
        <p:spPr>
          <a:xfrm>
            <a:off x="6172200" y="1755648"/>
            <a:ext cx="2423160" cy="594360"/>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Mã Java chia package theo vai trò: controller, bo, dao, model, filter, listener, util</a:t>
            </a:r>
            <a:endParaRPr lang="vi-VN" sz="1100" dirty="0"/>
          </a:p>
        </p:txBody>
      </p:sp>
      <p:sp>
        <p:nvSpPr>
          <p:cNvPr id="16" name="Shape 12"/>
          <p:cNvSpPr/>
          <p:nvPr/>
        </p:nvSpPr>
        <p:spPr>
          <a:xfrm>
            <a:off x="5440680" y="2496312"/>
            <a:ext cx="3246120" cy="1051560"/>
          </a:xfrm>
          <a:prstGeom prst="roundRect">
            <a:avLst>
              <a:gd name="adj" fmla="val 8696"/>
            </a:avLst>
          </a:prstGeom>
          <a:solidFill>
            <a:srgbClr val="EFF6FF"/>
          </a:solidFill>
          <a:ln w="12700">
            <a:solidFill>
              <a:srgbClr val="EFF6FF"/>
            </a:solidFill>
            <a:prstDash val="solid"/>
          </a:ln>
        </p:spPr>
      </p:sp>
      <p:sp>
        <p:nvSpPr>
          <p:cNvPr id="17" name="Shape 13"/>
          <p:cNvSpPr/>
          <p:nvPr/>
        </p:nvSpPr>
        <p:spPr>
          <a:xfrm>
            <a:off x="5577840" y="2633472"/>
            <a:ext cx="457200" cy="457200"/>
          </a:xfrm>
          <a:prstGeom prst="ellipse">
            <a:avLst/>
          </a:prstGeom>
          <a:solidFill>
            <a:srgbClr val="16A34A"/>
          </a:solidFill>
          <a:ln w="12700">
            <a:solidFill>
              <a:srgbClr val="16A34A"/>
            </a:solidFill>
            <a:prstDash val="solid"/>
          </a:ln>
        </p:spPr>
      </p:sp>
      <p:pic>
        <p:nvPicPr>
          <p:cNvPr id="18" name="Image 1" descr="preencoded.png"/>
          <p:cNvPicPr>
            <a:picLocks noChangeAspect="1"/>
          </p:cNvPicPr>
          <p:nvPr/>
        </p:nvPicPr>
        <p:blipFill>
          <a:blip r:embed="rId4"/>
          <a:stretch>
            <a:fillRect/>
          </a:stretch>
        </p:blipFill>
        <p:spPr>
          <a:xfrm>
            <a:off x="5692140" y="2747772"/>
            <a:ext cx="228600" cy="228600"/>
          </a:xfrm>
          <a:prstGeom prst="rect">
            <a:avLst/>
          </a:prstGeom>
        </p:spPr>
      </p:pic>
      <p:sp>
        <p:nvSpPr>
          <p:cNvPr id="19" name="Text 14"/>
          <p:cNvSpPr txBox="1"/>
          <p:nvPr/>
        </p:nvSpPr>
        <p:spPr>
          <a:xfrm>
            <a:off x="6172200" y="2606040"/>
            <a:ext cx="2468880" cy="292608"/>
          </a:xfrm>
          <a:prstGeom prst="rect">
            <a:avLst/>
          </a:prstGeom>
          <a:noFill/>
          <a:ln/>
        </p:spPr>
        <p:txBody>
          <a:bodyPr wrap="square" lIns="0" tIns="0" rIns="0" bIns="0" rtlCol="0" anchor="t"/>
          <a:lstStyle/>
          <a:p>
            <a:pPr marL="0" indent="0">
              <a:buNone/>
            </a:pPr>
            <a:r>
              <a:rPr lang="vi-VN" altLang="en-US" sz="1300" b="1" dirty="0">
                <a:solidFill>
                  <a:srgbClr val="0F2A5C"/>
                </a:solidFill>
                <a:latin typeface="Consolas" pitchFamily="34" charset="0"/>
                <a:ea typeface="Consolas" pitchFamily="34" charset="-122"/>
                <a:cs typeface="Consolas" pitchFamily="34" charset="-120"/>
              </a:rPr>
              <a:t>src/main/webapp</a:t>
            </a:r>
            <a:endParaRPr lang="vi-VN" sz="1300" dirty="0"/>
          </a:p>
        </p:txBody>
      </p:sp>
      <p:sp>
        <p:nvSpPr>
          <p:cNvPr id="20" name="Text 15"/>
          <p:cNvSpPr txBox="1"/>
          <p:nvPr/>
        </p:nvSpPr>
        <p:spPr>
          <a:xfrm>
            <a:off x="6172200" y="2926080"/>
            <a:ext cx="2423160" cy="594360"/>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Giao diện JSP đặt trong WEB-INF/views; CSS, JS trong assets</a:t>
            </a:r>
            <a:endParaRPr lang="vi-VN" sz="1100" dirty="0"/>
          </a:p>
        </p:txBody>
      </p:sp>
      <p:sp>
        <p:nvSpPr>
          <p:cNvPr id="21" name="Shape 16"/>
          <p:cNvSpPr/>
          <p:nvPr/>
        </p:nvSpPr>
        <p:spPr>
          <a:xfrm>
            <a:off x="5440680" y="3666744"/>
            <a:ext cx="3246120" cy="1051560"/>
          </a:xfrm>
          <a:prstGeom prst="roundRect">
            <a:avLst>
              <a:gd name="adj" fmla="val 8696"/>
            </a:avLst>
          </a:prstGeom>
          <a:solidFill>
            <a:srgbClr val="EFF6FF"/>
          </a:solidFill>
          <a:ln w="12700">
            <a:solidFill>
              <a:srgbClr val="EFF6FF"/>
            </a:solidFill>
            <a:prstDash val="solid"/>
          </a:ln>
        </p:spPr>
      </p:sp>
      <p:sp>
        <p:nvSpPr>
          <p:cNvPr id="22" name="Shape 17"/>
          <p:cNvSpPr/>
          <p:nvPr/>
        </p:nvSpPr>
        <p:spPr>
          <a:xfrm>
            <a:off x="5577840" y="3803904"/>
            <a:ext cx="457200" cy="457200"/>
          </a:xfrm>
          <a:prstGeom prst="ellipse">
            <a:avLst/>
          </a:prstGeom>
          <a:solidFill>
            <a:srgbClr val="7C3AED"/>
          </a:solidFill>
          <a:ln w="12700">
            <a:solidFill>
              <a:srgbClr val="7C3AED"/>
            </a:solidFill>
            <a:prstDash val="solid"/>
          </a:ln>
        </p:spPr>
      </p:sp>
      <p:pic>
        <p:nvPicPr>
          <p:cNvPr id="23" name="Image 2" descr="preencoded.png"/>
          <p:cNvPicPr>
            <a:picLocks noChangeAspect="1"/>
          </p:cNvPicPr>
          <p:nvPr/>
        </p:nvPicPr>
        <p:blipFill>
          <a:blip r:embed="rId5"/>
          <a:stretch>
            <a:fillRect/>
          </a:stretch>
        </p:blipFill>
        <p:spPr>
          <a:xfrm>
            <a:off x="5692140" y="3918204"/>
            <a:ext cx="228600" cy="228600"/>
          </a:xfrm>
          <a:prstGeom prst="rect">
            <a:avLst/>
          </a:prstGeom>
        </p:spPr>
      </p:pic>
      <p:sp>
        <p:nvSpPr>
          <p:cNvPr id="24" name="Text 18"/>
          <p:cNvSpPr txBox="1"/>
          <p:nvPr/>
        </p:nvSpPr>
        <p:spPr>
          <a:xfrm>
            <a:off x="6172200" y="3776472"/>
            <a:ext cx="2468880" cy="292608"/>
          </a:xfrm>
          <a:prstGeom prst="rect">
            <a:avLst/>
          </a:prstGeom>
          <a:noFill/>
          <a:ln/>
        </p:spPr>
        <p:txBody>
          <a:bodyPr wrap="square" lIns="0" tIns="0" rIns="0" bIns="0" rtlCol="0" anchor="t"/>
          <a:lstStyle/>
          <a:p>
            <a:pPr marL="0" indent="0">
              <a:buNone/>
            </a:pPr>
            <a:r>
              <a:rPr lang="vi-VN" altLang="en-US" sz="1300" b="1" dirty="0">
                <a:solidFill>
                  <a:srgbClr val="0F2A5C"/>
                </a:solidFill>
                <a:latin typeface="Consolas" pitchFamily="34" charset="0"/>
                <a:ea typeface="Consolas" pitchFamily="34" charset="-122"/>
                <a:cs typeface="Consolas" pitchFamily="34" charset="-120"/>
              </a:rPr>
              <a:t>src/test</a:t>
            </a:r>
            <a:endParaRPr lang="vi-VN" sz="1300" dirty="0"/>
          </a:p>
        </p:txBody>
      </p:sp>
      <p:sp>
        <p:nvSpPr>
          <p:cNvPr id="25" name="Text 19"/>
          <p:cNvSpPr txBox="1"/>
          <p:nvPr/>
        </p:nvSpPr>
        <p:spPr>
          <a:xfrm>
            <a:off x="6172200" y="4096512"/>
            <a:ext cx="2423160" cy="594360"/>
          </a:xfrm>
          <a:prstGeom prst="rect">
            <a:avLst/>
          </a:prstGeom>
          <a:noFill/>
          <a:ln/>
        </p:spPr>
        <p:txBody>
          <a:bodyPr wrap="square" lIns="0" tIns="0" rIns="0" bIns="0" rtlCol="0" anchor="t"/>
          <a:lstStyle/>
          <a:p>
            <a:pPr marL="0" indent="0">
              <a:buNone/>
            </a:pPr>
            <a:r>
              <a:rPr lang="vi-VN" altLang="en-US" sz="1100" dirty="0">
                <a:solidFill>
                  <a:srgbClr val="1F2937"/>
                </a:solidFill>
                <a:latin typeface="Calibri" pitchFamily="34" charset="0"/>
                <a:ea typeface="Calibri" pitchFamily="34" charset="-122"/>
                <a:cs typeface="Calibri" pitchFamily="34" charset="-120"/>
              </a:rPr>
              <a:t>Test lặp lại cấu trúc package của mã nguồn</a:t>
            </a:r>
            <a:endParaRPr lang="vi-VN" sz="1100" dirty="0"/>
          </a:p>
        </p:txBody>
      </p:sp>
      <p:pic>
        <p:nvPicPr>
          <p:cNvPr id="28" name="Picture 27">
            <a:extLst>
              <a:ext uri="{FF2B5EF4-FFF2-40B4-BE49-F238E27FC236}">
                <a16:creationId xmlns:a16="http://schemas.microsoft.com/office/drawing/2014/main" id="{A14D6249-9CCC-D219-64BC-AF583C761806}"/>
              </a:ext>
            </a:extLst>
          </p:cNvPr>
          <p:cNvPicPr>
            <a:picLocks noChangeAspect="1"/>
          </p:cNvPicPr>
          <p:nvPr/>
        </p:nvPicPr>
        <p:blipFill>
          <a:blip r:embed="rId6"/>
          <a:stretch>
            <a:fillRect/>
          </a:stretch>
        </p:blipFill>
        <p:spPr>
          <a:xfrm>
            <a:off x="859536" y="1339526"/>
            <a:ext cx="4003409" cy="3408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Tổ chức mã nguồn (2): Java và giao diện tương ứng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Tên folder ở controller trùng tên folder ở views, nên tìm code rất nhanh</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14</a:t>
            </a:r>
            <a:endParaRPr lang="vi-VN" sz="900" dirty="0"/>
          </a:p>
        </p:txBody>
      </p:sp>
      <p:sp>
        <p:nvSpPr>
          <p:cNvPr id="9" name="Text 6"/>
          <p:cNvSpPr txBox="1"/>
          <p:nvPr/>
        </p:nvSpPr>
        <p:spPr>
          <a:xfrm>
            <a:off x="502920" y="1325880"/>
            <a:ext cx="2651760" cy="274320"/>
          </a:xfrm>
          <a:prstGeom prst="rect">
            <a:avLst/>
          </a:prstGeom>
          <a:noFill/>
          <a:ln/>
        </p:spPr>
        <p:txBody>
          <a:bodyPr wrap="square" lIns="0" tIns="0" rIns="0" bIns="0" rtlCol="0" anchor="t"/>
          <a:lstStyle/>
          <a:p>
            <a:pPr marL="0" indent="0">
              <a:buNone/>
            </a:pPr>
            <a:r>
              <a:rPr lang="vi-VN" altLang="en-US" sz="1300" b="1" dirty="0">
                <a:solidFill>
                  <a:srgbClr val="1D4ED8"/>
                </a:solidFill>
                <a:latin typeface="Consolas" pitchFamily="34" charset="0"/>
                <a:ea typeface="Consolas" pitchFamily="34" charset="-122"/>
                <a:cs typeface="Consolas" pitchFamily="34" charset="-120"/>
              </a:rPr>
              <a:t>Java: controller/</a:t>
            </a:r>
            <a:endParaRPr lang="vi-VN" sz="1300" dirty="0"/>
          </a:p>
        </p:txBody>
      </p:sp>
      <p:sp>
        <p:nvSpPr>
          <p:cNvPr id="10" name="Text 7"/>
          <p:cNvSpPr txBox="1"/>
          <p:nvPr/>
        </p:nvSpPr>
        <p:spPr>
          <a:xfrm>
            <a:off x="3611880" y="1325880"/>
            <a:ext cx="2834640" cy="274320"/>
          </a:xfrm>
          <a:prstGeom prst="rect">
            <a:avLst/>
          </a:prstGeom>
          <a:noFill/>
          <a:ln/>
        </p:spPr>
        <p:txBody>
          <a:bodyPr wrap="square" lIns="0" tIns="0" rIns="0" bIns="0" rtlCol="0" anchor="t"/>
          <a:lstStyle/>
          <a:p>
            <a:pPr marL="0" indent="0">
              <a:buNone/>
            </a:pPr>
            <a:r>
              <a:rPr lang="vi-VN" altLang="en-US" sz="1300" b="1" dirty="0">
                <a:solidFill>
                  <a:srgbClr val="16A34A"/>
                </a:solidFill>
                <a:latin typeface="Consolas" pitchFamily="34" charset="0"/>
                <a:ea typeface="Consolas" pitchFamily="34" charset="-122"/>
                <a:cs typeface="Consolas" pitchFamily="34" charset="-120"/>
              </a:rPr>
              <a:t>Giao diện: WEB-INF/views/</a:t>
            </a:r>
            <a:endParaRPr lang="vi-VN" sz="1300" dirty="0"/>
          </a:p>
        </p:txBody>
      </p:sp>
      <p:sp>
        <p:nvSpPr>
          <p:cNvPr id="11" name="Text 8"/>
          <p:cNvSpPr txBox="1"/>
          <p:nvPr/>
        </p:nvSpPr>
        <p:spPr>
          <a:xfrm>
            <a:off x="6766560" y="1325880"/>
            <a:ext cx="19202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Chức năng</a:t>
            </a:r>
            <a:endParaRPr lang="vi-VN" sz="1300" dirty="0"/>
          </a:p>
        </p:txBody>
      </p:sp>
      <p:sp>
        <p:nvSpPr>
          <p:cNvPr id="12" name="Shape 9"/>
          <p:cNvSpPr/>
          <p:nvPr/>
        </p:nvSpPr>
        <p:spPr>
          <a:xfrm>
            <a:off x="502920" y="1691640"/>
            <a:ext cx="2651760" cy="457200"/>
          </a:xfrm>
          <a:prstGeom prst="roundRect">
            <a:avLst>
              <a:gd name="adj" fmla="val 16000"/>
            </a:avLst>
          </a:prstGeom>
          <a:solidFill>
            <a:srgbClr val="DBEAFE"/>
          </a:solidFill>
          <a:ln w="12700">
            <a:solidFill>
              <a:srgbClr val="DBEAFE"/>
            </a:solidFill>
            <a:prstDash val="solid"/>
          </a:ln>
        </p:spPr>
      </p:sp>
      <p:sp>
        <p:nvSpPr>
          <p:cNvPr id="13" name="Text 10"/>
          <p:cNvSpPr txBox="1"/>
          <p:nvPr/>
        </p:nvSpPr>
        <p:spPr>
          <a:xfrm>
            <a:off x="502920" y="1691640"/>
            <a:ext cx="2651760" cy="457200"/>
          </a:xfrm>
          <a:prstGeom prst="rect">
            <a:avLst/>
          </a:prstGeom>
          <a:noFill/>
          <a:ln/>
        </p:spPr>
        <p:txBody>
          <a:bodyPr wrap="square" lIns="0" tIns="0" rIns="0" bIns="0" rtlCol="0" anchor="ctr"/>
          <a:lstStyle/>
          <a:p>
            <a:pPr marL="0" indent="0" algn="ctr">
              <a:buNone/>
            </a:pPr>
            <a:r>
              <a:rPr lang="vi-VN" altLang="en-US" sz="1400" b="1" dirty="0">
                <a:solidFill>
                  <a:srgbClr val="1D4ED8"/>
                </a:solidFill>
                <a:latin typeface="Consolas" pitchFamily="34" charset="0"/>
                <a:ea typeface="Consolas" pitchFamily="34" charset="-122"/>
                <a:cs typeface="Consolas" pitchFamily="34" charset="-120"/>
              </a:rPr>
              <a:t>auth/</a:t>
            </a:r>
            <a:endParaRPr lang="vi-VN" sz="1400" dirty="0"/>
          </a:p>
        </p:txBody>
      </p:sp>
      <p:sp>
        <p:nvSpPr>
          <p:cNvPr id="14" name="Shape 11"/>
          <p:cNvSpPr/>
          <p:nvPr/>
        </p:nvSpPr>
        <p:spPr>
          <a:xfrm>
            <a:off x="3246120" y="1810512"/>
            <a:ext cx="274320" cy="219456"/>
          </a:xfrm>
          <a:prstGeom prst="rightArrow">
            <a:avLst/>
          </a:prstGeom>
          <a:solidFill>
            <a:srgbClr val="64748B"/>
          </a:solidFill>
          <a:ln w="12700">
            <a:solidFill>
              <a:srgbClr val="64748B"/>
            </a:solidFill>
            <a:prstDash val="solid"/>
          </a:ln>
        </p:spPr>
      </p:sp>
      <p:sp>
        <p:nvSpPr>
          <p:cNvPr id="15" name="Shape 12"/>
          <p:cNvSpPr/>
          <p:nvPr/>
        </p:nvSpPr>
        <p:spPr>
          <a:xfrm>
            <a:off x="3611880" y="1691640"/>
            <a:ext cx="2834640" cy="457200"/>
          </a:xfrm>
          <a:prstGeom prst="roundRect">
            <a:avLst>
              <a:gd name="adj" fmla="val 16000"/>
            </a:avLst>
          </a:prstGeom>
          <a:solidFill>
            <a:srgbClr val="DCFCE7"/>
          </a:solidFill>
          <a:ln w="12700">
            <a:solidFill>
              <a:srgbClr val="DCFCE7"/>
            </a:solidFill>
            <a:prstDash val="solid"/>
          </a:ln>
        </p:spPr>
      </p:sp>
      <p:sp>
        <p:nvSpPr>
          <p:cNvPr id="16" name="Text 13"/>
          <p:cNvSpPr txBox="1"/>
          <p:nvPr/>
        </p:nvSpPr>
        <p:spPr>
          <a:xfrm>
            <a:off x="3611880" y="1691640"/>
            <a:ext cx="2834640" cy="457200"/>
          </a:xfrm>
          <a:prstGeom prst="rect">
            <a:avLst/>
          </a:prstGeom>
          <a:noFill/>
          <a:ln/>
        </p:spPr>
        <p:txBody>
          <a:bodyPr wrap="square" lIns="0" tIns="0" rIns="0" bIns="0" rtlCol="0" anchor="ctr"/>
          <a:lstStyle/>
          <a:p>
            <a:pPr marL="0" indent="0" algn="ctr">
              <a:buNone/>
            </a:pPr>
            <a:r>
              <a:rPr lang="vi-VN" altLang="en-US" sz="1400" b="1" dirty="0">
                <a:solidFill>
                  <a:srgbClr val="16A34A"/>
                </a:solidFill>
                <a:latin typeface="Consolas" pitchFamily="34" charset="0"/>
                <a:ea typeface="Consolas" pitchFamily="34" charset="-122"/>
                <a:cs typeface="Consolas" pitchFamily="34" charset="-120"/>
              </a:rPr>
              <a:t>auth/</a:t>
            </a:r>
            <a:endParaRPr lang="vi-VN" sz="1400" dirty="0"/>
          </a:p>
        </p:txBody>
      </p:sp>
      <p:sp>
        <p:nvSpPr>
          <p:cNvPr id="17" name="Text 14"/>
          <p:cNvSpPr txBox="1"/>
          <p:nvPr/>
        </p:nvSpPr>
        <p:spPr>
          <a:xfrm>
            <a:off x="6766560" y="1691640"/>
            <a:ext cx="1920240" cy="457200"/>
          </a:xfrm>
          <a:prstGeom prst="rect">
            <a:avLst/>
          </a:prstGeom>
          <a:noFill/>
          <a:ln/>
        </p:spPr>
        <p:txBody>
          <a:bodyPr wrap="square" lIns="0" tIns="0" rIns="0" bIns="0" rtlCol="0" anchor="ctr"/>
          <a:lstStyle/>
          <a:p>
            <a:pPr marL="0" indent="0">
              <a:buNone/>
            </a:pPr>
            <a:r>
              <a:rPr lang="vi-VN" altLang="en-US" sz="1150" dirty="0">
                <a:solidFill>
                  <a:srgbClr val="1F2937"/>
                </a:solidFill>
                <a:latin typeface="Calibri" pitchFamily="34" charset="0"/>
                <a:ea typeface="Calibri" pitchFamily="34" charset="-122"/>
                <a:cs typeface="Calibri" pitchFamily="34" charset="-120"/>
              </a:rPr>
              <a:t>Đăng ký, đăng nhập, quên mật khẩu</a:t>
            </a:r>
            <a:endParaRPr lang="vi-VN" sz="1150" dirty="0"/>
          </a:p>
        </p:txBody>
      </p:sp>
      <p:sp>
        <p:nvSpPr>
          <p:cNvPr id="18" name="Shape 15"/>
          <p:cNvSpPr/>
          <p:nvPr/>
        </p:nvSpPr>
        <p:spPr>
          <a:xfrm>
            <a:off x="502920" y="2258568"/>
            <a:ext cx="2651760" cy="457200"/>
          </a:xfrm>
          <a:prstGeom prst="roundRect">
            <a:avLst>
              <a:gd name="adj" fmla="val 16000"/>
            </a:avLst>
          </a:prstGeom>
          <a:solidFill>
            <a:srgbClr val="DBEAFE"/>
          </a:solidFill>
          <a:ln w="12700">
            <a:solidFill>
              <a:srgbClr val="DBEAFE"/>
            </a:solidFill>
            <a:prstDash val="solid"/>
          </a:ln>
        </p:spPr>
      </p:sp>
      <p:sp>
        <p:nvSpPr>
          <p:cNvPr id="19" name="Text 16"/>
          <p:cNvSpPr txBox="1"/>
          <p:nvPr/>
        </p:nvSpPr>
        <p:spPr>
          <a:xfrm>
            <a:off x="502920" y="2258568"/>
            <a:ext cx="2651760" cy="457200"/>
          </a:xfrm>
          <a:prstGeom prst="rect">
            <a:avLst/>
          </a:prstGeom>
          <a:noFill/>
          <a:ln/>
        </p:spPr>
        <p:txBody>
          <a:bodyPr wrap="square" lIns="0" tIns="0" rIns="0" bIns="0" rtlCol="0" anchor="ctr"/>
          <a:lstStyle/>
          <a:p>
            <a:pPr marL="0" indent="0" algn="ctr">
              <a:buNone/>
            </a:pPr>
            <a:r>
              <a:rPr lang="vi-VN" altLang="en-US" sz="1400" b="1" dirty="0">
                <a:solidFill>
                  <a:srgbClr val="1D4ED8"/>
                </a:solidFill>
                <a:latin typeface="Consolas" pitchFamily="34" charset="0"/>
                <a:ea typeface="Consolas" pitchFamily="34" charset="-122"/>
                <a:cs typeface="Consolas" pitchFamily="34" charset="-120"/>
              </a:rPr>
              <a:t>admin/</a:t>
            </a:r>
            <a:endParaRPr lang="vi-VN" sz="1400" dirty="0"/>
          </a:p>
        </p:txBody>
      </p:sp>
      <p:sp>
        <p:nvSpPr>
          <p:cNvPr id="20" name="Shape 17"/>
          <p:cNvSpPr/>
          <p:nvPr/>
        </p:nvSpPr>
        <p:spPr>
          <a:xfrm>
            <a:off x="3246120" y="2377440"/>
            <a:ext cx="274320" cy="219456"/>
          </a:xfrm>
          <a:prstGeom prst="rightArrow">
            <a:avLst/>
          </a:prstGeom>
          <a:solidFill>
            <a:srgbClr val="64748B"/>
          </a:solidFill>
          <a:ln w="12700">
            <a:solidFill>
              <a:srgbClr val="64748B"/>
            </a:solidFill>
            <a:prstDash val="solid"/>
          </a:ln>
        </p:spPr>
      </p:sp>
      <p:sp>
        <p:nvSpPr>
          <p:cNvPr id="21" name="Shape 18"/>
          <p:cNvSpPr/>
          <p:nvPr/>
        </p:nvSpPr>
        <p:spPr>
          <a:xfrm>
            <a:off x="3611880" y="2258568"/>
            <a:ext cx="2834640" cy="457200"/>
          </a:xfrm>
          <a:prstGeom prst="roundRect">
            <a:avLst>
              <a:gd name="adj" fmla="val 16000"/>
            </a:avLst>
          </a:prstGeom>
          <a:solidFill>
            <a:srgbClr val="DCFCE7"/>
          </a:solidFill>
          <a:ln w="12700">
            <a:solidFill>
              <a:srgbClr val="DCFCE7"/>
            </a:solidFill>
            <a:prstDash val="solid"/>
          </a:ln>
        </p:spPr>
      </p:sp>
      <p:sp>
        <p:nvSpPr>
          <p:cNvPr id="22" name="Text 19"/>
          <p:cNvSpPr txBox="1"/>
          <p:nvPr/>
        </p:nvSpPr>
        <p:spPr>
          <a:xfrm>
            <a:off x="3611880" y="2258568"/>
            <a:ext cx="2834640" cy="457200"/>
          </a:xfrm>
          <a:prstGeom prst="rect">
            <a:avLst/>
          </a:prstGeom>
          <a:noFill/>
          <a:ln/>
        </p:spPr>
        <p:txBody>
          <a:bodyPr wrap="square" lIns="0" tIns="0" rIns="0" bIns="0" rtlCol="0" anchor="ctr"/>
          <a:lstStyle/>
          <a:p>
            <a:pPr marL="0" indent="0" algn="ctr">
              <a:buNone/>
            </a:pPr>
            <a:r>
              <a:rPr lang="vi-VN" altLang="en-US" sz="1400" b="1" dirty="0">
                <a:solidFill>
                  <a:srgbClr val="16A34A"/>
                </a:solidFill>
                <a:latin typeface="Consolas" pitchFamily="34" charset="0"/>
                <a:ea typeface="Consolas" pitchFamily="34" charset="-122"/>
                <a:cs typeface="Consolas" pitchFamily="34" charset="-120"/>
              </a:rPr>
              <a:t>admin/</a:t>
            </a:r>
            <a:endParaRPr lang="vi-VN" sz="1400" dirty="0"/>
          </a:p>
        </p:txBody>
      </p:sp>
      <p:sp>
        <p:nvSpPr>
          <p:cNvPr id="23" name="Text 20"/>
          <p:cNvSpPr txBox="1"/>
          <p:nvPr/>
        </p:nvSpPr>
        <p:spPr>
          <a:xfrm>
            <a:off x="6766560" y="2258568"/>
            <a:ext cx="1920240" cy="457200"/>
          </a:xfrm>
          <a:prstGeom prst="rect">
            <a:avLst/>
          </a:prstGeom>
          <a:noFill/>
          <a:ln/>
        </p:spPr>
        <p:txBody>
          <a:bodyPr wrap="square" lIns="0" tIns="0" rIns="0" bIns="0" rtlCol="0" anchor="ctr"/>
          <a:lstStyle/>
          <a:p>
            <a:pPr marL="0" indent="0">
              <a:buNone/>
            </a:pPr>
            <a:r>
              <a:rPr lang="vi-VN" altLang="en-US" sz="1150" dirty="0">
                <a:solidFill>
                  <a:srgbClr val="1F2937"/>
                </a:solidFill>
                <a:latin typeface="Calibri" pitchFamily="34" charset="0"/>
                <a:ea typeface="Calibri" pitchFamily="34" charset="-122"/>
                <a:cs typeface="Calibri" pitchFamily="34" charset="-120"/>
              </a:rPr>
              <a:t>Quản lý người dùng và vé dò</a:t>
            </a:r>
            <a:endParaRPr lang="vi-VN" sz="1150" dirty="0"/>
          </a:p>
        </p:txBody>
      </p:sp>
      <p:sp>
        <p:nvSpPr>
          <p:cNvPr id="24" name="Shape 21"/>
          <p:cNvSpPr/>
          <p:nvPr/>
        </p:nvSpPr>
        <p:spPr>
          <a:xfrm>
            <a:off x="502920" y="2825496"/>
            <a:ext cx="2651760" cy="457200"/>
          </a:xfrm>
          <a:prstGeom prst="roundRect">
            <a:avLst>
              <a:gd name="adj" fmla="val 16000"/>
            </a:avLst>
          </a:prstGeom>
          <a:solidFill>
            <a:srgbClr val="DBEAFE"/>
          </a:solidFill>
          <a:ln w="12700">
            <a:solidFill>
              <a:srgbClr val="DBEAFE"/>
            </a:solidFill>
            <a:prstDash val="solid"/>
          </a:ln>
        </p:spPr>
      </p:sp>
      <p:sp>
        <p:nvSpPr>
          <p:cNvPr id="25" name="Text 22"/>
          <p:cNvSpPr txBox="1"/>
          <p:nvPr/>
        </p:nvSpPr>
        <p:spPr>
          <a:xfrm>
            <a:off x="502920" y="2825496"/>
            <a:ext cx="2651760" cy="457200"/>
          </a:xfrm>
          <a:prstGeom prst="rect">
            <a:avLst/>
          </a:prstGeom>
          <a:noFill/>
          <a:ln/>
        </p:spPr>
        <p:txBody>
          <a:bodyPr wrap="square" lIns="0" tIns="0" rIns="0" bIns="0" rtlCol="0" anchor="ctr"/>
          <a:lstStyle/>
          <a:p>
            <a:pPr marL="0" indent="0" algn="ctr">
              <a:buNone/>
            </a:pPr>
            <a:r>
              <a:rPr lang="vi-VN" altLang="en-US" sz="1400" b="1" dirty="0">
                <a:solidFill>
                  <a:srgbClr val="1D4ED8"/>
                </a:solidFill>
                <a:latin typeface="Consolas" pitchFamily="34" charset="0"/>
                <a:ea typeface="Consolas" pitchFamily="34" charset="-122"/>
                <a:cs typeface="Consolas" pitchFamily="34" charset="-120"/>
              </a:rPr>
              <a:t>user/</a:t>
            </a:r>
            <a:endParaRPr lang="vi-VN" sz="1400" dirty="0"/>
          </a:p>
        </p:txBody>
      </p:sp>
      <p:sp>
        <p:nvSpPr>
          <p:cNvPr id="26" name="Shape 23"/>
          <p:cNvSpPr/>
          <p:nvPr/>
        </p:nvSpPr>
        <p:spPr>
          <a:xfrm>
            <a:off x="3246120" y="2944368"/>
            <a:ext cx="274320" cy="219456"/>
          </a:xfrm>
          <a:prstGeom prst="rightArrow">
            <a:avLst/>
          </a:prstGeom>
          <a:solidFill>
            <a:srgbClr val="64748B"/>
          </a:solidFill>
          <a:ln w="12700">
            <a:solidFill>
              <a:srgbClr val="64748B"/>
            </a:solidFill>
            <a:prstDash val="solid"/>
          </a:ln>
        </p:spPr>
      </p:sp>
      <p:sp>
        <p:nvSpPr>
          <p:cNvPr id="27" name="Shape 24"/>
          <p:cNvSpPr/>
          <p:nvPr/>
        </p:nvSpPr>
        <p:spPr>
          <a:xfrm>
            <a:off x="3611880" y="2825496"/>
            <a:ext cx="2834640" cy="457200"/>
          </a:xfrm>
          <a:prstGeom prst="roundRect">
            <a:avLst>
              <a:gd name="adj" fmla="val 16000"/>
            </a:avLst>
          </a:prstGeom>
          <a:solidFill>
            <a:srgbClr val="DCFCE7"/>
          </a:solidFill>
          <a:ln w="12700">
            <a:solidFill>
              <a:srgbClr val="DCFCE7"/>
            </a:solidFill>
            <a:prstDash val="solid"/>
          </a:ln>
        </p:spPr>
      </p:sp>
      <p:sp>
        <p:nvSpPr>
          <p:cNvPr id="28" name="Text 25"/>
          <p:cNvSpPr txBox="1"/>
          <p:nvPr/>
        </p:nvSpPr>
        <p:spPr>
          <a:xfrm>
            <a:off x="3611880" y="2825496"/>
            <a:ext cx="2834640" cy="457200"/>
          </a:xfrm>
          <a:prstGeom prst="rect">
            <a:avLst/>
          </a:prstGeom>
          <a:noFill/>
          <a:ln/>
        </p:spPr>
        <p:txBody>
          <a:bodyPr wrap="square" lIns="0" tIns="0" rIns="0" bIns="0" rtlCol="0" anchor="ctr"/>
          <a:lstStyle/>
          <a:p>
            <a:pPr marL="0" indent="0" algn="ctr">
              <a:buNone/>
            </a:pPr>
            <a:r>
              <a:rPr lang="vi-VN" altLang="en-US" sz="1400" b="1" dirty="0">
                <a:solidFill>
                  <a:srgbClr val="16A34A"/>
                </a:solidFill>
                <a:latin typeface="Consolas" pitchFamily="34" charset="0"/>
                <a:ea typeface="Consolas" pitchFamily="34" charset="-122"/>
                <a:cs typeface="Consolas" pitchFamily="34" charset="-120"/>
              </a:rPr>
              <a:t>user/</a:t>
            </a:r>
            <a:endParaRPr lang="vi-VN" sz="1400" dirty="0"/>
          </a:p>
        </p:txBody>
      </p:sp>
      <p:sp>
        <p:nvSpPr>
          <p:cNvPr id="29" name="Text 26"/>
          <p:cNvSpPr txBox="1"/>
          <p:nvPr/>
        </p:nvSpPr>
        <p:spPr>
          <a:xfrm>
            <a:off x="6766560" y="2825496"/>
            <a:ext cx="1920240" cy="457200"/>
          </a:xfrm>
          <a:prstGeom prst="rect">
            <a:avLst/>
          </a:prstGeom>
          <a:noFill/>
          <a:ln/>
        </p:spPr>
        <p:txBody>
          <a:bodyPr wrap="square" lIns="0" tIns="0" rIns="0" bIns="0" rtlCol="0" anchor="ctr"/>
          <a:lstStyle/>
          <a:p>
            <a:pPr marL="0" indent="0">
              <a:buNone/>
            </a:pPr>
            <a:r>
              <a:rPr lang="vi-VN" altLang="en-US" sz="1150" dirty="0">
                <a:solidFill>
                  <a:srgbClr val="1F2937"/>
                </a:solidFill>
                <a:latin typeface="Calibri" pitchFamily="34" charset="0"/>
                <a:ea typeface="Calibri" pitchFamily="34" charset="-122"/>
                <a:cs typeface="Calibri" pitchFamily="34" charset="-120"/>
              </a:rPr>
              <a:t>Đổi mật khẩu, lịch sử, đề xuất số</a:t>
            </a:r>
            <a:endParaRPr lang="vi-VN" sz="1150" dirty="0"/>
          </a:p>
        </p:txBody>
      </p:sp>
      <p:sp>
        <p:nvSpPr>
          <p:cNvPr id="30" name="Shape 27"/>
          <p:cNvSpPr/>
          <p:nvPr/>
        </p:nvSpPr>
        <p:spPr>
          <a:xfrm>
            <a:off x="502920" y="3392424"/>
            <a:ext cx="2651760" cy="457200"/>
          </a:xfrm>
          <a:prstGeom prst="roundRect">
            <a:avLst>
              <a:gd name="adj" fmla="val 16000"/>
            </a:avLst>
          </a:prstGeom>
          <a:solidFill>
            <a:srgbClr val="DBEAFE"/>
          </a:solidFill>
          <a:ln w="12700">
            <a:solidFill>
              <a:srgbClr val="DBEAFE"/>
            </a:solidFill>
            <a:prstDash val="solid"/>
          </a:ln>
        </p:spPr>
      </p:sp>
      <p:sp>
        <p:nvSpPr>
          <p:cNvPr id="31" name="Text 28"/>
          <p:cNvSpPr txBox="1"/>
          <p:nvPr/>
        </p:nvSpPr>
        <p:spPr>
          <a:xfrm>
            <a:off x="502920" y="3392424"/>
            <a:ext cx="2651760" cy="457200"/>
          </a:xfrm>
          <a:prstGeom prst="rect">
            <a:avLst/>
          </a:prstGeom>
          <a:noFill/>
          <a:ln/>
        </p:spPr>
        <p:txBody>
          <a:bodyPr wrap="square" lIns="0" tIns="0" rIns="0" bIns="0" rtlCol="0" anchor="ctr"/>
          <a:lstStyle/>
          <a:p>
            <a:pPr marL="0" indent="0" algn="ctr">
              <a:buNone/>
            </a:pPr>
            <a:r>
              <a:rPr lang="vi-VN" altLang="en-US" sz="1400" b="1" dirty="0">
                <a:solidFill>
                  <a:srgbClr val="1D4ED8"/>
                </a:solidFill>
                <a:latin typeface="Consolas" pitchFamily="34" charset="0"/>
                <a:ea typeface="Consolas" pitchFamily="34" charset="-122"/>
                <a:cs typeface="Consolas" pitchFamily="34" charset="-120"/>
              </a:rPr>
              <a:t>lottery/</a:t>
            </a:r>
            <a:endParaRPr lang="vi-VN" sz="1400" dirty="0"/>
          </a:p>
        </p:txBody>
      </p:sp>
      <p:sp>
        <p:nvSpPr>
          <p:cNvPr id="32" name="Shape 29"/>
          <p:cNvSpPr/>
          <p:nvPr/>
        </p:nvSpPr>
        <p:spPr>
          <a:xfrm>
            <a:off x="3246120" y="3511296"/>
            <a:ext cx="274320" cy="219456"/>
          </a:xfrm>
          <a:prstGeom prst="rightArrow">
            <a:avLst/>
          </a:prstGeom>
          <a:solidFill>
            <a:srgbClr val="64748B"/>
          </a:solidFill>
          <a:ln w="12700">
            <a:solidFill>
              <a:srgbClr val="64748B"/>
            </a:solidFill>
            <a:prstDash val="solid"/>
          </a:ln>
        </p:spPr>
      </p:sp>
      <p:sp>
        <p:nvSpPr>
          <p:cNvPr id="33" name="Shape 30"/>
          <p:cNvSpPr/>
          <p:nvPr/>
        </p:nvSpPr>
        <p:spPr>
          <a:xfrm>
            <a:off x="3611880" y="3392424"/>
            <a:ext cx="2834640" cy="457200"/>
          </a:xfrm>
          <a:prstGeom prst="roundRect">
            <a:avLst>
              <a:gd name="adj" fmla="val 16000"/>
            </a:avLst>
          </a:prstGeom>
          <a:solidFill>
            <a:srgbClr val="DCFCE7"/>
          </a:solidFill>
          <a:ln w="12700">
            <a:solidFill>
              <a:srgbClr val="DCFCE7"/>
            </a:solidFill>
            <a:prstDash val="solid"/>
          </a:ln>
        </p:spPr>
      </p:sp>
      <p:sp>
        <p:nvSpPr>
          <p:cNvPr id="34" name="Text 31"/>
          <p:cNvSpPr txBox="1"/>
          <p:nvPr/>
        </p:nvSpPr>
        <p:spPr>
          <a:xfrm>
            <a:off x="3611880" y="3392424"/>
            <a:ext cx="2834640" cy="457200"/>
          </a:xfrm>
          <a:prstGeom prst="rect">
            <a:avLst/>
          </a:prstGeom>
          <a:noFill/>
          <a:ln/>
        </p:spPr>
        <p:txBody>
          <a:bodyPr wrap="square" lIns="0" tIns="0" rIns="0" bIns="0" rtlCol="0" anchor="ctr"/>
          <a:lstStyle/>
          <a:p>
            <a:pPr marL="0" indent="0" algn="ctr">
              <a:buNone/>
            </a:pPr>
            <a:r>
              <a:rPr lang="vi-VN" altLang="en-US" sz="1400" b="1" dirty="0">
                <a:solidFill>
                  <a:srgbClr val="16A34A"/>
                </a:solidFill>
                <a:latin typeface="Consolas" pitchFamily="34" charset="0"/>
                <a:ea typeface="Consolas" pitchFamily="34" charset="-122"/>
                <a:cs typeface="Consolas" pitchFamily="34" charset="-120"/>
              </a:rPr>
              <a:t>lottery/</a:t>
            </a:r>
            <a:endParaRPr lang="vi-VN" sz="1400" dirty="0"/>
          </a:p>
        </p:txBody>
      </p:sp>
      <p:sp>
        <p:nvSpPr>
          <p:cNvPr id="35" name="Text 32"/>
          <p:cNvSpPr txBox="1"/>
          <p:nvPr/>
        </p:nvSpPr>
        <p:spPr>
          <a:xfrm>
            <a:off x="6766560" y="3392424"/>
            <a:ext cx="1920240" cy="457200"/>
          </a:xfrm>
          <a:prstGeom prst="rect">
            <a:avLst/>
          </a:prstGeom>
          <a:noFill/>
          <a:ln/>
        </p:spPr>
        <p:txBody>
          <a:bodyPr wrap="square" lIns="0" tIns="0" rIns="0" bIns="0" rtlCol="0" anchor="ctr"/>
          <a:lstStyle/>
          <a:p>
            <a:pPr marL="0" indent="0">
              <a:buNone/>
            </a:pPr>
            <a:r>
              <a:rPr lang="vi-VN" altLang="en-US" sz="1150" dirty="0">
                <a:solidFill>
                  <a:srgbClr val="1F2937"/>
                </a:solidFill>
                <a:latin typeface="Calibri" pitchFamily="34" charset="0"/>
                <a:ea typeface="Calibri" pitchFamily="34" charset="-122"/>
                <a:cs typeface="Calibri" pitchFamily="34" charset="-120"/>
              </a:rPr>
              <a:t>Dò vé số</a:t>
            </a:r>
            <a:endParaRPr lang="vi-VN" sz="1150" dirty="0"/>
          </a:p>
        </p:txBody>
      </p:sp>
      <p:sp>
        <p:nvSpPr>
          <p:cNvPr id="36" name="Shape 33"/>
          <p:cNvSpPr/>
          <p:nvPr/>
        </p:nvSpPr>
        <p:spPr>
          <a:xfrm>
            <a:off x="502920" y="4023360"/>
            <a:ext cx="8183880" cy="713232"/>
          </a:xfrm>
          <a:prstGeom prst="roundRect">
            <a:avLst>
              <a:gd name="adj" fmla="val 12821"/>
            </a:avLst>
          </a:prstGeom>
          <a:solidFill>
            <a:srgbClr val="EFF6FF"/>
          </a:solidFill>
          <a:ln w="12700">
            <a:solidFill>
              <a:srgbClr val="EFF6FF"/>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Công nghệ sử dụng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Chọn công nghệ đúng yêu cầu bài học, thêm thư viện cho từng nhu cầu cụ thể</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15</a:t>
            </a:r>
            <a:endParaRPr lang="vi-VN" sz="900" dirty="0"/>
          </a:p>
        </p:txBody>
      </p:sp>
      <p:sp>
        <p:nvSpPr>
          <p:cNvPr id="9" name="Shape 6"/>
          <p:cNvSpPr/>
          <p:nvPr/>
        </p:nvSpPr>
        <p:spPr>
          <a:xfrm>
            <a:off x="502920" y="1371600"/>
            <a:ext cx="2606040" cy="1463040"/>
          </a:xfrm>
          <a:prstGeom prst="roundRect">
            <a:avLst>
              <a:gd name="adj" fmla="val 6250"/>
            </a:avLst>
          </a:prstGeom>
          <a:solidFill>
            <a:srgbClr val="EFF6FF"/>
          </a:solidFill>
          <a:ln w="12700">
            <a:solidFill>
              <a:srgbClr val="EFF6FF"/>
            </a:solidFill>
            <a:prstDash val="solid"/>
          </a:ln>
        </p:spPr>
      </p:sp>
      <p:sp>
        <p:nvSpPr>
          <p:cNvPr id="10" name="Shape 7"/>
          <p:cNvSpPr/>
          <p:nvPr/>
        </p:nvSpPr>
        <p:spPr>
          <a:xfrm>
            <a:off x="685800" y="1554480"/>
            <a:ext cx="502920" cy="502920"/>
          </a:xfrm>
          <a:prstGeom prst="ellipse">
            <a:avLst/>
          </a:prstGeom>
          <a:solidFill>
            <a:srgbClr val="1D4ED8"/>
          </a:solidFill>
          <a:ln w="12700">
            <a:solidFill>
              <a:srgbClr val="1D4ED8"/>
            </a:solidFill>
            <a:prstDash val="solid"/>
          </a:ln>
        </p:spPr>
      </p:sp>
      <p:pic>
        <p:nvPicPr>
          <p:cNvPr id="11" name="Image 0" descr="preencoded.png"/>
          <p:cNvPicPr>
            <a:picLocks noChangeAspect="1"/>
          </p:cNvPicPr>
          <p:nvPr/>
        </p:nvPicPr>
        <p:blipFill>
          <a:blip r:embed="rId3"/>
          <a:stretch>
            <a:fillRect/>
          </a:stretch>
        </p:blipFill>
        <p:spPr>
          <a:xfrm>
            <a:off x="811530" y="1680210"/>
            <a:ext cx="251460" cy="251460"/>
          </a:xfrm>
          <a:prstGeom prst="rect">
            <a:avLst/>
          </a:prstGeom>
        </p:spPr>
      </p:pic>
      <p:sp>
        <p:nvSpPr>
          <p:cNvPr id="12" name="Text 8"/>
          <p:cNvSpPr txBox="1"/>
          <p:nvPr/>
        </p:nvSpPr>
        <p:spPr>
          <a:xfrm>
            <a:off x="1325880" y="1554480"/>
            <a:ext cx="1691640" cy="50292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Backend</a:t>
            </a:r>
            <a:endParaRPr lang="vi-VN" sz="1600" dirty="0"/>
          </a:p>
        </p:txBody>
      </p:sp>
      <p:sp>
        <p:nvSpPr>
          <p:cNvPr id="13" name="Text 9"/>
          <p:cNvSpPr txBox="1"/>
          <p:nvPr/>
        </p:nvSpPr>
        <p:spPr>
          <a:xfrm>
            <a:off x="685800" y="2194560"/>
            <a:ext cx="2286000" cy="594360"/>
          </a:xfrm>
          <a:prstGeom prst="rect">
            <a:avLst/>
          </a:prstGeom>
          <a:noFill/>
          <a:ln/>
        </p:spPr>
        <p:txBody>
          <a:bodyPr wrap="square" lIns="0" tIns="0" rIns="0" bIns="0" rtlCol="0" anchor="t"/>
          <a:lstStyle/>
          <a:p>
            <a:pPr marL="0" indent="0">
              <a:buNone/>
            </a:pPr>
            <a:r>
              <a:rPr lang="vi-VN" altLang="en-US" sz="1200" dirty="0">
                <a:solidFill>
                  <a:srgbClr val="1F2937"/>
                </a:solidFill>
                <a:latin typeface="Calibri" pitchFamily="34" charset="0"/>
                <a:ea typeface="Calibri" pitchFamily="34" charset="-122"/>
                <a:cs typeface="Calibri" pitchFamily="34" charset="-120"/>
              </a:rPr>
              <a:t>Java 17, Servlet, JDBC</a:t>
            </a:r>
            <a:endParaRPr lang="vi-VN" sz="1200" dirty="0"/>
          </a:p>
        </p:txBody>
      </p:sp>
      <p:sp>
        <p:nvSpPr>
          <p:cNvPr id="14" name="Shape 10"/>
          <p:cNvSpPr/>
          <p:nvPr/>
        </p:nvSpPr>
        <p:spPr>
          <a:xfrm>
            <a:off x="3264408" y="1371600"/>
            <a:ext cx="2606040" cy="1463040"/>
          </a:xfrm>
          <a:prstGeom prst="roundRect">
            <a:avLst>
              <a:gd name="adj" fmla="val 6250"/>
            </a:avLst>
          </a:prstGeom>
          <a:solidFill>
            <a:srgbClr val="EFF6FF"/>
          </a:solidFill>
          <a:ln w="12700">
            <a:solidFill>
              <a:srgbClr val="EFF6FF"/>
            </a:solidFill>
            <a:prstDash val="solid"/>
          </a:ln>
        </p:spPr>
      </p:sp>
      <p:sp>
        <p:nvSpPr>
          <p:cNvPr id="15" name="Shape 11"/>
          <p:cNvSpPr/>
          <p:nvPr/>
        </p:nvSpPr>
        <p:spPr>
          <a:xfrm>
            <a:off x="3447288" y="1554480"/>
            <a:ext cx="502920" cy="502920"/>
          </a:xfrm>
          <a:prstGeom prst="ellipse">
            <a:avLst/>
          </a:prstGeom>
          <a:solidFill>
            <a:srgbClr val="1D4ED8"/>
          </a:solidFill>
          <a:ln w="12700">
            <a:solidFill>
              <a:srgbClr val="1D4ED8"/>
            </a:solidFill>
            <a:prstDash val="solid"/>
          </a:ln>
        </p:spPr>
      </p:sp>
      <p:pic>
        <p:nvPicPr>
          <p:cNvPr id="16" name="Image 1" descr="preencoded.png"/>
          <p:cNvPicPr>
            <a:picLocks noChangeAspect="1"/>
          </p:cNvPicPr>
          <p:nvPr/>
        </p:nvPicPr>
        <p:blipFill>
          <a:blip r:embed="rId4"/>
          <a:stretch>
            <a:fillRect/>
          </a:stretch>
        </p:blipFill>
        <p:spPr>
          <a:xfrm>
            <a:off x="3573018" y="1680210"/>
            <a:ext cx="251460" cy="251460"/>
          </a:xfrm>
          <a:prstGeom prst="rect">
            <a:avLst/>
          </a:prstGeom>
        </p:spPr>
      </p:pic>
      <p:sp>
        <p:nvSpPr>
          <p:cNvPr id="17" name="Text 12"/>
          <p:cNvSpPr txBox="1"/>
          <p:nvPr/>
        </p:nvSpPr>
        <p:spPr>
          <a:xfrm>
            <a:off x="4087368" y="1554480"/>
            <a:ext cx="1691640" cy="50292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Frontend</a:t>
            </a:r>
            <a:endParaRPr lang="vi-VN" sz="1600" dirty="0"/>
          </a:p>
        </p:txBody>
      </p:sp>
      <p:sp>
        <p:nvSpPr>
          <p:cNvPr id="18" name="Text 13"/>
          <p:cNvSpPr txBox="1"/>
          <p:nvPr/>
        </p:nvSpPr>
        <p:spPr>
          <a:xfrm>
            <a:off x="3447288" y="2194560"/>
            <a:ext cx="2286000" cy="594360"/>
          </a:xfrm>
          <a:prstGeom prst="rect">
            <a:avLst/>
          </a:prstGeom>
          <a:noFill/>
          <a:ln/>
        </p:spPr>
        <p:txBody>
          <a:bodyPr wrap="square" lIns="0" tIns="0" rIns="0" bIns="0" rtlCol="0" anchor="t"/>
          <a:lstStyle/>
          <a:p>
            <a:pPr marL="0" indent="0">
              <a:buNone/>
            </a:pPr>
            <a:r>
              <a:rPr lang="vi-VN" altLang="en-US" sz="1200" dirty="0">
                <a:solidFill>
                  <a:srgbClr val="1F2937"/>
                </a:solidFill>
                <a:latin typeface="Calibri" pitchFamily="34" charset="0"/>
                <a:ea typeface="Calibri" pitchFamily="34" charset="-122"/>
                <a:cs typeface="Calibri" pitchFamily="34" charset="-120"/>
              </a:rPr>
              <a:t>JSP, JSTL, Bootstrap 5</a:t>
            </a:r>
            <a:endParaRPr lang="vi-VN" sz="1200" dirty="0"/>
          </a:p>
        </p:txBody>
      </p:sp>
      <p:sp>
        <p:nvSpPr>
          <p:cNvPr id="19" name="Shape 14"/>
          <p:cNvSpPr/>
          <p:nvPr/>
        </p:nvSpPr>
        <p:spPr>
          <a:xfrm>
            <a:off x="6025896" y="1371600"/>
            <a:ext cx="2606040" cy="1463040"/>
          </a:xfrm>
          <a:prstGeom prst="roundRect">
            <a:avLst>
              <a:gd name="adj" fmla="val 6250"/>
            </a:avLst>
          </a:prstGeom>
          <a:solidFill>
            <a:srgbClr val="EFF6FF"/>
          </a:solidFill>
          <a:ln w="12700">
            <a:solidFill>
              <a:srgbClr val="EFF6FF"/>
            </a:solidFill>
            <a:prstDash val="solid"/>
          </a:ln>
        </p:spPr>
      </p:sp>
      <p:sp>
        <p:nvSpPr>
          <p:cNvPr id="20" name="Shape 15"/>
          <p:cNvSpPr/>
          <p:nvPr/>
        </p:nvSpPr>
        <p:spPr>
          <a:xfrm>
            <a:off x="6208776" y="1554480"/>
            <a:ext cx="502920" cy="502920"/>
          </a:xfrm>
          <a:prstGeom prst="ellipse">
            <a:avLst/>
          </a:prstGeom>
          <a:solidFill>
            <a:srgbClr val="1D4ED8"/>
          </a:solidFill>
          <a:ln w="12700">
            <a:solidFill>
              <a:srgbClr val="1D4ED8"/>
            </a:solidFill>
            <a:prstDash val="solid"/>
          </a:ln>
        </p:spPr>
      </p:sp>
      <p:pic>
        <p:nvPicPr>
          <p:cNvPr id="21" name="Image 2" descr="preencoded.png"/>
          <p:cNvPicPr>
            <a:picLocks noChangeAspect="1"/>
          </p:cNvPicPr>
          <p:nvPr/>
        </p:nvPicPr>
        <p:blipFill>
          <a:blip r:embed="rId5"/>
          <a:stretch>
            <a:fillRect/>
          </a:stretch>
        </p:blipFill>
        <p:spPr>
          <a:xfrm>
            <a:off x="6334506" y="1680210"/>
            <a:ext cx="251460" cy="251460"/>
          </a:xfrm>
          <a:prstGeom prst="rect">
            <a:avLst/>
          </a:prstGeom>
        </p:spPr>
      </p:pic>
      <p:sp>
        <p:nvSpPr>
          <p:cNvPr id="22" name="Text 16"/>
          <p:cNvSpPr txBox="1"/>
          <p:nvPr/>
        </p:nvSpPr>
        <p:spPr>
          <a:xfrm>
            <a:off x="6848856" y="1554480"/>
            <a:ext cx="1691640" cy="50292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Cơ sở dữ liệu</a:t>
            </a:r>
            <a:endParaRPr lang="vi-VN" sz="1600" dirty="0"/>
          </a:p>
        </p:txBody>
      </p:sp>
      <p:sp>
        <p:nvSpPr>
          <p:cNvPr id="23" name="Text 17"/>
          <p:cNvSpPr txBox="1"/>
          <p:nvPr/>
        </p:nvSpPr>
        <p:spPr>
          <a:xfrm>
            <a:off x="6208776" y="2194560"/>
            <a:ext cx="2286000" cy="594360"/>
          </a:xfrm>
          <a:prstGeom prst="rect">
            <a:avLst/>
          </a:prstGeom>
          <a:noFill/>
          <a:ln/>
        </p:spPr>
        <p:txBody>
          <a:bodyPr wrap="square" lIns="0" tIns="0" rIns="0" bIns="0" rtlCol="0" anchor="t"/>
          <a:lstStyle/>
          <a:p>
            <a:pPr marL="0" indent="0">
              <a:buNone/>
            </a:pPr>
            <a:r>
              <a:rPr lang="vi-VN" altLang="en-US" sz="1200" dirty="0">
                <a:solidFill>
                  <a:srgbClr val="1F2937"/>
                </a:solidFill>
                <a:latin typeface="Calibri" pitchFamily="34" charset="0"/>
                <a:ea typeface="Calibri" pitchFamily="34" charset="-122"/>
                <a:cs typeface="Calibri" pitchFamily="34" charset="-120"/>
              </a:rPr>
              <a:t>MySQL 8.0, connection pool HikariCP</a:t>
            </a:r>
            <a:endParaRPr lang="vi-VN" sz="1200" dirty="0"/>
          </a:p>
        </p:txBody>
      </p:sp>
      <p:sp>
        <p:nvSpPr>
          <p:cNvPr id="24" name="Shape 18"/>
          <p:cNvSpPr/>
          <p:nvPr/>
        </p:nvSpPr>
        <p:spPr>
          <a:xfrm>
            <a:off x="502920" y="3017520"/>
            <a:ext cx="2606040" cy="1463040"/>
          </a:xfrm>
          <a:prstGeom prst="roundRect">
            <a:avLst>
              <a:gd name="adj" fmla="val 6250"/>
            </a:avLst>
          </a:prstGeom>
          <a:solidFill>
            <a:srgbClr val="EFF6FF"/>
          </a:solidFill>
          <a:ln w="12700">
            <a:solidFill>
              <a:srgbClr val="EFF6FF"/>
            </a:solidFill>
            <a:prstDash val="solid"/>
          </a:ln>
        </p:spPr>
      </p:sp>
      <p:sp>
        <p:nvSpPr>
          <p:cNvPr id="25" name="Shape 19"/>
          <p:cNvSpPr/>
          <p:nvPr/>
        </p:nvSpPr>
        <p:spPr>
          <a:xfrm>
            <a:off x="685800" y="3200400"/>
            <a:ext cx="502920" cy="502920"/>
          </a:xfrm>
          <a:prstGeom prst="ellipse">
            <a:avLst/>
          </a:prstGeom>
          <a:solidFill>
            <a:srgbClr val="1D4ED8"/>
          </a:solidFill>
          <a:ln w="12700">
            <a:solidFill>
              <a:srgbClr val="1D4ED8"/>
            </a:solidFill>
            <a:prstDash val="solid"/>
          </a:ln>
        </p:spPr>
      </p:sp>
      <p:pic>
        <p:nvPicPr>
          <p:cNvPr id="26" name="Image 3" descr="preencoded.png"/>
          <p:cNvPicPr>
            <a:picLocks noChangeAspect="1"/>
          </p:cNvPicPr>
          <p:nvPr/>
        </p:nvPicPr>
        <p:blipFill>
          <a:blip r:embed="rId6"/>
          <a:stretch>
            <a:fillRect/>
          </a:stretch>
        </p:blipFill>
        <p:spPr>
          <a:xfrm>
            <a:off x="811530" y="3326130"/>
            <a:ext cx="251460" cy="251460"/>
          </a:xfrm>
          <a:prstGeom prst="rect">
            <a:avLst/>
          </a:prstGeom>
        </p:spPr>
      </p:pic>
      <p:sp>
        <p:nvSpPr>
          <p:cNvPr id="27" name="Text 20"/>
          <p:cNvSpPr txBox="1"/>
          <p:nvPr/>
        </p:nvSpPr>
        <p:spPr>
          <a:xfrm>
            <a:off x="1325880" y="3200400"/>
            <a:ext cx="1691640" cy="50292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Server và build</a:t>
            </a:r>
            <a:endParaRPr lang="vi-VN" sz="1600" dirty="0"/>
          </a:p>
        </p:txBody>
      </p:sp>
      <p:sp>
        <p:nvSpPr>
          <p:cNvPr id="28" name="Text 21"/>
          <p:cNvSpPr txBox="1"/>
          <p:nvPr/>
        </p:nvSpPr>
        <p:spPr>
          <a:xfrm>
            <a:off x="685800" y="3840480"/>
            <a:ext cx="2286000" cy="594360"/>
          </a:xfrm>
          <a:prstGeom prst="rect">
            <a:avLst/>
          </a:prstGeom>
          <a:noFill/>
          <a:ln/>
        </p:spPr>
        <p:txBody>
          <a:bodyPr wrap="square" lIns="0" tIns="0" rIns="0" bIns="0" rtlCol="0" anchor="t"/>
          <a:lstStyle/>
          <a:p>
            <a:pPr marL="0" indent="0">
              <a:buNone/>
            </a:pPr>
            <a:r>
              <a:rPr lang="vi-VN" altLang="en-US" sz="1200" dirty="0">
                <a:solidFill>
                  <a:srgbClr val="1F2937"/>
                </a:solidFill>
                <a:latin typeface="Calibri" pitchFamily="34" charset="0"/>
                <a:ea typeface="Calibri" pitchFamily="34" charset="-122"/>
                <a:cs typeface="Calibri" pitchFamily="34" charset="-120"/>
              </a:rPr>
              <a:t>Tomcat 9, Maven, IntelliJ IDEA</a:t>
            </a:r>
            <a:endParaRPr lang="vi-VN" sz="1200" dirty="0"/>
          </a:p>
        </p:txBody>
      </p:sp>
      <p:sp>
        <p:nvSpPr>
          <p:cNvPr id="29" name="Shape 22"/>
          <p:cNvSpPr/>
          <p:nvPr/>
        </p:nvSpPr>
        <p:spPr>
          <a:xfrm>
            <a:off x="3264408" y="3017520"/>
            <a:ext cx="2606040" cy="1463040"/>
          </a:xfrm>
          <a:prstGeom prst="roundRect">
            <a:avLst>
              <a:gd name="adj" fmla="val 6250"/>
            </a:avLst>
          </a:prstGeom>
          <a:solidFill>
            <a:srgbClr val="EFF6FF"/>
          </a:solidFill>
          <a:ln w="12700">
            <a:solidFill>
              <a:srgbClr val="EFF6FF"/>
            </a:solidFill>
            <a:prstDash val="solid"/>
          </a:ln>
        </p:spPr>
      </p:sp>
      <p:sp>
        <p:nvSpPr>
          <p:cNvPr id="30" name="Shape 23"/>
          <p:cNvSpPr/>
          <p:nvPr/>
        </p:nvSpPr>
        <p:spPr>
          <a:xfrm>
            <a:off x="3447288" y="3200400"/>
            <a:ext cx="502920" cy="502920"/>
          </a:xfrm>
          <a:prstGeom prst="ellipse">
            <a:avLst/>
          </a:prstGeom>
          <a:solidFill>
            <a:srgbClr val="1D4ED8"/>
          </a:solidFill>
          <a:ln w="12700">
            <a:solidFill>
              <a:srgbClr val="1D4ED8"/>
            </a:solidFill>
            <a:prstDash val="solid"/>
          </a:ln>
        </p:spPr>
      </p:sp>
      <p:pic>
        <p:nvPicPr>
          <p:cNvPr id="31" name="Image 4" descr="preencoded.png"/>
          <p:cNvPicPr>
            <a:picLocks noChangeAspect="1"/>
          </p:cNvPicPr>
          <p:nvPr/>
        </p:nvPicPr>
        <p:blipFill>
          <a:blip r:embed="rId7"/>
          <a:stretch>
            <a:fillRect/>
          </a:stretch>
        </p:blipFill>
        <p:spPr>
          <a:xfrm>
            <a:off x="3573018" y="3326130"/>
            <a:ext cx="251460" cy="251460"/>
          </a:xfrm>
          <a:prstGeom prst="rect">
            <a:avLst/>
          </a:prstGeom>
        </p:spPr>
      </p:pic>
      <p:sp>
        <p:nvSpPr>
          <p:cNvPr id="32" name="Text 24"/>
          <p:cNvSpPr txBox="1"/>
          <p:nvPr/>
        </p:nvSpPr>
        <p:spPr>
          <a:xfrm>
            <a:off x="4087368" y="3200400"/>
            <a:ext cx="1691640" cy="50292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Thư viện</a:t>
            </a:r>
            <a:endParaRPr lang="vi-VN" sz="1600" dirty="0"/>
          </a:p>
        </p:txBody>
      </p:sp>
      <p:sp>
        <p:nvSpPr>
          <p:cNvPr id="33" name="Text 25"/>
          <p:cNvSpPr txBox="1"/>
          <p:nvPr/>
        </p:nvSpPr>
        <p:spPr>
          <a:xfrm>
            <a:off x="3447288" y="3840480"/>
            <a:ext cx="2286000" cy="594360"/>
          </a:xfrm>
          <a:prstGeom prst="rect">
            <a:avLst/>
          </a:prstGeom>
          <a:noFill/>
          <a:ln/>
        </p:spPr>
        <p:txBody>
          <a:bodyPr wrap="square" lIns="0" tIns="0" rIns="0" bIns="0" rtlCol="0" anchor="t"/>
          <a:lstStyle/>
          <a:p>
            <a:pPr marL="0" indent="0">
              <a:buNone/>
            </a:pPr>
            <a:r>
              <a:rPr lang="vi-VN" altLang="en-US" sz="1200" dirty="0">
                <a:solidFill>
                  <a:srgbClr val="1F2937"/>
                </a:solidFill>
                <a:latin typeface="Calibri" pitchFamily="34" charset="0"/>
                <a:ea typeface="Calibri" pitchFamily="34" charset="-122"/>
                <a:cs typeface="Calibri" pitchFamily="34" charset="-120"/>
              </a:rPr>
              <a:t>jBCrypt (băm mật khẩu), Jakarta Mail (gửi email), jsoup (đọc kết quả xổ số)</a:t>
            </a:r>
            <a:endParaRPr lang="vi-VN" sz="1200" dirty="0"/>
          </a:p>
        </p:txBody>
      </p:sp>
      <p:sp>
        <p:nvSpPr>
          <p:cNvPr id="34" name="Shape 26"/>
          <p:cNvSpPr/>
          <p:nvPr/>
        </p:nvSpPr>
        <p:spPr>
          <a:xfrm>
            <a:off x="6025896" y="3017520"/>
            <a:ext cx="2606040" cy="1463040"/>
          </a:xfrm>
          <a:prstGeom prst="roundRect">
            <a:avLst>
              <a:gd name="adj" fmla="val 6250"/>
            </a:avLst>
          </a:prstGeom>
          <a:solidFill>
            <a:srgbClr val="EFF6FF"/>
          </a:solidFill>
          <a:ln w="12700">
            <a:solidFill>
              <a:srgbClr val="EFF6FF"/>
            </a:solidFill>
            <a:prstDash val="solid"/>
          </a:ln>
        </p:spPr>
      </p:sp>
      <p:sp>
        <p:nvSpPr>
          <p:cNvPr id="35" name="Shape 27"/>
          <p:cNvSpPr/>
          <p:nvPr/>
        </p:nvSpPr>
        <p:spPr>
          <a:xfrm>
            <a:off x="6208776" y="3200400"/>
            <a:ext cx="502920" cy="502920"/>
          </a:xfrm>
          <a:prstGeom prst="ellipse">
            <a:avLst/>
          </a:prstGeom>
          <a:solidFill>
            <a:srgbClr val="1D4ED8"/>
          </a:solidFill>
          <a:ln w="12700">
            <a:solidFill>
              <a:srgbClr val="1D4ED8"/>
            </a:solidFill>
            <a:prstDash val="solid"/>
          </a:ln>
        </p:spPr>
      </p:sp>
      <p:pic>
        <p:nvPicPr>
          <p:cNvPr id="36" name="Image 5" descr="preencoded.png"/>
          <p:cNvPicPr>
            <a:picLocks noChangeAspect="1"/>
          </p:cNvPicPr>
          <p:nvPr/>
        </p:nvPicPr>
        <p:blipFill>
          <a:blip r:embed="rId8"/>
          <a:stretch>
            <a:fillRect/>
          </a:stretch>
        </p:blipFill>
        <p:spPr>
          <a:xfrm>
            <a:off x="6334506" y="3326130"/>
            <a:ext cx="251460" cy="251460"/>
          </a:xfrm>
          <a:prstGeom prst="rect">
            <a:avLst/>
          </a:prstGeom>
        </p:spPr>
      </p:pic>
      <p:sp>
        <p:nvSpPr>
          <p:cNvPr id="37" name="Text 28"/>
          <p:cNvSpPr txBox="1"/>
          <p:nvPr/>
        </p:nvSpPr>
        <p:spPr>
          <a:xfrm>
            <a:off x="6848856" y="3200400"/>
            <a:ext cx="1691640" cy="50292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Kiểm thử</a:t>
            </a:r>
            <a:endParaRPr lang="vi-VN" sz="1600" dirty="0"/>
          </a:p>
        </p:txBody>
      </p:sp>
      <p:sp>
        <p:nvSpPr>
          <p:cNvPr id="38" name="Text 29"/>
          <p:cNvSpPr txBox="1"/>
          <p:nvPr/>
        </p:nvSpPr>
        <p:spPr>
          <a:xfrm>
            <a:off x="6208776" y="3840480"/>
            <a:ext cx="2286000" cy="594360"/>
          </a:xfrm>
          <a:prstGeom prst="rect">
            <a:avLst/>
          </a:prstGeom>
          <a:noFill/>
          <a:ln/>
        </p:spPr>
        <p:txBody>
          <a:bodyPr wrap="square" lIns="0" tIns="0" rIns="0" bIns="0" rtlCol="0" anchor="t"/>
          <a:lstStyle/>
          <a:p>
            <a:pPr marL="0" indent="0">
              <a:buNone/>
            </a:pPr>
            <a:r>
              <a:rPr lang="vi-VN" altLang="en-US" sz="1200" dirty="0">
                <a:solidFill>
                  <a:srgbClr val="1F2937"/>
                </a:solidFill>
                <a:latin typeface="Calibri" pitchFamily="34" charset="0"/>
                <a:ea typeface="Calibri" pitchFamily="34" charset="-122"/>
                <a:cs typeface="Calibri" pitchFamily="34" charset="-120"/>
              </a:rPr>
              <a:t>JUnit 5, Mockito</a:t>
            </a:r>
            <a:endParaRPr lang="vi-VN"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16</a:t>
            </a:r>
            <a:endParaRPr lang="vi-VN" sz="900" dirty="0"/>
          </a:p>
        </p:txBody>
      </p:sp>
      <p:sp>
        <p:nvSpPr>
          <p:cNvPr id="9" name="Shape 6"/>
          <p:cNvSpPr/>
          <p:nvPr/>
        </p:nvSpPr>
        <p:spPr>
          <a:xfrm>
            <a:off x="502920" y="1170432"/>
            <a:ext cx="4023360" cy="914400"/>
          </a:xfrm>
          <a:prstGeom prst="roundRect">
            <a:avLst>
              <a:gd name="adj" fmla="val 10000"/>
            </a:avLst>
          </a:prstGeom>
          <a:solidFill>
            <a:srgbClr val="F8FAFC"/>
          </a:solidFill>
          <a:ln w="12700">
            <a:solidFill>
              <a:srgbClr val="F1F5F9"/>
            </a:solidFill>
          </a:ln>
        </p:spPr>
      </p:sp>
      <p:sp>
        <p:nvSpPr>
          <p:cNvPr id="10" name="Shape 7"/>
          <p:cNvSpPr/>
          <p:nvPr/>
        </p:nvSpPr>
        <p:spPr>
          <a:xfrm>
            <a:off x="685800" y="1371600"/>
            <a:ext cx="512064" cy="512064"/>
          </a:xfrm>
          <a:prstGeom prst="ellipse">
            <a:avLst/>
          </a:prstGeom>
          <a:solidFill>
            <a:srgbClr val="CBD5E1"/>
          </a:solidFill>
          <a:ln w="12700">
            <a:solidFill>
              <a:srgbClr val="CBD5E1"/>
            </a:solidFill>
          </a:ln>
        </p:spPr>
      </p:sp>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F8FAFC"/>
          </a:solidFill>
          <a:ln w="12700">
            <a:solidFill>
              <a:srgbClr val="F1F5F9"/>
            </a:solidFill>
          </a:ln>
        </p:spPr>
      </p:sp>
      <p:sp>
        <p:nvSpPr>
          <p:cNvPr id="15" name="Shape 11"/>
          <p:cNvSpPr/>
          <p:nvPr/>
        </p:nvSpPr>
        <p:spPr>
          <a:xfrm>
            <a:off x="4892040" y="1371600"/>
            <a:ext cx="512064" cy="512064"/>
          </a:xfrm>
          <a:prstGeom prst="ellipse">
            <a:avLst/>
          </a:prstGeom>
          <a:solidFill>
            <a:srgbClr val="CBD5E1"/>
          </a:solidFill>
          <a:ln w="12700">
            <a:solidFill>
              <a:srgbClr val="CBD5E1"/>
            </a:solidFill>
          </a:ln>
        </p:spPr>
      </p:sp>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DBEAFE"/>
          </a:solidFill>
          <a:ln w="28575">
            <a:solidFill>
              <a:srgbClr val="1D4ED8"/>
            </a:solidFill>
          </a:ln>
        </p:spPr>
      </p:sp>
      <p:sp>
        <p:nvSpPr>
          <p:cNvPr id="20" name="Shape 15"/>
          <p:cNvSpPr/>
          <p:nvPr/>
        </p:nvSpPr>
        <p:spPr>
          <a:xfrm>
            <a:off x="685800" y="2468880"/>
            <a:ext cx="512064" cy="512064"/>
          </a:xfrm>
          <a:prstGeom prst="ellipse">
            <a:avLst/>
          </a:prstGeom>
          <a:solidFill>
            <a:srgbClr val="1D4ED8"/>
          </a:solidFill>
          <a:ln w="12700">
            <a:solidFill>
              <a:srgbClr val="1D4ED8"/>
            </a:solidFill>
            <a:prstDash val="solid"/>
          </a:ln>
        </p:spPr>
      </p:sp>
      <p:pic>
        <p:nvPicPr>
          <p:cNvPr id="21" name="Image 2" descr="preencoded.png"/>
          <p:cNvPicPr>
            <a:picLocks noChangeAspect="1"/>
          </p:cNvPicPr>
          <p:nvPr/>
        </p:nvPicPr>
        <p:blipFill>
          <a:blip r:embed="rId2"/>
          <a:stretch>
            <a:fillRect/>
          </a:stretch>
        </p:blipFill>
        <p:spPr>
          <a:xfrm>
            <a:off x="813816" y="2596896"/>
            <a:ext cx="256032" cy="256032"/>
          </a:xfrm>
          <a:prstGeom prst="rect">
            <a:avLst/>
          </a:prstGeom>
        </p:spPr>
      </p:pic>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F8FAFC"/>
          </a:solidFill>
          <a:ln w="12700">
            <a:solidFill>
              <a:srgbClr val="F1F5F9"/>
            </a:solidFill>
          </a:ln>
        </p:spPr>
      </p:sp>
      <p:sp>
        <p:nvSpPr>
          <p:cNvPr id="25" name="Shape 19"/>
          <p:cNvSpPr/>
          <p:nvPr/>
        </p:nvSpPr>
        <p:spPr>
          <a:xfrm>
            <a:off x="4892040" y="2468880"/>
            <a:ext cx="512064" cy="512064"/>
          </a:xfrm>
          <a:prstGeom prst="ellipse">
            <a:avLst/>
          </a:prstGeom>
          <a:solidFill>
            <a:srgbClr val="CBD5E1"/>
          </a:solidFill>
          <a:ln w="12700">
            <a:solidFill>
              <a:srgbClr val="CBD5E1"/>
            </a:solidFill>
          </a:ln>
        </p:spPr>
      </p:sp>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F8FAFC"/>
          </a:solidFill>
          <a:ln w="12700">
            <a:solidFill>
              <a:srgbClr val="F1F5F9"/>
            </a:solidFill>
          </a:ln>
        </p:spPr>
      </p:sp>
      <p:sp>
        <p:nvSpPr>
          <p:cNvPr id="30" name="Shape 23"/>
          <p:cNvSpPr/>
          <p:nvPr/>
        </p:nvSpPr>
        <p:spPr>
          <a:xfrm>
            <a:off x="685800" y="3566160"/>
            <a:ext cx="512064" cy="512064"/>
          </a:xfrm>
          <a:prstGeom prst="ellipse">
            <a:avLst/>
          </a:prstGeom>
          <a:solidFill>
            <a:srgbClr val="CBD5E1"/>
          </a:solidFill>
          <a:ln w="12700">
            <a:solidFill>
              <a:srgbClr val="CBD5E1"/>
            </a:solidFill>
          </a:ln>
        </p:spPr>
      </p:sp>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F8FAFC"/>
          </a:solidFill>
          <a:ln w="12700">
            <a:solidFill>
              <a:srgbClr val="F1F5F9"/>
            </a:solidFill>
          </a:ln>
        </p:spPr>
      </p:sp>
      <p:sp>
        <p:nvSpPr>
          <p:cNvPr id="35" name="Shape 27"/>
          <p:cNvSpPr/>
          <p:nvPr/>
        </p:nvSpPr>
        <p:spPr>
          <a:xfrm>
            <a:off x="4892040" y="3566160"/>
            <a:ext cx="512064" cy="512064"/>
          </a:xfrm>
          <a:prstGeom prst="ellipse">
            <a:avLst/>
          </a:prstGeom>
          <a:solidFill>
            <a:srgbClr val="CBD5E1"/>
          </a:solidFill>
          <a:ln w="12700">
            <a:solidFill>
              <a:srgbClr val="CBD5E1"/>
            </a:solidFill>
          </a:ln>
        </p:spPr>
      </p:sp>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Thiết kế cơ sở dữ liệu</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Người dùng, vé dò và lịch sử dò liên kết với nhau bằng khoá ngoại</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MySQL 8.0</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17</a:t>
            </a:r>
            <a:endParaRPr lang="vi-VN" sz="900" dirty="0"/>
          </a:p>
        </p:txBody>
      </p:sp>
      <p:pic>
        <p:nvPicPr>
          <p:cNvPr id="12" name="Image 1" descr="u2/image7.png"/>
          <p:cNvPicPr>
            <a:picLocks noChangeAspect="1"/>
          </p:cNvPicPr>
          <p:nvPr/>
        </p:nvPicPr>
        <p:blipFill>
          <a:blip r:embed="rId4"/>
          <a:stretch>
            <a:fillRect/>
          </a:stretch>
        </p:blipFill>
        <p:spPr>
          <a:xfrm>
            <a:off x="502920" y="1503666"/>
            <a:ext cx="5212080" cy="3073428"/>
          </a:xfrm>
          <a:prstGeom prst="rect">
            <a:avLst/>
          </a:prstGeom>
        </p:spPr>
      </p:pic>
      <p:sp>
        <p:nvSpPr>
          <p:cNvPr id="13" name="Text 8"/>
          <p:cNvSpPr txBox="1"/>
          <p:nvPr/>
        </p:nvSpPr>
        <p:spPr>
          <a:xfrm>
            <a:off x="5943600" y="1417320"/>
            <a:ext cx="2743200" cy="320040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Người dùng: ROLE, trạng thái, lần đăng nhập cuối</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Vé dò và kết quả từng giải; trạng thái UNPUBLISH hoặc PUBLISH</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Lịch sử dò của USER</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Cấu hình miền, công ty và mức thưởng theo giải</a:t>
            </a:r>
            <a:endParaRPr lang="vi-VN"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19</a:t>
            </a:r>
            <a:endParaRPr lang="vi-VN" sz="900" dirty="0"/>
          </a:p>
        </p:txBody>
      </p:sp>
      <p:sp>
        <p:nvSpPr>
          <p:cNvPr id="9" name="Shape 6"/>
          <p:cNvSpPr/>
          <p:nvPr/>
        </p:nvSpPr>
        <p:spPr>
          <a:xfrm>
            <a:off x="502920" y="1170432"/>
            <a:ext cx="4023360" cy="914400"/>
          </a:xfrm>
          <a:prstGeom prst="roundRect">
            <a:avLst>
              <a:gd name="adj" fmla="val 10000"/>
            </a:avLst>
          </a:prstGeom>
          <a:solidFill>
            <a:srgbClr val="F8FAFC"/>
          </a:solidFill>
          <a:ln w="12700">
            <a:solidFill>
              <a:srgbClr val="F1F5F9"/>
            </a:solidFill>
          </a:ln>
        </p:spPr>
      </p:sp>
      <p:sp>
        <p:nvSpPr>
          <p:cNvPr id="10" name="Shape 7"/>
          <p:cNvSpPr/>
          <p:nvPr/>
        </p:nvSpPr>
        <p:spPr>
          <a:xfrm>
            <a:off x="685800" y="1371600"/>
            <a:ext cx="512064" cy="512064"/>
          </a:xfrm>
          <a:prstGeom prst="ellipse">
            <a:avLst/>
          </a:prstGeom>
          <a:solidFill>
            <a:srgbClr val="CBD5E1"/>
          </a:solidFill>
          <a:ln w="12700">
            <a:solidFill>
              <a:srgbClr val="CBD5E1"/>
            </a:solidFill>
          </a:ln>
        </p:spPr>
      </p:sp>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F8FAFC"/>
          </a:solidFill>
          <a:ln w="12700">
            <a:solidFill>
              <a:srgbClr val="F1F5F9"/>
            </a:solidFill>
          </a:ln>
        </p:spPr>
      </p:sp>
      <p:sp>
        <p:nvSpPr>
          <p:cNvPr id="15" name="Shape 11"/>
          <p:cNvSpPr/>
          <p:nvPr/>
        </p:nvSpPr>
        <p:spPr>
          <a:xfrm>
            <a:off x="4892040" y="1371600"/>
            <a:ext cx="512064" cy="512064"/>
          </a:xfrm>
          <a:prstGeom prst="ellipse">
            <a:avLst/>
          </a:prstGeom>
          <a:solidFill>
            <a:srgbClr val="CBD5E1"/>
          </a:solidFill>
          <a:ln w="12700">
            <a:solidFill>
              <a:srgbClr val="CBD5E1"/>
            </a:solidFill>
          </a:ln>
        </p:spPr>
      </p:sp>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F8FAFC"/>
          </a:solidFill>
          <a:ln w="12700">
            <a:solidFill>
              <a:srgbClr val="F1F5F9"/>
            </a:solidFill>
          </a:ln>
        </p:spPr>
      </p:sp>
      <p:sp>
        <p:nvSpPr>
          <p:cNvPr id="20" name="Shape 15"/>
          <p:cNvSpPr/>
          <p:nvPr/>
        </p:nvSpPr>
        <p:spPr>
          <a:xfrm>
            <a:off x="685800" y="2468880"/>
            <a:ext cx="512064" cy="512064"/>
          </a:xfrm>
          <a:prstGeom prst="ellipse">
            <a:avLst/>
          </a:prstGeom>
          <a:solidFill>
            <a:srgbClr val="CBD5E1"/>
          </a:solidFill>
          <a:ln w="12700">
            <a:solidFill>
              <a:srgbClr val="CBD5E1"/>
            </a:solidFill>
          </a:ln>
        </p:spPr>
      </p:sp>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DBEAFE"/>
          </a:solidFill>
          <a:ln w="28575">
            <a:solidFill>
              <a:srgbClr val="1D4ED8"/>
            </a:solidFill>
          </a:ln>
        </p:spPr>
      </p:sp>
      <p:sp>
        <p:nvSpPr>
          <p:cNvPr id="25" name="Shape 19"/>
          <p:cNvSpPr/>
          <p:nvPr/>
        </p:nvSpPr>
        <p:spPr>
          <a:xfrm>
            <a:off x="4892040" y="2468880"/>
            <a:ext cx="512064" cy="512064"/>
          </a:xfrm>
          <a:prstGeom prst="ellipse">
            <a:avLst/>
          </a:prstGeom>
          <a:solidFill>
            <a:srgbClr val="1D4ED8"/>
          </a:solidFill>
          <a:ln w="12700">
            <a:solidFill>
              <a:srgbClr val="1D4ED8"/>
            </a:solidFill>
            <a:prstDash val="solid"/>
          </a:ln>
        </p:spPr>
      </p:sp>
      <p:pic>
        <p:nvPicPr>
          <p:cNvPr id="26" name="Image 3" descr="preencoded.png"/>
          <p:cNvPicPr>
            <a:picLocks noChangeAspect="1"/>
          </p:cNvPicPr>
          <p:nvPr/>
        </p:nvPicPr>
        <p:blipFill>
          <a:blip r:embed="rId2"/>
          <a:stretch>
            <a:fillRect/>
          </a:stretch>
        </p:blipFill>
        <p:spPr>
          <a:xfrm>
            <a:off x="5020056" y="2596896"/>
            <a:ext cx="256032" cy="256032"/>
          </a:xfrm>
          <a:prstGeom prst="rect">
            <a:avLst/>
          </a:prstGeom>
        </p:spPr>
      </p:pic>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F8FAFC"/>
          </a:solidFill>
          <a:ln w="12700">
            <a:solidFill>
              <a:srgbClr val="F1F5F9"/>
            </a:solidFill>
          </a:ln>
        </p:spPr>
      </p:sp>
      <p:sp>
        <p:nvSpPr>
          <p:cNvPr id="30" name="Shape 23"/>
          <p:cNvSpPr/>
          <p:nvPr/>
        </p:nvSpPr>
        <p:spPr>
          <a:xfrm>
            <a:off x="685800" y="3566160"/>
            <a:ext cx="512064" cy="512064"/>
          </a:xfrm>
          <a:prstGeom prst="ellipse">
            <a:avLst/>
          </a:prstGeom>
          <a:solidFill>
            <a:srgbClr val="CBD5E1"/>
          </a:solidFill>
          <a:ln w="12700">
            <a:solidFill>
              <a:srgbClr val="CBD5E1"/>
            </a:solidFill>
          </a:ln>
        </p:spPr>
      </p:sp>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F8FAFC"/>
          </a:solidFill>
          <a:ln w="12700">
            <a:solidFill>
              <a:srgbClr val="F1F5F9"/>
            </a:solidFill>
          </a:ln>
        </p:spPr>
      </p:sp>
      <p:sp>
        <p:nvSpPr>
          <p:cNvPr id="35" name="Shape 27"/>
          <p:cNvSpPr/>
          <p:nvPr/>
        </p:nvSpPr>
        <p:spPr>
          <a:xfrm>
            <a:off x="4892040" y="3566160"/>
            <a:ext cx="512064" cy="512064"/>
          </a:xfrm>
          <a:prstGeom prst="ellipse">
            <a:avLst/>
          </a:prstGeom>
          <a:solidFill>
            <a:srgbClr val="CBD5E1"/>
          </a:solidFill>
          <a:ln w="12700">
            <a:solidFill>
              <a:srgbClr val="CBD5E1"/>
            </a:solidFill>
          </a:ln>
        </p:spPr>
      </p:sp>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Giao diện hệ thống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en-US" altLang="en-US" sz="1500" dirty="0" err="1">
                <a:solidFill>
                  <a:srgbClr val="3B82F6"/>
                </a:solidFill>
                <a:latin typeface="Calibri" pitchFamily="34" charset="0"/>
                <a:ea typeface="Calibri" pitchFamily="34" charset="-122"/>
                <a:cs typeface="Calibri" pitchFamily="34" charset="-120"/>
              </a:rPr>
              <a:t>Một</a:t>
            </a:r>
            <a:r>
              <a:rPr lang="en-US" altLang="en-US" sz="1500" dirty="0">
                <a:solidFill>
                  <a:srgbClr val="3B82F6"/>
                </a:solidFill>
                <a:latin typeface="Calibri" pitchFamily="34" charset="0"/>
                <a:ea typeface="Calibri" pitchFamily="34" charset="-122"/>
                <a:cs typeface="Calibri" pitchFamily="34" charset="-120"/>
              </a:rPr>
              <a:t> </a:t>
            </a:r>
            <a:r>
              <a:rPr lang="en-US" altLang="en-US" sz="1500" dirty="0" err="1">
                <a:solidFill>
                  <a:srgbClr val="3B82F6"/>
                </a:solidFill>
                <a:latin typeface="Calibri" pitchFamily="34" charset="0"/>
                <a:ea typeface="Calibri" pitchFamily="34" charset="-122"/>
                <a:cs typeface="Calibri" pitchFamily="34" charset="-120"/>
              </a:rPr>
              <a:t>số</a:t>
            </a:r>
            <a:r>
              <a:rPr lang="vi-VN" altLang="en-US" sz="1500" dirty="0">
                <a:solidFill>
                  <a:srgbClr val="3B82F6"/>
                </a:solidFill>
                <a:latin typeface="Calibri" pitchFamily="34" charset="0"/>
                <a:ea typeface="Calibri" pitchFamily="34" charset="-122"/>
                <a:cs typeface="Calibri" pitchFamily="34" charset="-120"/>
              </a:rPr>
              <a:t> màn hình tiêu biểu</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18</a:t>
            </a:r>
            <a:endParaRPr lang="vi-VN" sz="900" dirty="0"/>
          </a:p>
        </p:txBody>
      </p:sp>
      <p:sp>
        <p:nvSpPr>
          <p:cNvPr id="9" name="Shape 6"/>
          <p:cNvSpPr/>
          <p:nvPr/>
        </p:nvSpPr>
        <p:spPr>
          <a:xfrm>
            <a:off x="493776" y="1381780"/>
            <a:ext cx="2624328" cy="1214080"/>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0" name="Image 0" descr="u2/image8.png"/>
          <p:cNvPicPr>
            <a:picLocks noChangeAspect="1"/>
          </p:cNvPicPr>
          <p:nvPr/>
        </p:nvPicPr>
        <p:blipFill>
          <a:blip r:embed="rId3"/>
          <a:stretch>
            <a:fillRect/>
          </a:stretch>
        </p:blipFill>
        <p:spPr>
          <a:xfrm>
            <a:off x="502920" y="1390924"/>
            <a:ext cx="2606040" cy="1195792"/>
          </a:xfrm>
          <a:prstGeom prst="rect">
            <a:avLst/>
          </a:prstGeom>
        </p:spPr>
      </p:pic>
      <p:sp>
        <p:nvSpPr>
          <p:cNvPr id="11" name="Text 7"/>
          <p:cNvSpPr txBox="1"/>
          <p:nvPr/>
        </p:nvSpPr>
        <p:spPr>
          <a:xfrm>
            <a:off x="502920" y="2715768"/>
            <a:ext cx="26060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Đăng nhập</a:t>
            </a:r>
            <a:endParaRPr lang="vi-VN" sz="1300" dirty="0"/>
          </a:p>
        </p:txBody>
      </p:sp>
      <p:sp>
        <p:nvSpPr>
          <p:cNvPr id="12" name="Shape 8"/>
          <p:cNvSpPr/>
          <p:nvPr/>
        </p:nvSpPr>
        <p:spPr>
          <a:xfrm>
            <a:off x="3255264" y="1355695"/>
            <a:ext cx="2624328" cy="1266251"/>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7.png"/>
          <p:cNvPicPr>
            <a:picLocks noChangeAspect="1"/>
          </p:cNvPicPr>
          <p:nvPr/>
        </p:nvPicPr>
        <p:blipFill>
          <a:blip r:embed="rId4"/>
          <a:stretch>
            <a:fillRect/>
          </a:stretch>
        </p:blipFill>
        <p:spPr>
          <a:xfrm>
            <a:off x="3264408" y="1364839"/>
            <a:ext cx="2606040" cy="1247963"/>
          </a:xfrm>
          <a:prstGeom prst="rect">
            <a:avLst/>
          </a:prstGeom>
        </p:spPr>
      </p:pic>
      <p:sp>
        <p:nvSpPr>
          <p:cNvPr id="14" name="Text 9"/>
          <p:cNvSpPr txBox="1"/>
          <p:nvPr/>
        </p:nvSpPr>
        <p:spPr>
          <a:xfrm>
            <a:off x="3264408" y="2715768"/>
            <a:ext cx="26060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Dò vé số của USER</a:t>
            </a:r>
            <a:endParaRPr lang="vi-VN" sz="1300" dirty="0"/>
          </a:p>
        </p:txBody>
      </p:sp>
      <p:sp>
        <p:nvSpPr>
          <p:cNvPr id="15" name="Shape 10"/>
          <p:cNvSpPr/>
          <p:nvPr/>
        </p:nvSpPr>
        <p:spPr>
          <a:xfrm>
            <a:off x="6016752" y="1359773"/>
            <a:ext cx="2624328" cy="1258094"/>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6" name="Image 2" descr="u2/image18.png"/>
          <p:cNvPicPr>
            <a:picLocks noChangeAspect="1"/>
          </p:cNvPicPr>
          <p:nvPr/>
        </p:nvPicPr>
        <p:blipFill>
          <a:blip r:embed="rId5"/>
          <a:stretch>
            <a:fillRect/>
          </a:stretch>
        </p:blipFill>
        <p:spPr>
          <a:xfrm>
            <a:off x="6025896" y="1368917"/>
            <a:ext cx="2606040" cy="1239806"/>
          </a:xfrm>
          <a:prstGeom prst="rect">
            <a:avLst/>
          </a:prstGeom>
        </p:spPr>
      </p:pic>
      <p:sp>
        <p:nvSpPr>
          <p:cNvPr id="17" name="Text 11"/>
          <p:cNvSpPr txBox="1"/>
          <p:nvPr/>
        </p:nvSpPr>
        <p:spPr>
          <a:xfrm>
            <a:off x="6025896" y="2715768"/>
            <a:ext cx="26060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Lịch sử dò vé</a:t>
            </a:r>
            <a:endParaRPr lang="vi-VN" sz="1300" dirty="0"/>
          </a:p>
        </p:txBody>
      </p:sp>
      <p:sp>
        <p:nvSpPr>
          <p:cNvPr id="18" name="Shape 12"/>
          <p:cNvSpPr/>
          <p:nvPr/>
        </p:nvSpPr>
        <p:spPr>
          <a:xfrm>
            <a:off x="493776" y="3119140"/>
            <a:ext cx="2624328" cy="1214080"/>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9" name="Image 3" descr="u2/image11.png"/>
          <p:cNvPicPr>
            <a:picLocks noChangeAspect="1"/>
          </p:cNvPicPr>
          <p:nvPr/>
        </p:nvPicPr>
        <p:blipFill>
          <a:blip r:embed="rId6"/>
          <a:stretch>
            <a:fillRect/>
          </a:stretch>
        </p:blipFill>
        <p:spPr>
          <a:xfrm>
            <a:off x="502920" y="3128284"/>
            <a:ext cx="2606040" cy="1195792"/>
          </a:xfrm>
          <a:prstGeom prst="rect">
            <a:avLst/>
          </a:prstGeom>
        </p:spPr>
      </p:pic>
      <p:sp>
        <p:nvSpPr>
          <p:cNvPr id="20" name="Text 13"/>
          <p:cNvSpPr txBox="1"/>
          <p:nvPr/>
        </p:nvSpPr>
        <p:spPr>
          <a:xfrm>
            <a:off x="502920" y="4453128"/>
            <a:ext cx="26060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Quản lý người dùng</a:t>
            </a:r>
            <a:endParaRPr lang="vi-VN" sz="1300" dirty="0"/>
          </a:p>
        </p:txBody>
      </p:sp>
      <p:sp>
        <p:nvSpPr>
          <p:cNvPr id="21" name="Shape 14"/>
          <p:cNvSpPr/>
          <p:nvPr/>
        </p:nvSpPr>
        <p:spPr>
          <a:xfrm>
            <a:off x="3255264" y="3119140"/>
            <a:ext cx="2624328" cy="1214080"/>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22" name="Image 4" descr="u2/image13.png"/>
          <p:cNvPicPr>
            <a:picLocks noChangeAspect="1"/>
          </p:cNvPicPr>
          <p:nvPr/>
        </p:nvPicPr>
        <p:blipFill>
          <a:blip r:embed="rId7"/>
          <a:stretch>
            <a:fillRect/>
          </a:stretch>
        </p:blipFill>
        <p:spPr>
          <a:xfrm>
            <a:off x="3264408" y="3128284"/>
            <a:ext cx="2606040" cy="1195792"/>
          </a:xfrm>
          <a:prstGeom prst="rect">
            <a:avLst/>
          </a:prstGeom>
        </p:spPr>
      </p:pic>
      <p:sp>
        <p:nvSpPr>
          <p:cNvPr id="23" name="Text 15"/>
          <p:cNvSpPr txBox="1"/>
          <p:nvPr/>
        </p:nvSpPr>
        <p:spPr>
          <a:xfrm>
            <a:off x="3264408" y="4453128"/>
            <a:ext cx="26060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Thêm vé dò</a:t>
            </a:r>
            <a:endParaRPr lang="vi-VN" sz="1300" dirty="0"/>
          </a:p>
        </p:txBody>
      </p:sp>
      <p:sp>
        <p:nvSpPr>
          <p:cNvPr id="24" name="Shape 16"/>
          <p:cNvSpPr/>
          <p:nvPr/>
        </p:nvSpPr>
        <p:spPr>
          <a:xfrm>
            <a:off x="6016752" y="3121854"/>
            <a:ext cx="2624328" cy="1208651"/>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25" name="Image 5" descr="u2/image19.png"/>
          <p:cNvPicPr>
            <a:picLocks noChangeAspect="1"/>
          </p:cNvPicPr>
          <p:nvPr/>
        </p:nvPicPr>
        <p:blipFill>
          <a:blip r:embed="rId8"/>
          <a:stretch>
            <a:fillRect/>
          </a:stretch>
        </p:blipFill>
        <p:spPr>
          <a:xfrm>
            <a:off x="6025896" y="3130998"/>
            <a:ext cx="2606040" cy="1190363"/>
          </a:xfrm>
          <a:prstGeom prst="rect">
            <a:avLst/>
          </a:prstGeom>
        </p:spPr>
      </p:pic>
      <p:sp>
        <p:nvSpPr>
          <p:cNvPr id="26" name="Text 17"/>
          <p:cNvSpPr txBox="1"/>
          <p:nvPr/>
        </p:nvSpPr>
        <p:spPr>
          <a:xfrm>
            <a:off x="6025896" y="4453128"/>
            <a:ext cx="2606040" cy="274320"/>
          </a:xfrm>
          <a:prstGeom prst="rect">
            <a:avLst/>
          </a:prstGeom>
          <a:noFill/>
          <a:ln/>
        </p:spPr>
        <p:txBody>
          <a:bodyPr wrap="square" lIns="0" tIns="0" rIns="0" bIns="0" rtlCol="0" anchor="t"/>
          <a:lstStyle/>
          <a:p>
            <a:pPr marL="0" indent="0">
              <a:buNone/>
            </a:pPr>
            <a:r>
              <a:rPr lang="vi-VN" altLang="en-US" sz="1300" b="1" dirty="0">
                <a:solidFill>
                  <a:srgbClr val="0F2A5C"/>
                </a:solidFill>
                <a:latin typeface="Calibri" pitchFamily="34" charset="0"/>
                <a:ea typeface="Calibri" pitchFamily="34" charset="-122"/>
                <a:cs typeface="Calibri" pitchFamily="34" charset="-120"/>
              </a:rPr>
              <a:t>Đề xuất số nên mua</a:t>
            </a:r>
            <a:endParaRPr lang="vi-VN"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Tài khoản và mật khẩu</a:t>
            </a:r>
            <a:endParaRPr lang="vi-VN" sz="28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1</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21</a:t>
            </a:r>
            <a:endParaRPr lang="vi-VN" sz="900" dirty="0"/>
          </a:p>
        </p:txBody>
      </p:sp>
      <p:sp>
        <p:nvSpPr>
          <p:cNvPr id="12" name="Shape 8"/>
          <p:cNvSpPr/>
          <p:nvPr/>
        </p:nvSpPr>
        <p:spPr>
          <a:xfrm>
            <a:off x="493776" y="1541800"/>
            <a:ext cx="2624328" cy="1214080"/>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8.png"/>
          <p:cNvPicPr>
            <a:picLocks noChangeAspect="1"/>
          </p:cNvPicPr>
          <p:nvPr/>
        </p:nvPicPr>
        <p:blipFill>
          <a:blip r:embed="rId4"/>
          <a:stretch>
            <a:fillRect/>
          </a:stretch>
        </p:blipFill>
        <p:spPr>
          <a:xfrm>
            <a:off x="502920" y="1550944"/>
            <a:ext cx="2606040" cy="1195792"/>
          </a:xfrm>
          <a:prstGeom prst="rect">
            <a:avLst/>
          </a:prstGeom>
        </p:spPr>
      </p:pic>
      <p:sp>
        <p:nvSpPr>
          <p:cNvPr id="14" name="Text 9"/>
          <p:cNvSpPr txBox="1"/>
          <p:nvPr/>
        </p:nvSpPr>
        <p:spPr>
          <a:xfrm>
            <a:off x="502920" y="3017520"/>
            <a:ext cx="2606040" cy="274320"/>
          </a:xfrm>
          <a:prstGeom prst="rect">
            <a:avLst/>
          </a:prstGeom>
          <a:noFill/>
          <a:ln/>
        </p:spPr>
        <p:txBody>
          <a:bodyPr wrap="square" lIns="0" tIns="0" rIns="0" bIns="0" rtlCol="0" anchor="t"/>
          <a:lstStyle/>
          <a:p>
            <a:pPr marL="0" indent="0">
              <a:buNone/>
            </a:pPr>
            <a:r>
              <a:rPr lang="vi-VN" altLang="en-US" sz="1400" b="1" dirty="0">
                <a:solidFill>
                  <a:srgbClr val="0F2A5C"/>
                </a:solidFill>
                <a:latin typeface="Calibri" pitchFamily="34" charset="0"/>
                <a:ea typeface="Calibri" pitchFamily="34" charset="-122"/>
                <a:cs typeface="Calibri" pitchFamily="34" charset="-120"/>
              </a:rPr>
              <a:t>Đăng nhập</a:t>
            </a:r>
            <a:endParaRPr lang="vi-VN" sz="1400" dirty="0"/>
          </a:p>
        </p:txBody>
      </p:sp>
      <p:pic>
        <p:nvPicPr>
          <p:cNvPr id="16" name="Image 2" descr="u2/image9.png"/>
          <p:cNvPicPr>
            <a:picLocks noChangeAspect="1"/>
          </p:cNvPicPr>
          <p:nvPr/>
        </p:nvPicPr>
        <p:blipFill>
          <a:blip r:embed="rId5"/>
          <a:stretch>
            <a:fillRect/>
          </a:stretch>
        </p:blipFill>
        <p:spPr>
          <a:xfrm>
            <a:off x="6016752" y="1554308"/>
            <a:ext cx="2606040" cy="1193078"/>
          </a:xfrm>
          <a:prstGeom prst="rect">
            <a:avLst/>
          </a:prstGeom>
        </p:spPr>
      </p:pic>
      <p:sp>
        <p:nvSpPr>
          <p:cNvPr id="17" name="Text 11"/>
          <p:cNvSpPr txBox="1"/>
          <p:nvPr/>
        </p:nvSpPr>
        <p:spPr>
          <a:xfrm>
            <a:off x="3264408" y="3017520"/>
            <a:ext cx="2606040" cy="274320"/>
          </a:xfrm>
          <a:prstGeom prst="rect">
            <a:avLst/>
          </a:prstGeom>
          <a:noFill/>
          <a:ln/>
        </p:spPr>
        <p:txBody>
          <a:bodyPr wrap="square" lIns="0" tIns="0" rIns="0" bIns="0" rtlCol="0" anchor="t"/>
          <a:lstStyle/>
          <a:p>
            <a:r>
              <a:rPr lang="vi-VN" sz="1400" b="1" dirty="0"/>
              <a:t>Đ</a:t>
            </a:r>
            <a:r>
              <a:rPr lang="en-US" sz="1400" b="1" dirty="0" err="1"/>
              <a:t>ăng</a:t>
            </a:r>
            <a:r>
              <a:rPr lang="en-US" sz="1400" b="1" dirty="0"/>
              <a:t> </a:t>
            </a:r>
            <a:r>
              <a:rPr lang="en-US" sz="1400" b="1" dirty="0" err="1"/>
              <a:t>ký</a:t>
            </a:r>
            <a:endParaRPr lang="vi-VN" sz="1400" dirty="0"/>
          </a:p>
          <a:p>
            <a:pPr marL="0" indent="0">
              <a:buNone/>
            </a:pPr>
            <a:endParaRPr lang="vi-VN" sz="1400" dirty="0"/>
          </a:p>
        </p:txBody>
      </p:sp>
      <p:sp>
        <p:nvSpPr>
          <p:cNvPr id="20" name="Text 13"/>
          <p:cNvSpPr txBox="1"/>
          <p:nvPr/>
        </p:nvSpPr>
        <p:spPr>
          <a:xfrm>
            <a:off x="6025896" y="3017520"/>
            <a:ext cx="2606040" cy="274320"/>
          </a:xfrm>
          <a:prstGeom prst="rect">
            <a:avLst/>
          </a:prstGeom>
          <a:noFill/>
          <a:ln/>
        </p:spPr>
        <p:txBody>
          <a:bodyPr wrap="square" lIns="0" tIns="0" rIns="0" bIns="0" rtlCol="0" anchor="t"/>
          <a:lstStyle/>
          <a:p>
            <a:r>
              <a:rPr lang="vi-VN" altLang="en-US" sz="1400" b="1" dirty="0">
                <a:solidFill>
                  <a:srgbClr val="0F2A5C"/>
                </a:solidFill>
                <a:latin typeface="Calibri" pitchFamily="34" charset="0"/>
                <a:ea typeface="Calibri" pitchFamily="34" charset="-122"/>
                <a:cs typeface="Calibri" pitchFamily="34" charset="-120"/>
              </a:rPr>
              <a:t>Quên mật khẩu</a:t>
            </a:r>
            <a:endParaRPr lang="vi-VN" sz="1400" dirty="0"/>
          </a:p>
          <a:p>
            <a:pPr marL="0" indent="0">
              <a:buNone/>
            </a:pPr>
            <a:endParaRPr lang="vi-VN" sz="1400" dirty="0"/>
          </a:p>
        </p:txBody>
      </p:sp>
      <p:sp>
        <p:nvSpPr>
          <p:cNvPr id="21" name="Text 14"/>
          <p:cNvSpPr txBox="1"/>
          <p:nvPr/>
        </p:nvSpPr>
        <p:spPr>
          <a:xfrm>
            <a:off x="502920" y="3474720"/>
            <a:ext cx="8183880" cy="1280160"/>
          </a:xfrm>
          <a:prstGeom prst="rect">
            <a:avLst/>
          </a:prstGeom>
          <a:noFill/>
          <a:ln/>
        </p:spPr>
        <p:txBody>
          <a:bodyPr wrap="square" lIns="0" tIns="0" rIns="0" bIns="0" rtlCol="0" anchor="t"/>
          <a:lstStyle/>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Đăng nhập: ADMIN vào Quản lý người dùng, USER vào trang Dò vé; tài khoản bị khoá bị từ chối</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Quên mật khẩu: gửi liên kết đặt lại qua email</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hiệu</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lực</a:t>
            </a:r>
            <a:r>
              <a:rPr lang="en-US" altLang="en-US" sz="1350" dirty="0">
                <a:solidFill>
                  <a:srgbClr val="1F2937"/>
                </a:solidFill>
                <a:latin typeface="Calibri" pitchFamily="34" charset="0"/>
                <a:ea typeface="Calibri" pitchFamily="34" charset="-122"/>
                <a:cs typeface="Calibri" pitchFamily="34" charset="-120"/>
              </a:rPr>
              <a:t> 30 </a:t>
            </a:r>
            <a:r>
              <a:rPr lang="en-US" altLang="en-US" sz="1350" dirty="0" err="1">
                <a:solidFill>
                  <a:srgbClr val="1F2937"/>
                </a:solidFill>
                <a:latin typeface="Calibri" pitchFamily="34" charset="0"/>
                <a:ea typeface="Calibri" pitchFamily="34" charset="-122"/>
                <a:cs typeface="Calibri" pitchFamily="34" charset="-120"/>
              </a:rPr>
              <a:t>phút</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Mật khẩu tối thiểu 6 ký tự</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có</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mã</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hóa</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trước</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khi</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lưu</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dưới</a:t>
            </a:r>
            <a:r>
              <a:rPr lang="en-US" altLang="en-US" sz="1350" dirty="0">
                <a:solidFill>
                  <a:srgbClr val="1F2937"/>
                </a:solidFill>
                <a:latin typeface="Calibri" pitchFamily="34" charset="0"/>
                <a:ea typeface="Calibri" pitchFamily="34" charset="-122"/>
                <a:cs typeface="Calibri" pitchFamily="34" charset="-120"/>
              </a:rPr>
              <a:t> DB</a:t>
            </a:r>
            <a:endParaRPr lang="vi-VN" sz="1350" dirty="0"/>
          </a:p>
        </p:txBody>
      </p:sp>
      <p:pic>
        <p:nvPicPr>
          <p:cNvPr id="11" name="Picture 10">
            <a:extLst>
              <a:ext uri="{FF2B5EF4-FFF2-40B4-BE49-F238E27FC236}">
                <a16:creationId xmlns:a16="http://schemas.microsoft.com/office/drawing/2014/main" id="{95A1B8F3-29DB-62B3-F4C4-9450408EC07E}"/>
              </a:ext>
            </a:extLst>
          </p:cNvPr>
          <p:cNvPicPr>
            <a:picLocks noChangeAspect="1"/>
          </p:cNvPicPr>
          <p:nvPr/>
        </p:nvPicPr>
        <p:blipFill>
          <a:blip r:embed="rId6"/>
          <a:stretch>
            <a:fillRect/>
          </a:stretch>
        </p:blipFill>
        <p:spPr>
          <a:xfrm>
            <a:off x="3264408" y="1550944"/>
            <a:ext cx="2624328" cy="12069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ADMIN quản lý người dùng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Tìm, lọc, khoá và phân quyền trên một màn hình</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1</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22</a:t>
            </a:r>
            <a:endParaRPr lang="vi-VN" sz="900" dirty="0"/>
          </a:p>
        </p:txBody>
      </p:sp>
      <p:sp>
        <p:nvSpPr>
          <p:cNvPr id="12" name="Shape 8"/>
          <p:cNvSpPr/>
          <p:nvPr/>
        </p:nvSpPr>
        <p:spPr>
          <a:xfrm>
            <a:off x="493776" y="1583984"/>
            <a:ext cx="5230368" cy="2409873"/>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1.png"/>
          <p:cNvPicPr>
            <a:picLocks noChangeAspect="1"/>
          </p:cNvPicPr>
          <p:nvPr/>
        </p:nvPicPr>
        <p:blipFill>
          <a:blip r:embed="rId4"/>
          <a:stretch>
            <a:fillRect/>
          </a:stretch>
        </p:blipFill>
        <p:spPr>
          <a:xfrm>
            <a:off x="502920" y="1593128"/>
            <a:ext cx="5212080" cy="2391585"/>
          </a:xfrm>
          <a:prstGeom prst="rect">
            <a:avLst/>
          </a:prstGeom>
        </p:spPr>
      </p:pic>
      <p:sp>
        <p:nvSpPr>
          <p:cNvPr id="14" name="Text 9"/>
          <p:cNvSpPr txBox="1"/>
          <p:nvPr/>
        </p:nvSpPr>
        <p:spPr>
          <a:xfrm>
            <a:off x="5943600" y="1417320"/>
            <a:ext cx="2743200" cy="2743200"/>
          </a:xfrm>
          <a:prstGeom prst="rect">
            <a:avLst/>
          </a:prstGeom>
          <a:noFill/>
          <a:ln/>
        </p:spPr>
        <p:txBody>
          <a:bodyPr wrap="square" lIns="0" tIns="0" rIns="0" bIns="0" rtlCol="0" anchor="t"/>
          <a:lstStyle/>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Tìm theo id, họ tên, số điện thoại, email</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Lọc ROLE, trạng thái, thời gian không đăng nhập</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Đổi ROLE hoặc khoá, bấm "Lưu thay đổi"</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Phân trang phía server</a:t>
            </a:r>
            <a:endParaRPr lang="vi-VN"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Danh sách và thêm vé dò</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ADMIN lấy kết quả từ nguồn ngoài, xem trước rồi mới lưu</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2</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23</a:t>
            </a:r>
            <a:endParaRPr lang="vi-VN" sz="900" dirty="0"/>
          </a:p>
        </p:txBody>
      </p:sp>
      <p:sp>
        <p:nvSpPr>
          <p:cNvPr id="12" name="Shape 8"/>
          <p:cNvSpPr/>
          <p:nvPr/>
        </p:nvSpPr>
        <p:spPr>
          <a:xfrm>
            <a:off x="493776" y="1364448"/>
            <a:ext cx="3995928" cy="1843103"/>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2.png"/>
          <p:cNvPicPr>
            <a:picLocks noChangeAspect="1"/>
          </p:cNvPicPr>
          <p:nvPr/>
        </p:nvPicPr>
        <p:blipFill>
          <a:blip r:embed="rId4"/>
          <a:stretch>
            <a:fillRect/>
          </a:stretch>
        </p:blipFill>
        <p:spPr>
          <a:xfrm>
            <a:off x="502920" y="1373592"/>
            <a:ext cx="3977640" cy="1824815"/>
          </a:xfrm>
          <a:prstGeom prst="rect">
            <a:avLst/>
          </a:prstGeom>
        </p:spPr>
      </p:pic>
      <p:sp>
        <p:nvSpPr>
          <p:cNvPr id="14" name="Shape 9"/>
          <p:cNvSpPr/>
          <p:nvPr/>
        </p:nvSpPr>
        <p:spPr>
          <a:xfrm>
            <a:off x="4700016" y="1364278"/>
            <a:ext cx="3995928" cy="1843445"/>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5" name="Image 2" descr="u2/image13.png"/>
          <p:cNvPicPr>
            <a:picLocks noChangeAspect="1"/>
          </p:cNvPicPr>
          <p:nvPr/>
        </p:nvPicPr>
        <p:blipFill>
          <a:blip r:embed="rId5"/>
          <a:stretch>
            <a:fillRect/>
          </a:stretch>
        </p:blipFill>
        <p:spPr>
          <a:xfrm>
            <a:off x="4709160" y="1373422"/>
            <a:ext cx="3977640" cy="1825157"/>
          </a:xfrm>
          <a:prstGeom prst="rect">
            <a:avLst/>
          </a:prstGeom>
        </p:spPr>
      </p:pic>
      <p:sp>
        <p:nvSpPr>
          <p:cNvPr id="16" name="Text 10"/>
          <p:cNvSpPr txBox="1"/>
          <p:nvPr/>
        </p:nvSpPr>
        <p:spPr>
          <a:xfrm>
            <a:off x="502920" y="3337560"/>
            <a:ext cx="3931920" cy="274320"/>
          </a:xfrm>
          <a:prstGeom prst="rect">
            <a:avLst/>
          </a:prstGeom>
          <a:noFill/>
          <a:ln/>
        </p:spPr>
        <p:txBody>
          <a:bodyPr wrap="square" lIns="0" tIns="0" rIns="0" bIns="0" rtlCol="0" anchor="t"/>
          <a:lstStyle/>
          <a:p>
            <a:pPr marL="0" indent="0">
              <a:buNone/>
            </a:pPr>
            <a:r>
              <a:rPr lang="vi-VN" altLang="en-US" sz="1500" b="1" dirty="0">
                <a:solidFill>
                  <a:srgbClr val="0F2A5C"/>
                </a:solidFill>
                <a:latin typeface="Calibri" pitchFamily="34" charset="0"/>
                <a:ea typeface="Calibri" pitchFamily="34" charset="-122"/>
                <a:cs typeface="Calibri" pitchFamily="34" charset="-120"/>
              </a:rPr>
              <a:t>Danh sách vé dò</a:t>
            </a:r>
            <a:endParaRPr lang="vi-VN" sz="1500" dirty="0"/>
          </a:p>
        </p:txBody>
      </p:sp>
      <p:sp>
        <p:nvSpPr>
          <p:cNvPr id="17" name="Text 11"/>
          <p:cNvSpPr txBox="1"/>
          <p:nvPr/>
        </p:nvSpPr>
        <p:spPr>
          <a:xfrm>
            <a:off x="502920" y="3703320"/>
            <a:ext cx="3931920" cy="100584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Lọc miền, tỉnh, khoảng ngày, trạng thái</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Publish hoặc xem chi tiết từng vé</a:t>
            </a:r>
            <a:endParaRPr lang="vi-VN" sz="1300" dirty="0"/>
          </a:p>
        </p:txBody>
      </p:sp>
      <p:sp>
        <p:nvSpPr>
          <p:cNvPr id="18" name="Text 12"/>
          <p:cNvSpPr txBox="1"/>
          <p:nvPr/>
        </p:nvSpPr>
        <p:spPr>
          <a:xfrm>
            <a:off x="4709160" y="3337560"/>
            <a:ext cx="3931920" cy="274320"/>
          </a:xfrm>
          <a:prstGeom prst="rect">
            <a:avLst/>
          </a:prstGeom>
          <a:noFill/>
          <a:ln/>
        </p:spPr>
        <p:txBody>
          <a:bodyPr wrap="square" lIns="0" tIns="0" rIns="0" bIns="0" rtlCol="0" anchor="t"/>
          <a:lstStyle/>
          <a:p>
            <a:pPr marL="0" indent="0">
              <a:buNone/>
            </a:pPr>
            <a:r>
              <a:rPr lang="vi-VN" altLang="en-US" sz="1500" b="1" dirty="0">
                <a:solidFill>
                  <a:srgbClr val="0F2A5C"/>
                </a:solidFill>
                <a:latin typeface="Calibri" pitchFamily="34" charset="0"/>
                <a:ea typeface="Calibri" pitchFamily="34" charset="-122"/>
                <a:cs typeface="Calibri" pitchFamily="34" charset="-120"/>
              </a:rPr>
              <a:t>Thêm vé dò mới</a:t>
            </a:r>
            <a:endParaRPr lang="vi-VN" sz="1500" dirty="0"/>
          </a:p>
        </p:txBody>
      </p:sp>
      <p:sp>
        <p:nvSpPr>
          <p:cNvPr id="19" name="Text 13"/>
          <p:cNvSpPr txBox="1"/>
          <p:nvPr/>
        </p:nvSpPr>
        <p:spPr>
          <a:xfrm>
            <a:off x="4709160" y="3703320"/>
            <a:ext cx="3977640" cy="100584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Lấy kết quả từ </a:t>
            </a:r>
            <a:r>
              <a:rPr lang="en-US" altLang="en-US" sz="1300" dirty="0" err="1">
                <a:solidFill>
                  <a:srgbClr val="1F2937"/>
                </a:solidFill>
                <a:latin typeface="Calibri" pitchFamily="34" charset="0"/>
                <a:ea typeface="Calibri" pitchFamily="34" charset="-122"/>
                <a:cs typeface="Calibri" pitchFamily="34" charset="-120"/>
              </a:rPr>
              <a:t>nguồn</a:t>
            </a:r>
            <a:r>
              <a:rPr lang="en-US" altLang="en-US" sz="1300" dirty="0">
                <a:solidFill>
                  <a:srgbClr val="1F2937"/>
                </a:solidFill>
                <a:latin typeface="Calibri" pitchFamily="34" charset="0"/>
                <a:ea typeface="Calibri" pitchFamily="34" charset="-122"/>
                <a:cs typeface="Calibri" pitchFamily="34" charset="-120"/>
              </a:rPr>
              <a:t> </a:t>
            </a:r>
            <a:r>
              <a:rPr lang="en-US" altLang="en-US" sz="1300" dirty="0" err="1">
                <a:solidFill>
                  <a:srgbClr val="1F2937"/>
                </a:solidFill>
                <a:latin typeface="Calibri" pitchFamily="34" charset="0"/>
                <a:ea typeface="Calibri" pitchFamily="34" charset="-122"/>
                <a:cs typeface="Calibri" pitchFamily="34" charset="-120"/>
              </a:rPr>
              <a:t>dữ</a:t>
            </a:r>
            <a:r>
              <a:rPr lang="en-US" altLang="en-US" sz="1300" dirty="0">
                <a:solidFill>
                  <a:srgbClr val="1F2937"/>
                </a:solidFill>
                <a:latin typeface="Calibri" pitchFamily="34" charset="0"/>
                <a:ea typeface="Calibri" pitchFamily="34" charset="-122"/>
                <a:cs typeface="Calibri" pitchFamily="34" charset="-120"/>
              </a:rPr>
              <a:t> </a:t>
            </a:r>
            <a:r>
              <a:rPr lang="en-US" altLang="en-US" sz="1300" dirty="0" err="1">
                <a:solidFill>
                  <a:srgbClr val="1F2937"/>
                </a:solidFill>
                <a:latin typeface="Calibri" pitchFamily="34" charset="0"/>
                <a:ea typeface="Calibri" pitchFamily="34" charset="-122"/>
                <a:cs typeface="Calibri" pitchFamily="34" charset="-120"/>
              </a:rPr>
              <a:t>liệu</a:t>
            </a:r>
            <a:r>
              <a:rPr lang="vi-VN" altLang="en-US" sz="1300" dirty="0">
                <a:solidFill>
                  <a:srgbClr val="1F2937"/>
                </a:solidFill>
                <a:latin typeface="Calibri" pitchFamily="34" charset="0"/>
                <a:ea typeface="Calibri" pitchFamily="34" charset="-122"/>
                <a:cs typeface="Calibri" pitchFamily="34" charset="-120"/>
              </a:rPr>
              <a:t>, xem trước</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Lưu hoặc Lưu và Publish</a:t>
            </a:r>
            <a:endParaRPr lang="vi-VN"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Thêm hàng loạt và chi tiết vé</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Nhập cả khoảng ngày một lần; xem được số lần vé bị dò</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2</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24</a:t>
            </a:r>
            <a:endParaRPr lang="vi-VN" sz="900" dirty="0"/>
          </a:p>
        </p:txBody>
      </p:sp>
      <p:sp>
        <p:nvSpPr>
          <p:cNvPr id="12" name="Shape 8"/>
          <p:cNvSpPr/>
          <p:nvPr/>
        </p:nvSpPr>
        <p:spPr>
          <a:xfrm>
            <a:off x="493776" y="1364363"/>
            <a:ext cx="3995928" cy="1843274"/>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4.png"/>
          <p:cNvPicPr>
            <a:picLocks noChangeAspect="1"/>
          </p:cNvPicPr>
          <p:nvPr/>
        </p:nvPicPr>
        <p:blipFill>
          <a:blip r:embed="rId4"/>
          <a:stretch>
            <a:fillRect/>
          </a:stretch>
        </p:blipFill>
        <p:spPr>
          <a:xfrm>
            <a:off x="502920" y="1373507"/>
            <a:ext cx="3977640" cy="1824986"/>
          </a:xfrm>
          <a:prstGeom prst="rect">
            <a:avLst/>
          </a:prstGeom>
        </p:spPr>
      </p:pic>
      <p:sp>
        <p:nvSpPr>
          <p:cNvPr id="14" name="Shape 9"/>
          <p:cNvSpPr/>
          <p:nvPr/>
        </p:nvSpPr>
        <p:spPr>
          <a:xfrm>
            <a:off x="4700016" y="1365314"/>
            <a:ext cx="3995928" cy="1841373"/>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5" name="Image 2" descr="u2/image15.png"/>
          <p:cNvPicPr>
            <a:picLocks noChangeAspect="1"/>
          </p:cNvPicPr>
          <p:nvPr/>
        </p:nvPicPr>
        <p:blipFill>
          <a:blip r:embed="rId5"/>
          <a:stretch>
            <a:fillRect/>
          </a:stretch>
        </p:blipFill>
        <p:spPr>
          <a:xfrm>
            <a:off x="4709160" y="1374458"/>
            <a:ext cx="3977640" cy="1823085"/>
          </a:xfrm>
          <a:prstGeom prst="rect">
            <a:avLst/>
          </a:prstGeom>
        </p:spPr>
      </p:pic>
      <p:sp>
        <p:nvSpPr>
          <p:cNvPr id="16" name="Text 10"/>
          <p:cNvSpPr txBox="1"/>
          <p:nvPr/>
        </p:nvSpPr>
        <p:spPr>
          <a:xfrm>
            <a:off x="502920" y="3337560"/>
            <a:ext cx="3931920" cy="274320"/>
          </a:xfrm>
          <a:prstGeom prst="rect">
            <a:avLst/>
          </a:prstGeom>
          <a:noFill/>
          <a:ln/>
        </p:spPr>
        <p:txBody>
          <a:bodyPr wrap="square" lIns="0" tIns="0" rIns="0" bIns="0" rtlCol="0" anchor="t"/>
          <a:lstStyle/>
          <a:p>
            <a:pPr marL="0" indent="0">
              <a:buNone/>
            </a:pPr>
            <a:r>
              <a:rPr lang="vi-VN" altLang="en-US" sz="1500" b="1" dirty="0">
                <a:solidFill>
                  <a:srgbClr val="0F2A5C"/>
                </a:solidFill>
                <a:latin typeface="Calibri" pitchFamily="34" charset="0"/>
                <a:ea typeface="Calibri" pitchFamily="34" charset="-122"/>
                <a:cs typeface="Calibri" pitchFamily="34" charset="-120"/>
              </a:rPr>
              <a:t>Thêm hàng loạt</a:t>
            </a:r>
            <a:endParaRPr lang="vi-VN" sz="1500" dirty="0"/>
          </a:p>
        </p:txBody>
      </p:sp>
      <p:sp>
        <p:nvSpPr>
          <p:cNvPr id="17" name="Text 11"/>
          <p:cNvSpPr txBox="1"/>
          <p:nvPr/>
        </p:nvSpPr>
        <p:spPr>
          <a:xfrm>
            <a:off x="502920" y="3703320"/>
            <a:ext cx="3931920" cy="100584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Khoảng ngày trong cùng một tháng</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Lưu tất cả, Publish tất cả hoặc cả hai</a:t>
            </a:r>
            <a:endParaRPr lang="vi-VN" sz="1300" dirty="0"/>
          </a:p>
        </p:txBody>
      </p:sp>
      <p:sp>
        <p:nvSpPr>
          <p:cNvPr id="18" name="Text 12"/>
          <p:cNvSpPr txBox="1"/>
          <p:nvPr/>
        </p:nvSpPr>
        <p:spPr>
          <a:xfrm>
            <a:off x="4709160" y="3337560"/>
            <a:ext cx="3931920" cy="274320"/>
          </a:xfrm>
          <a:prstGeom prst="rect">
            <a:avLst/>
          </a:prstGeom>
          <a:noFill/>
          <a:ln/>
        </p:spPr>
        <p:txBody>
          <a:bodyPr wrap="square" lIns="0" tIns="0" rIns="0" bIns="0" rtlCol="0" anchor="t"/>
          <a:lstStyle/>
          <a:p>
            <a:pPr marL="0" indent="0">
              <a:buNone/>
            </a:pPr>
            <a:r>
              <a:rPr lang="vi-VN" altLang="en-US" sz="1500" b="1" dirty="0">
                <a:solidFill>
                  <a:srgbClr val="0F2A5C"/>
                </a:solidFill>
                <a:latin typeface="Calibri" pitchFamily="34" charset="0"/>
                <a:ea typeface="Calibri" pitchFamily="34" charset="-122"/>
                <a:cs typeface="Calibri" pitchFamily="34" charset="-120"/>
              </a:rPr>
              <a:t>Chi tiết vé dò</a:t>
            </a:r>
            <a:endParaRPr lang="vi-VN" sz="1500" dirty="0"/>
          </a:p>
        </p:txBody>
      </p:sp>
      <p:sp>
        <p:nvSpPr>
          <p:cNvPr id="19" name="Text 13"/>
          <p:cNvSpPr txBox="1"/>
          <p:nvPr/>
        </p:nvSpPr>
        <p:spPr>
          <a:xfrm>
            <a:off x="4709160" y="3710247"/>
            <a:ext cx="3977640" cy="100584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Hiển thị các giải của ngày</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Số lần vé được người dùng dò</a:t>
            </a:r>
            <a:endParaRPr lang="vi-VN"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Dò vé số</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Cùng một thuật toán đối chiếu, khác nhau ở số vé và lịch sử</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3</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25</a:t>
            </a:r>
            <a:endParaRPr lang="vi-VN" sz="900" dirty="0"/>
          </a:p>
        </p:txBody>
      </p:sp>
      <p:sp>
        <p:nvSpPr>
          <p:cNvPr id="12" name="Shape 8"/>
          <p:cNvSpPr/>
          <p:nvPr/>
        </p:nvSpPr>
        <p:spPr>
          <a:xfrm>
            <a:off x="565757" y="1362456"/>
            <a:ext cx="3851965" cy="1847088"/>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6.png"/>
          <p:cNvPicPr>
            <a:picLocks noChangeAspect="1"/>
          </p:cNvPicPr>
          <p:nvPr/>
        </p:nvPicPr>
        <p:blipFill>
          <a:blip r:embed="rId4"/>
          <a:stretch>
            <a:fillRect/>
          </a:stretch>
        </p:blipFill>
        <p:spPr>
          <a:xfrm>
            <a:off x="574901" y="1371600"/>
            <a:ext cx="3833677" cy="1828800"/>
          </a:xfrm>
          <a:prstGeom prst="rect">
            <a:avLst/>
          </a:prstGeom>
        </p:spPr>
      </p:pic>
      <p:sp>
        <p:nvSpPr>
          <p:cNvPr id="14" name="Shape 9"/>
          <p:cNvSpPr/>
          <p:nvPr/>
        </p:nvSpPr>
        <p:spPr>
          <a:xfrm>
            <a:off x="4779354" y="1362456"/>
            <a:ext cx="3837253" cy="1847088"/>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5" name="Image 2" descr="u2/image17.png"/>
          <p:cNvPicPr>
            <a:picLocks noChangeAspect="1"/>
          </p:cNvPicPr>
          <p:nvPr/>
        </p:nvPicPr>
        <p:blipFill>
          <a:blip r:embed="rId5"/>
          <a:stretch>
            <a:fillRect/>
          </a:stretch>
        </p:blipFill>
        <p:spPr>
          <a:xfrm>
            <a:off x="4788498" y="1371600"/>
            <a:ext cx="3818965" cy="1828800"/>
          </a:xfrm>
          <a:prstGeom prst="rect">
            <a:avLst/>
          </a:prstGeom>
        </p:spPr>
      </p:pic>
      <p:sp>
        <p:nvSpPr>
          <p:cNvPr id="16" name="Text 10"/>
          <p:cNvSpPr txBox="1"/>
          <p:nvPr/>
        </p:nvSpPr>
        <p:spPr>
          <a:xfrm>
            <a:off x="502920" y="3337560"/>
            <a:ext cx="3931920" cy="274320"/>
          </a:xfrm>
          <a:prstGeom prst="rect">
            <a:avLst/>
          </a:prstGeom>
          <a:noFill/>
          <a:ln/>
        </p:spPr>
        <p:txBody>
          <a:bodyPr wrap="square" lIns="0" tIns="0" rIns="0" bIns="0" rtlCol="0" anchor="t"/>
          <a:lstStyle/>
          <a:p>
            <a:pPr marL="0" indent="0">
              <a:buNone/>
            </a:pPr>
            <a:r>
              <a:rPr lang="vi-VN" altLang="en-US" sz="1500" b="1" dirty="0">
                <a:solidFill>
                  <a:srgbClr val="0F2A5C"/>
                </a:solidFill>
                <a:latin typeface="Calibri" pitchFamily="34" charset="0"/>
                <a:ea typeface="Calibri" pitchFamily="34" charset="-122"/>
                <a:cs typeface="Calibri" pitchFamily="34" charset="-120"/>
              </a:rPr>
              <a:t>Khách (NO_USER)</a:t>
            </a:r>
            <a:endParaRPr lang="vi-VN" sz="1500" dirty="0"/>
          </a:p>
        </p:txBody>
      </p:sp>
      <p:sp>
        <p:nvSpPr>
          <p:cNvPr id="17" name="Text 11"/>
          <p:cNvSpPr txBox="1"/>
          <p:nvPr/>
        </p:nvSpPr>
        <p:spPr>
          <a:xfrm>
            <a:off x="502920" y="3703320"/>
            <a:ext cx="3931920" cy="100584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Dò 1 số: chọn miền, tỉnh, ngày</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Chỉ dò được vé đã publish; không lưu lịch sử</a:t>
            </a:r>
            <a:endParaRPr lang="vi-VN" sz="1300" dirty="0"/>
          </a:p>
        </p:txBody>
      </p:sp>
      <p:sp>
        <p:nvSpPr>
          <p:cNvPr id="18" name="Text 12"/>
          <p:cNvSpPr txBox="1"/>
          <p:nvPr/>
        </p:nvSpPr>
        <p:spPr>
          <a:xfrm>
            <a:off x="4709160" y="3337560"/>
            <a:ext cx="3931920" cy="274320"/>
          </a:xfrm>
          <a:prstGeom prst="rect">
            <a:avLst/>
          </a:prstGeom>
          <a:noFill/>
          <a:ln/>
        </p:spPr>
        <p:txBody>
          <a:bodyPr wrap="square" lIns="0" tIns="0" rIns="0" bIns="0" rtlCol="0" anchor="t"/>
          <a:lstStyle/>
          <a:p>
            <a:pPr marL="0" indent="0">
              <a:buNone/>
            </a:pPr>
            <a:r>
              <a:rPr lang="vi-VN" altLang="en-US" sz="1500" b="1" dirty="0">
                <a:solidFill>
                  <a:srgbClr val="0F2A5C"/>
                </a:solidFill>
                <a:latin typeface="Calibri" pitchFamily="34" charset="0"/>
                <a:ea typeface="Calibri" pitchFamily="34" charset="-122"/>
                <a:cs typeface="Calibri" pitchFamily="34" charset="-120"/>
              </a:rPr>
              <a:t>Người dùng (USER)</a:t>
            </a:r>
            <a:endParaRPr lang="vi-VN" sz="1500" dirty="0"/>
          </a:p>
        </p:txBody>
      </p:sp>
      <p:sp>
        <p:nvSpPr>
          <p:cNvPr id="19" name="Text 13"/>
          <p:cNvSpPr txBox="1"/>
          <p:nvPr/>
        </p:nvSpPr>
        <p:spPr>
          <a:xfrm>
            <a:off x="4709160" y="3703320"/>
            <a:ext cx="3977640" cy="1005840"/>
          </a:xfrm>
          <a:prstGeom prst="rect">
            <a:avLst/>
          </a:prstGeom>
          <a:noFill/>
          <a:ln/>
        </p:spPr>
        <p:txBody>
          <a:bodyPr wrap="square" lIns="0" tIns="0" rIns="0" bIns="0" rtlCol="0" anchor="t"/>
          <a:lstStyle/>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Mỗi dòng một số, tối đa 20 số</a:t>
            </a:r>
            <a:endParaRPr lang="vi-VN" sz="1300" dirty="0"/>
          </a:p>
          <a:p>
            <a:pPr marL="177800" indent="-177800">
              <a:spcAft>
                <a:spcPts val="600"/>
              </a:spcAft>
              <a:buSzPct val="100000"/>
              <a:buChar char="•"/>
            </a:pPr>
            <a:r>
              <a:rPr lang="vi-VN" altLang="en-US" sz="1300" dirty="0">
                <a:solidFill>
                  <a:srgbClr val="1F2937"/>
                </a:solidFill>
                <a:latin typeface="Calibri" pitchFamily="34" charset="0"/>
                <a:ea typeface="Calibri" pitchFamily="34" charset="-122"/>
                <a:cs typeface="Calibri" pitchFamily="34" charset="-120"/>
              </a:rPr>
              <a:t>Hiển thị giải trúng, số tiền; lưu lịch sử</a:t>
            </a:r>
            <a:endParaRPr lang="vi-VN"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Lịch sử dò vé</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Mỗi lần dò của USER được lưu và lọc lại được</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3</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26</a:t>
            </a:r>
            <a:endParaRPr lang="vi-VN" sz="900" dirty="0"/>
          </a:p>
        </p:txBody>
      </p:sp>
      <p:sp>
        <p:nvSpPr>
          <p:cNvPr id="12" name="Shape 8"/>
          <p:cNvSpPr/>
          <p:nvPr/>
        </p:nvSpPr>
        <p:spPr>
          <a:xfrm>
            <a:off x="493776" y="1539970"/>
            <a:ext cx="5230368" cy="2497900"/>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8.png"/>
          <p:cNvPicPr>
            <a:picLocks noChangeAspect="1"/>
          </p:cNvPicPr>
          <p:nvPr/>
        </p:nvPicPr>
        <p:blipFill>
          <a:blip r:embed="rId4"/>
          <a:stretch>
            <a:fillRect/>
          </a:stretch>
        </p:blipFill>
        <p:spPr>
          <a:xfrm>
            <a:off x="502920" y="1549114"/>
            <a:ext cx="5212080" cy="2479612"/>
          </a:xfrm>
          <a:prstGeom prst="rect">
            <a:avLst/>
          </a:prstGeom>
        </p:spPr>
      </p:pic>
      <p:sp>
        <p:nvSpPr>
          <p:cNvPr id="14" name="Text 9"/>
          <p:cNvSpPr txBox="1"/>
          <p:nvPr/>
        </p:nvSpPr>
        <p:spPr>
          <a:xfrm>
            <a:off x="5943600" y="1549114"/>
            <a:ext cx="2743200" cy="2611406"/>
          </a:xfrm>
          <a:prstGeom prst="rect">
            <a:avLst/>
          </a:prstGeom>
          <a:noFill/>
          <a:ln/>
        </p:spPr>
        <p:txBody>
          <a:bodyPr wrap="square" lIns="0" tIns="0" rIns="0" bIns="0" rtlCol="0" anchor="t"/>
          <a:lstStyle/>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Lọc theo miền, tỉnh, khoảng ngày</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Phân trang 10 dòng mỗi trang</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Lưu tóm tắt kết quả và số tiền trúng</a:t>
            </a:r>
            <a:endParaRPr lang="vi-VN" sz="1350" dirty="0"/>
          </a:p>
        </p:txBody>
      </p:sp>
      <p:sp>
        <p:nvSpPr>
          <p:cNvPr id="15" name="Text 10"/>
          <p:cNvSpPr txBox="1"/>
          <p:nvPr/>
        </p:nvSpPr>
        <p:spPr>
          <a:xfrm>
            <a:off x="502920" y="4389120"/>
            <a:ext cx="8138160" cy="320040"/>
          </a:xfrm>
          <a:prstGeom prst="rect">
            <a:avLst/>
          </a:prstGeom>
          <a:noFill/>
          <a:ln/>
        </p:spPr>
        <p:txBody>
          <a:bodyPr wrap="square" lIns="0" tIns="0" rIns="0" bIns="0" rtlCol="0" anchor="t"/>
          <a:lstStyle/>
          <a:p>
            <a:pPr marL="0" indent="0">
              <a:buNone/>
            </a:pPr>
            <a:r>
              <a:rPr lang="vi-VN" altLang="en-US" sz="1300" i="1" dirty="0">
                <a:solidFill>
                  <a:srgbClr val="64748B"/>
                </a:solidFill>
                <a:latin typeface="Calibri" pitchFamily="34" charset="0"/>
                <a:ea typeface="Calibri" pitchFamily="34" charset="-122"/>
                <a:cs typeface="Calibri" pitchFamily="34" charset="-120"/>
              </a:rPr>
              <a:t>Phân trang phía server (SQL LIMIT/OFFSET) thay cho DataTables</a:t>
            </a:r>
            <a:endParaRPr lang="vi-VN"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Đề xuất số vé số nên mua</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Thống kê tần suất 2 chữ số cuối theo tỉnh</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Chức năng 4</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27</a:t>
            </a:r>
            <a:endParaRPr lang="vi-VN" sz="900" dirty="0"/>
          </a:p>
        </p:txBody>
      </p:sp>
      <p:sp>
        <p:nvSpPr>
          <p:cNvPr id="12" name="Shape 8"/>
          <p:cNvSpPr/>
          <p:nvPr/>
        </p:nvSpPr>
        <p:spPr>
          <a:xfrm>
            <a:off x="493776" y="1589413"/>
            <a:ext cx="5230368" cy="2399014"/>
          </a:xfrm>
          <a:prstGeom prst="rect">
            <a:avLst/>
          </a:prstGeom>
          <a:solidFill>
            <a:srgbClr val="FFFFFF"/>
          </a:solidFill>
          <a:ln w="9525">
            <a:solidFill>
              <a:srgbClr val="D6E2F5"/>
            </a:solidFill>
            <a:prstDash val="solid"/>
          </a:ln>
          <a:effectLst>
            <a:outerShdw blurRad="63500" dist="25400" dir="5400000" algn="bl" rotWithShape="0">
              <a:srgbClr val="000000">
                <a:alpha val="15000"/>
              </a:srgbClr>
            </a:outerShdw>
          </a:effectLst>
        </p:spPr>
      </p:sp>
      <p:pic>
        <p:nvPicPr>
          <p:cNvPr id="13" name="Image 1" descr="u2/image19.png"/>
          <p:cNvPicPr>
            <a:picLocks noChangeAspect="1"/>
          </p:cNvPicPr>
          <p:nvPr/>
        </p:nvPicPr>
        <p:blipFill>
          <a:blip r:embed="rId4"/>
          <a:stretch>
            <a:fillRect/>
          </a:stretch>
        </p:blipFill>
        <p:spPr>
          <a:xfrm>
            <a:off x="502920" y="1598557"/>
            <a:ext cx="5212080" cy="2380726"/>
          </a:xfrm>
          <a:prstGeom prst="rect">
            <a:avLst/>
          </a:prstGeom>
        </p:spPr>
      </p:pic>
      <p:sp>
        <p:nvSpPr>
          <p:cNvPr id="14" name="Shape 9"/>
          <p:cNvSpPr/>
          <p:nvPr/>
        </p:nvSpPr>
        <p:spPr>
          <a:xfrm>
            <a:off x="5937227" y="1589413"/>
            <a:ext cx="457200" cy="457200"/>
          </a:xfrm>
          <a:prstGeom prst="ellipse">
            <a:avLst/>
          </a:prstGeom>
          <a:solidFill>
            <a:srgbClr val="1D4ED8"/>
          </a:solidFill>
          <a:ln w="12700">
            <a:solidFill>
              <a:srgbClr val="1D4ED8"/>
            </a:solidFill>
            <a:prstDash val="solid"/>
          </a:ln>
        </p:spPr>
      </p:sp>
      <p:pic>
        <p:nvPicPr>
          <p:cNvPr id="15" name="Image 2" descr="preencoded.png"/>
          <p:cNvPicPr>
            <a:picLocks noChangeAspect="1"/>
          </p:cNvPicPr>
          <p:nvPr/>
        </p:nvPicPr>
        <p:blipFill>
          <a:blip r:embed="rId5"/>
          <a:stretch>
            <a:fillRect/>
          </a:stretch>
        </p:blipFill>
        <p:spPr>
          <a:xfrm>
            <a:off x="6051527" y="1703713"/>
            <a:ext cx="228600" cy="228600"/>
          </a:xfrm>
          <a:prstGeom prst="rect">
            <a:avLst/>
          </a:prstGeom>
        </p:spPr>
      </p:pic>
      <p:sp>
        <p:nvSpPr>
          <p:cNvPr id="16" name="Text 10"/>
          <p:cNvSpPr txBox="1"/>
          <p:nvPr/>
        </p:nvSpPr>
        <p:spPr>
          <a:xfrm>
            <a:off x="6485867" y="1589413"/>
            <a:ext cx="2194560" cy="457200"/>
          </a:xfrm>
          <a:prstGeom prst="rect">
            <a:avLst/>
          </a:prstGeom>
          <a:noFill/>
          <a:ln/>
        </p:spPr>
        <p:txBody>
          <a:bodyPr wrap="square" lIns="0" tIns="0" rIns="0" bIns="0" rtlCol="0" anchor="ctr"/>
          <a:lstStyle/>
          <a:p>
            <a:pPr marL="0" indent="0">
              <a:buNone/>
            </a:pPr>
            <a:r>
              <a:rPr lang="vi-VN" altLang="en-US" sz="1350" b="1" dirty="0">
                <a:solidFill>
                  <a:srgbClr val="1F2937"/>
                </a:solidFill>
                <a:latin typeface="Calibri" pitchFamily="34" charset="0"/>
                <a:ea typeface="Calibri" pitchFamily="34" charset="-122"/>
                <a:cs typeface="Calibri" pitchFamily="34" charset="-120"/>
              </a:rPr>
              <a:t>Thống kê 2 chữ số cuối</a:t>
            </a:r>
            <a:endParaRPr lang="vi-VN" sz="1350" dirty="0"/>
          </a:p>
        </p:txBody>
      </p:sp>
      <p:sp>
        <p:nvSpPr>
          <p:cNvPr id="17" name="Text 11"/>
          <p:cNvSpPr txBox="1"/>
          <p:nvPr/>
        </p:nvSpPr>
        <p:spPr>
          <a:xfrm>
            <a:off x="5937227" y="2183773"/>
            <a:ext cx="2743200" cy="2011680"/>
          </a:xfrm>
          <a:prstGeom prst="rect">
            <a:avLst/>
          </a:prstGeom>
          <a:noFill/>
          <a:ln/>
        </p:spPr>
        <p:txBody>
          <a:bodyPr wrap="square" lIns="0" tIns="0" rIns="0" bIns="0" rtlCol="0" anchor="t"/>
          <a:lstStyle/>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Top 10 số về nhiều nhất</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Top 10 số lâu chưa về</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Tối đa 50 kỳ gần nhất của tỉnh</a:t>
            </a:r>
            <a:endParaRPr lang="vi-VN"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28</a:t>
            </a:r>
            <a:endParaRPr lang="vi-VN" sz="900" dirty="0"/>
          </a:p>
        </p:txBody>
      </p:sp>
      <p:sp>
        <p:nvSpPr>
          <p:cNvPr id="9" name="Shape 6"/>
          <p:cNvSpPr/>
          <p:nvPr/>
        </p:nvSpPr>
        <p:spPr>
          <a:xfrm>
            <a:off x="502920" y="1170432"/>
            <a:ext cx="4023360" cy="914400"/>
          </a:xfrm>
          <a:prstGeom prst="roundRect">
            <a:avLst>
              <a:gd name="adj" fmla="val 10000"/>
            </a:avLst>
          </a:prstGeom>
          <a:solidFill>
            <a:srgbClr val="F8FAFC"/>
          </a:solidFill>
          <a:ln w="12700">
            <a:solidFill>
              <a:srgbClr val="F1F5F9"/>
            </a:solidFill>
          </a:ln>
        </p:spPr>
      </p:sp>
      <p:sp>
        <p:nvSpPr>
          <p:cNvPr id="10" name="Shape 7"/>
          <p:cNvSpPr/>
          <p:nvPr/>
        </p:nvSpPr>
        <p:spPr>
          <a:xfrm>
            <a:off x="685800" y="1371600"/>
            <a:ext cx="512064" cy="512064"/>
          </a:xfrm>
          <a:prstGeom prst="ellipse">
            <a:avLst/>
          </a:prstGeom>
          <a:solidFill>
            <a:srgbClr val="CBD5E1"/>
          </a:solidFill>
          <a:ln w="12700">
            <a:solidFill>
              <a:srgbClr val="CBD5E1"/>
            </a:solidFill>
          </a:ln>
        </p:spPr>
      </p:sp>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F8FAFC"/>
          </a:solidFill>
          <a:ln w="12700">
            <a:solidFill>
              <a:srgbClr val="F1F5F9"/>
            </a:solidFill>
          </a:ln>
        </p:spPr>
      </p:sp>
      <p:sp>
        <p:nvSpPr>
          <p:cNvPr id="15" name="Shape 11"/>
          <p:cNvSpPr/>
          <p:nvPr/>
        </p:nvSpPr>
        <p:spPr>
          <a:xfrm>
            <a:off x="4892040" y="1371600"/>
            <a:ext cx="512064" cy="512064"/>
          </a:xfrm>
          <a:prstGeom prst="ellipse">
            <a:avLst/>
          </a:prstGeom>
          <a:solidFill>
            <a:srgbClr val="CBD5E1"/>
          </a:solidFill>
          <a:ln w="12700">
            <a:solidFill>
              <a:srgbClr val="CBD5E1"/>
            </a:solidFill>
          </a:ln>
        </p:spPr>
      </p:sp>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F8FAFC"/>
          </a:solidFill>
          <a:ln w="12700">
            <a:solidFill>
              <a:srgbClr val="F1F5F9"/>
            </a:solidFill>
          </a:ln>
        </p:spPr>
      </p:sp>
      <p:sp>
        <p:nvSpPr>
          <p:cNvPr id="20" name="Shape 15"/>
          <p:cNvSpPr/>
          <p:nvPr/>
        </p:nvSpPr>
        <p:spPr>
          <a:xfrm>
            <a:off x="685800" y="2468880"/>
            <a:ext cx="512064" cy="512064"/>
          </a:xfrm>
          <a:prstGeom prst="ellipse">
            <a:avLst/>
          </a:prstGeom>
          <a:solidFill>
            <a:srgbClr val="CBD5E1"/>
          </a:solidFill>
          <a:ln w="12700">
            <a:solidFill>
              <a:srgbClr val="CBD5E1"/>
            </a:solidFill>
          </a:ln>
        </p:spPr>
      </p:sp>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F8FAFC"/>
          </a:solidFill>
          <a:ln w="12700">
            <a:solidFill>
              <a:srgbClr val="F1F5F9"/>
            </a:solidFill>
          </a:ln>
        </p:spPr>
      </p:sp>
      <p:sp>
        <p:nvSpPr>
          <p:cNvPr id="25" name="Shape 19"/>
          <p:cNvSpPr/>
          <p:nvPr/>
        </p:nvSpPr>
        <p:spPr>
          <a:xfrm>
            <a:off x="4892040" y="2468880"/>
            <a:ext cx="512064" cy="512064"/>
          </a:xfrm>
          <a:prstGeom prst="ellipse">
            <a:avLst/>
          </a:prstGeom>
          <a:solidFill>
            <a:srgbClr val="CBD5E1"/>
          </a:solidFill>
          <a:ln w="12700">
            <a:solidFill>
              <a:srgbClr val="CBD5E1"/>
            </a:solidFill>
          </a:ln>
        </p:spPr>
      </p:sp>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DBEAFE"/>
          </a:solidFill>
          <a:ln w="28575">
            <a:solidFill>
              <a:srgbClr val="1D4ED8"/>
            </a:solidFill>
          </a:ln>
        </p:spPr>
      </p:sp>
      <p:sp>
        <p:nvSpPr>
          <p:cNvPr id="30" name="Shape 23"/>
          <p:cNvSpPr/>
          <p:nvPr/>
        </p:nvSpPr>
        <p:spPr>
          <a:xfrm>
            <a:off x="685800" y="3566160"/>
            <a:ext cx="512064" cy="512064"/>
          </a:xfrm>
          <a:prstGeom prst="ellipse">
            <a:avLst/>
          </a:prstGeom>
          <a:solidFill>
            <a:srgbClr val="1D4ED8"/>
          </a:solidFill>
          <a:ln w="12700">
            <a:solidFill>
              <a:srgbClr val="1D4ED8"/>
            </a:solidFill>
            <a:prstDash val="solid"/>
          </a:ln>
        </p:spPr>
      </p:sp>
      <p:pic>
        <p:nvPicPr>
          <p:cNvPr id="31" name="Image 4" descr="preencoded.png"/>
          <p:cNvPicPr>
            <a:picLocks noChangeAspect="1"/>
          </p:cNvPicPr>
          <p:nvPr/>
        </p:nvPicPr>
        <p:blipFill>
          <a:blip r:embed="rId2"/>
          <a:stretch>
            <a:fillRect/>
          </a:stretch>
        </p:blipFill>
        <p:spPr>
          <a:xfrm>
            <a:off x="813816" y="3694176"/>
            <a:ext cx="256032" cy="256032"/>
          </a:xfrm>
          <a:prstGeom prst="rect">
            <a:avLst/>
          </a:prstGeom>
        </p:spPr>
      </p:pic>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F8FAFC"/>
          </a:solidFill>
          <a:ln w="12700">
            <a:solidFill>
              <a:srgbClr val="F1F5F9"/>
            </a:solidFill>
          </a:ln>
        </p:spPr>
      </p:sp>
      <p:sp>
        <p:nvSpPr>
          <p:cNvPr id="35" name="Shape 27"/>
          <p:cNvSpPr/>
          <p:nvPr/>
        </p:nvSpPr>
        <p:spPr>
          <a:xfrm>
            <a:off x="4892040" y="3566160"/>
            <a:ext cx="512064" cy="512064"/>
          </a:xfrm>
          <a:prstGeom prst="ellipse">
            <a:avLst/>
          </a:prstGeom>
          <a:solidFill>
            <a:srgbClr val="CBD5E1"/>
          </a:solidFill>
          <a:ln w="12700">
            <a:solidFill>
              <a:srgbClr val="CBD5E1"/>
            </a:solidFill>
          </a:ln>
        </p:spPr>
      </p:sp>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Bảo mật và phân quyền</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Sáu lớp bảo vệ cơ bản, bí mật không nằm trong mã nguồn</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Chất lượng</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29</a:t>
            </a:r>
            <a:endParaRPr lang="vi-VN" sz="900" dirty="0"/>
          </a:p>
        </p:txBody>
      </p:sp>
      <p:sp>
        <p:nvSpPr>
          <p:cNvPr id="12" name="Shape 8"/>
          <p:cNvSpPr/>
          <p:nvPr/>
        </p:nvSpPr>
        <p:spPr>
          <a:xfrm>
            <a:off x="502920" y="1371600"/>
            <a:ext cx="2606040" cy="1463040"/>
          </a:xfrm>
          <a:prstGeom prst="roundRect">
            <a:avLst>
              <a:gd name="adj" fmla="val 6250"/>
            </a:avLst>
          </a:prstGeom>
          <a:solidFill>
            <a:srgbClr val="EFF6FF"/>
          </a:solidFill>
          <a:ln w="12700">
            <a:solidFill>
              <a:srgbClr val="EFF6FF"/>
            </a:solidFill>
            <a:prstDash val="solid"/>
          </a:ln>
        </p:spPr>
      </p:sp>
      <p:sp>
        <p:nvSpPr>
          <p:cNvPr id="13" name="Shape 9"/>
          <p:cNvSpPr/>
          <p:nvPr/>
        </p:nvSpPr>
        <p:spPr>
          <a:xfrm>
            <a:off x="685800" y="1554480"/>
            <a:ext cx="457200" cy="457200"/>
          </a:xfrm>
          <a:prstGeom prst="ellipse">
            <a:avLst/>
          </a:prstGeom>
          <a:solidFill>
            <a:srgbClr val="1D4ED8"/>
          </a:solidFill>
          <a:ln w="12700">
            <a:solidFill>
              <a:srgbClr val="1D4ED8"/>
            </a:solidFill>
            <a:prstDash val="solid"/>
          </a:ln>
        </p:spPr>
      </p:sp>
      <p:pic>
        <p:nvPicPr>
          <p:cNvPr id="14" name="Image 1" descr="preencoded.png"/>
          <p:cNvPicPr>
            <a:picLocks noChangeAspect="1"/>
          </p:cNvPicPr>
          <p:nvPr/>
        </p:nvPicPr>
        <p:blipFill>
          <a:blip r:embed="rId4"/>
          <a:stretch>
            <a:fillRect/>
          </a:stretch>
        </p:blipFill>
        <p:spPr>
          <a:xfrm>
            <a:off x="800100" y="1668780"/>
            <a:ext cx="228600" cy="228600"/>
          </a:xfrm>
          <a:prstGeom prst="rect">
            <a:avLst/>
          </a:prstGeom>
        </p:spPr>
      </p:pic>
      <p:sp>
        <p:nvSpPr>
          <p:cNvPr id="15" name="Text 10"/>
          <p:cNvSpPr txBox="1"/>
          <p:nvPr/>
        </p:nvSpPr>
        <p:spPr>
          <a:xfrm>
            <a:off x="1280160" y="1554480"/>
            <a:ext cx="1783080" cy="45720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Mật khẩu</a:t>
            </a:r>
            <a:endParaRPr lang="vi-VN" sz="1450" dirty="0"/>
          </a:p>
        </p:txBody>
      </p:sp>
      <p:sp>
        <p:nvSpPr>
          <p:cNvPr id="16" name="Text 11"/>
          <p:cNvSpPr txBox="1"/>
          <p:nvPr/>
        </p:nvSpPr>
        <p:spPr>
          <a:xfrm>
            <a:off x="685800" y="2194560"/>
            <a:ext cx="2286000" cy="59436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Băm BCrypt, không lưu mật khẩu gốc</a:t>
            </a:r>
            <a:endParaRPr lang="vi-VN" sz="1250" dirty="0"/>
          </a:p>
        </p:txBody>
      </p:sp>
      <p:sp>
        <p:nvSpPr>
          <p:cNvPr id="17" name="Shape 12"/>
          <p:cNvSpPr/>
          <p:nvPr/>
        </p:nvSpPr>
        <p:spPr>
          <a:xfrm>
            <a:off x="3264408" y="1371600"/>
            <a:ext cx="2606040" cy="1463040"/>
          </a:xfrm>
          <a:prstGeom prst="roundRect">
            <a:avLst>
              <a:gd name="adj" fmla="val 6250"/>
            </a:avLst>
          </a:prstGeom>
          <a:solidFill>
            <a:srgbClr val="EFF6FF"/>
          </a:solidFill>
          <a:ln w="12700">
            <a:solidFill>
              <a:srgbClr val="EFF6FF"/>
            </a:solidFill>
            <a:prstDash val="solid"/>
          </a:ln>
        </p:spPr>
      </p:sp>
      <p:sp>
        <p:nvSpPr>
          <p:cNvPr id="18" name="Shape 13"/>
          <p:cNvSpPr/>
          <p:nvPr/>
        </p:nvSpPr>
        <p:spPr>
          <a:xfrm>
            <a:off x="3447288" y="1554480"/>
            <a:ext cx="457200" cy="457200"/>
          </a:xfrm>
          <a:prstGeom prst="ellipse">
            <a:avLst/>
          </a:prstGeom>
          <a:solidFill>
            <a:srgbClr val="1D4ED8"/>
          </a:solidFill>
          <a:ln w="12700">
            <a:solidFill>
              <a:srgbClr val="1D4ED8"/>
            </a:solidFill>
            <a:prstDash val="solid"/>
          </a:ln>
        </p:spPr>
      </p:sp>
      <p:pic>
        <p:nvPicPr>
          <p:cNvPr id="19" name="Image 2" descr="preencoded.png"/>
          <p:cNvPicPr>
            <a:picLocks noChangeAspect="1"/>
          </p:cNvPicPr>
          <p:nvPr/>
        </p:nvPicPr>
        <p:blipFill>
          <a:blip r:embed="rId5"/>
          <a:stretch>
            <a:fillRect/>
          </a:stretch>
        </p:blipFill>
        <p:spPr>
          <a:xfrm>
            <a:off x="3561588" y="1668780"/>
            <a:ext cx="228600" cy="228600"/>
          </a:xfrm>
          <a:prstGeom prst="rect">
            <a:avLst/>
          </a:prstGeom>
        </p:spPr>
      </p:pic>
      <p:sp>
        <p:nvSpPr>
          <p:cNvPr id="20" name="Text 14"/>
          <p:cNvSpPr txBox="1"/>
          <p:nvPr/>
        </p:nvSpPr>
        <p:spPr>
          <a:xfrm>
            <a:off x="4041648" y="1554480"/>
            <a:ext cx="1783080" cy="45720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Đặt lại mật khẩu</a:t>
            </a:r>
            <a:endParaRPr lang="vi-VN" sz="1450" dirty="0"/>
          </a:p>
        </p:txBody>
      </p:sp>
      <p:sp>
        <p:nvSpPr>
          <p:cNvPr id="21" name="Text 15"/>
          <p:cNvSpPr txBox="1"/>
          <p:nvPr/>
        </p:nvSpPr>
        <p:spPr>
          <a:xfrm>
            <a:off x="3447288" y="2194560"/>
            <a:ext cx="2286000" cy="59436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Token ngẫu nhiên, băm SHA-256, hiệu lực 30 phút</a:t>
            </a:r>
            <a:endParaRPr lang="vi-VN" sz="1250" dirty="0"/>
          </a:p>
        </p:txBody>
      </p:sp>
      <p:sp>
        <p:nvSpPr>
          <p:cNvPr id="22" name="Shape 16"/>
          <p:cNvSpPr/>
          <p:nvPr/>
        </p:nvSpPr>
        <p:spPr>
          <a:xfrm>
            <a:off x="6025896" y="1371600"/>
            <a:ext cx="2606040" cy="1463040"/>
          </a:xfrm>
          <a:prstGeom prst="roundRect">
            <a:avLst>
              <a:gd name="adj" fmla="val 6250"/>
            </a:avLst>
          </a:prstGeom>
          <a:solidFill>
            <a:srgbClr val="EFF6FF"/>
          </a:solidFill>
          <a:ln w="12700">
            <a:solidFill>
              <a:srgbClr val="EFF6FF"/>
            </a:solidFill>
            <a:prstDash val="solid"/>
          </a:ln>
        </p:spPr>
      </p:sp>
      <p:sp>
        <p:nvSpPr>
          <p:cNvPr id="23" name="Shape 17"/>
          <p:cNvSpPr/>
          <p:nvPr/>
        </p:nvSpPr>
        <p:spPr>
          <a:xfrm>
            <a:off x="6208776" y="1554480"/>
            <a:ext cx="457200" cy="457200"/>
          </a:xfrm>
          <a:prstGeom prst="ellipse">
            <a:avLst/>
          </a:prstGeom>
          <a:solidFill>
            <a:srgbClr val="1D4ED8"/>
          </a:solidFill>
          <a:ln w="12700">
            <a:solidFill>
              <a:srgbClr val="1D4ED8"/>
            </a:solidFill>
            <a:prstDash val="solid"/>
          </a:ln>
        </p:spPr>
      </p:sp>
      <p:pic>
        <p:nvPicPr>
          <p:cNvPr id="24" name="Image 3" descr="preencoded.png"/>
          <p:cNvPicPr>
            <a:picLocks noChangeAspect="1"/>
          </p:cNvPicPr>
          <p:nvPr/>
        </p:nvPicPr>
        <p:blipFill>
          <a:blip r:embed="rId6"/>
          <a:stretch>
            <a:fillRect/>
          </a:stretch>
        </p:blipFill>
        <p:spPr>
          <a:xfrm>
            <a:off x="6323076" y="1668780"/>
            <a:ext cx="228600" cy="228600"/>
          </a:xfrm>
          <a:prstGeom prst="rect">
            <a:avLst/>
          </a:prstGeom>
        </p:spPr>
      </p:pic>
      <p:sp>
        <p:nvSpPr>
          <p:cNvPr id="25" name="Text 18"/>
          <p:cNvSpPr txBox="1"/>
          <p:nvPr/>
        </p:nvSpPr>
        <p:spPr>
          <a:xfrm>
            <a:off x="6803136" y="1554480"/>
            <a:ext cx="1783080" cy="45720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Phân quyền</a:t>
            </a:r>
            <a:endParaRPr lang="vi-VN" sz="1450" dirty="0"/>
          </a:p>
        </p:txBody>
      </p:sp>
      <p:sp>
        <p:nvSpPr>
          <p:cNvPr id="26" name="Text 19"/>
          <p:cNvSpPr txBox="1"/>
          <p:nvPr/>
        </p:nvSpPr>
        <p:spPr>
          <a:xfrm>
            <a:off x="6208776" y="2194560"/>
            <a:ext cx="2286000" cy="59436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Filter chặn truy cập trái quyền</a:t>
            </a:r>
            <a:endParaRPr lang="vi-VN" sz="1250" dirty="0"/>
          </a:p>
        </p:txBody>
      </p:sp>
      <p:sp>
        <p:nvSpPr>
          <p:cNvPr id="27" name="Shape 20"/>
          <p:cNvSpPr/>
          <p:nvPr/>
        </p:nvSpPr>
        <p:spPr>
          <a:xfrm>
            <a:off x="502920" y="3017520"/>
            <a:ext cx="2606040" cy="1463040"/>
          </a:xfrm>
          <a:prstGeom prst="roundRect">
            <a:avLst>
              <a:gd name="adj" fmla="val 6250"/>
            </a:avLst>
          </a:prstGeom>
          <a:solidFill>
            <a:srgbClr val="EFF6FF"/>
          </a:solidFill>
          <a:ln w="12700">
            <a:solidFill>
              <a:srgbClr val="EFF6FF"/>
            </a:solidFill>
            <a:prstDash val="solid"/>
          </a:ln>
        </p:spPr>
      </p:sp>
      <p:sp>
        <p:nvSpPr>
          <p:cNvPr id="28" name="Shape 21"/>
          <p:cNvSpPr/>
          <p:nvPr/>
        </p:nvSpPr>
        <p:spPr>
          <a:xfrm>
            <a:off x="685800" y="3200400"/>
            <a:ext cx="457200" cy="457200"/>
          </a:xfrm>
          <a:prstGeom prst="ellipse">
            <a:avLst/>
          </a:prstGeom>
          <a:solidFill>
            <a:srgbClr val="1D4ED8"/>
          </a:solidFill>
          <a:ln w="12700">
            <a:solidFill>
              <a:srgbClr val="1D4ED8"/>
            </a:solidFill>
            <a:prstDash val="solid"/>
          </a:ln>
        </p:spPr>
      </p:sp>
      <p:pic>
        <p:nvPicPr>
          <p:cNvPr id="29" name="Image 4" descr="preencoded.png"/>
          <p:cNvPicPr>
            <a:picLocks noChangeAspect="1"/>
          </p:cNvPicPr>
          <p:nvPr/>
        </p:nvPicPr>
        <p:blipFill>
          <a:blip r:embed="rId7"/>
          <a:stretch>
            <a:fillRect/>
          </a:stretch>
        </p:blipFill>
        <p:spPr>
          <a:xfrm>
            <a:off x="800100" y="3314700"/>
            <a:ext cx="228600" cy="228600"/>
          </a:xfrm>
          <a:prstGeom prst="rect">
            <a:avLst/>
          </a:prstGeom>
        </p:spPr>
      </p:pic>
      <p:sp>
        <p:nvSpPr>
          <p:cNvPr id="30" name="Text 22"/>
          <p:cNvSpPr txBox="1"/>
          <p:nvPr/>
        </p:nvSpPr>
        <p:spPr>
          <a:xfrm>
            <a:off x="1280160" y="3200400"/>
            <a:ext cx="1783080" cy="45720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Chống SQL injection</a:t>
            </a:r>
            <a:endParaRPr lang="vi-VN" sz="1450" dirty="0"/>
          </a:p>
        </p:txBody>
      </p:sp>
      <p:sp>
        <p:nvSpPr>
          <p:cNvPr id="31" name="Text 23"/>
          <p:cNvSpPr txBox="1"/>
          <p:nvPr/>
        </p:nvSpPr>
        <p:spPr>
          <a:xfrm>
            <a:off x="685800" y="3840480"/>
            <a:ext cx="2286000" cy="59436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PreparedStatement ở mọi truy vấn</a:t>
            </a:r>
            <a:endParaRPr lang="vi-VN" sz="1250" dirty="0"/>
          </a:p>
        </p:txBody>
      </p:sp>
      <p:sp>
        <p:nvSpPr>
          <p:cNvPr id="32" name="Shape 24"/>
          <p:cNvSpPr/>
          <p:nvPr/>
        </p:nvSpPr>
        <p:spPr>
          <a:xfrm>
            <a:off x="3264408" y="3017520"/>
            <a:ext cx="2606040" cy="1463040"/>
          </a:xfrm>
          <a:prstGeom prst="roundRect">
            <a:avLst>
              <a:gd name="adj" fmla="val 6250"/>
            </a:avLst>
          </a:prstGeom>
          <a:solidFill>
            <a:srgbClr val="EFF6FF"/>
          </a:solidFill>
          <a:ln w="12700">
            <a:solidFill>
              <a:srgbClr val="EFF6FF"/>
            </a:solidFill>
            <a:prstDash val="solid"/>
          </a:ln>
        </p:spPr>
      </p:sp>
      <p:sp>
        <p:nvSpPr>
          <p:cNvPr id="33" name="Shape 25"/>
          <p:cNvSpPr/>
          <p:nvPr/>
        </p:nvSpPr>
        <p:spPr>
          <a:xfrm>
            <a:off x="3447288" y="3200400"/>
            <a:ext cx="457200" cy="457200"/>
          </a:xfrm>
          <a:prstGeom prst="ellipse">
            <a:avLst/>
          </a:prstGeom>
          <a:solidFill>
            <a:srgbClr val="1D4ED8"/>
          </a:solidFill>
          <a:ln w="12700">
            <a:solidFill>
              <a:srgbClr val="1D4ED8"/>
            </a:solidFill>
            <a:prstDash val="solid"/>
          </a:ln>
        </p:spPr>
      </p:sp>
      <p:pic>
        <p:nvPicPr>
          <p:cNvPr id="34" name="Image 5" descr="preencoded.png"/>
          <p:cNvPicPr>
            <a:picLocks noChangeAspect="1"/>
          </p:cNvPicPr>
          <p:nvPr/>
        </p:nvPicPr>
        <p:blipFill>
          <a:blip r:embed="rId8"/>
          <a:stretch>
            <a:fillRect/>
          </a:stretch>
        </p:blipFill>
        <p:spPr>
          <a:xfrm>
            <a:off x="3561588" y="3314700"/>
            <a:ext cx="228600" cy="228600"/>
          </a:xfrm>
          <a:prstGeom prst="rect">
            <a:avLst/>
          </a:prstGeom>
        </p:spPr>
      </p:pic>
      <p:sp>
        <p:nvSpPr>
          <p:cNvPr id="35" name="Text 26"/>
          <p:cNvSpPr txBox="1"/>
          <p:nvPr/>
        </p:nvSpPr>
        <p:spPr>
          <a:xfrm>
            <a:off x="4041648" y="3200400"/>
            <a:ext cx="1783080" cy="45720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Bí mật cấu hình</a:t>
            </a:r>
            <a:endParaRPr lang="vi-VN" sz="1450" dirty="0"/>
          </a:p>
        </p:txBody>
      </p:sp>
      <p:sp>
        <p:nvSpPr>
          <p:cNvPr id="36" name="Text 27"/>
          <p:cNvSpPr txBox="1"/>
          <p:nvPr/>
        </p:nvSpPr>
        <p:spPr>
          <a:xfrm>
            <a:off x="3447288" y="3840480"/>
            <a:ext cx="2286000" cy="59436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Mật khẩu DB và email đọc từ biến môi trường</a:t>
            </a:r>
            <a:r>
              <a:rPr lang="en-US" altLang="en-US" sz="1250" dirty="0">
                <a:solidFill>
                  <a:srgbClr val="1F2937"/>
                </a:solidFill>
                <a:latin typeface="Calibri" pitchFamily="34" charset="0"/>
                <a:ea typeface="Calibri" pitchFamily="34" charset="-122"/>
                <a:cs typeface="Calibri" pitchFamily="34" charset="-120"/>
              </a:rPr>
              <a:t> </a:t>
            </a:r>
            <a:r>
              <a:rPr lang="en-US" altLang="en-US" sz="1250" dirty="0" err="1">
                <a:solidFill>
                  <a:srgbClr val="1F2937"/>
                </a:solidFill>
                <a:latin typeface="Calibri" pitchFamily="34" charset="0"/>
                <a:ea typeface="Calibri" pitchFamily="34" charset="-122"/>
                <a:cs typeface="Calibri" pitchFamily="34" charset="-120"/>
              </a:rPr>
              <a:t>của</a:t>
            </a:r>
            <a:r>
              <a:rPr lang="en-US" altLang="en-US" sz="1250" dirty="0">
                <a:solidFill>
                  <a:srgbClr val="1F2937"/>
                </a:solidFill>
                <a:latin typeface="Calibri" pitchFamily="34" charset="0"/>
                <a:ea typeface="Calibri" pitchFamily="34" charset="-122"/>
                <a:cs typeface="Calibri" pitchFamily="34" charset="-120"/>
              </a:rPr>
              <a:t> server</a:t>
            </a:r>
            <a:endParaRPr lang="vi-VN" sz="1250" dirty="0"/>
          </a:p>
        </p:txBody>
      </p:sp>
      <p:sp>
        <p:nvSpPr>
          <p:cNvPr id="37" name="Shape 28"/>
          <p:cNvSpPr/>
          <p:nvPr/>
        </p:nvSpPr>
        <p:spPr>
          <a:xfrm>
            <a:off x="6025896" y="3017520"/>
            <a:ext cx="2606040" cy="1463040"/>
          </a:xfrm>
          <a:prstGeom prst="roundRect">
            <a:avLst>
              <a:gd name="adj" fmla="val 6250"/>
            </a:avLst>
          </a:prstGeom>
          <a:solidFill>
            <a:srgbClr val="EFF6FF"/>
          </a:solidFill>
          <a:ln w="12700">
            <a:solidFill>
              <a:srgbClr val="EFF6FF"/>
            </a:solidFill>
            <a:prstDash val="solid"/>
          </a:ln>
        </p:spPr>
      </p:sp>
      <p:sp>
        <p:nvSpPr>
          <p:cNvPr id="38" name="Shape 29"/>
          <p:cNvSpPr/>
          <p:nvPr/>
        </p:nvSpPr>
        <p:spPr>
          <a:xfrm>
            <a:off x="6208776" y="3200400"/>
            <a:ext cx="457200" cy="457200"/>
          </a:xfrm>
          <a:prstGeom prst="ellipse">
            <a:avLst/>
          </a:prstGeom>
          <a:solidFill>
            <a:srgbClr val="1D4ED8"/>
          </a:solidFill>
          <a:ln w="12700">
            <a:solidFill>
              <a:srgbClr val="1D4ED8"/>
            </a:solidFill>
            <a:prstDash val="solid"/>
          </a:ln>
        </p:spPr>
      </p:sp>
      <p:pic>
        <p:nvPicPr>
          <p:cNvPr id="39" name="Image 6" descr="preencoded.png"/>
          <p:cNvPicPr>
            <a:picLocks noChangeAspect="1"/>
          </p:cNvPicPr>
          <p:nvPr/>
        </p:nvPicPr>
        <p:blipFill>
          <a:blip r:embed="rId9"/>
          <a:stretch>
            <a:fillRect/>
          </a:stretch>
        </p:blipFill>
        <p:spPr>
          <a:xfrm>
            <a:off x="6323076" y="3314700"/>
            <a:ext cx="228600" cy="228600"/>
          </a:xfrm>
          <a:prstGeom prst="rect">
            <a:avLst/>
          </a:prstGeom>
        </p:spPr>
      </p:pic>
      <p:sp>
        <p:nvSpPr>
          <p:cNvPr id="40" name="Text 30"/>
          <p:cNvSpPr txBox="1"/>
          <p:nvPr/>
        </p:nvSpPr>
        <p:spPr>
          <a:xfrm>
            <a:off x="6803136" y="3200400"/>
            <a:ext cx="1783080" cy="45720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Kiểm tra dữ liệu</a:t>
            </a:r>
            <a:endParaRPr lang="vi-VN" sz="1450" dirty="0"/>
          </a:p>
        </p:txBody>
      </p:sp>
      <p:sp>
        <p:nvSpPr>
          <p:cNvPr id="41" name="Text 31"/>
          <p:cNvSpPr txBox="1"/>
          <p:nvPr/>
        </p:nvSpPr>
        <p:spPr>
          <a:xfrm>
            <a:off x="6208776" y="3840480"/>
            <a:ext cx="2286000" cy="594360"/>
          </a:xfrm>
          <a:prstGeom prst="rect">
            <a:avLst/>
          </a:prstGeom>
          <a:noFill/>
          <a:ln/>
        </p:spPr>
        <p:txBody>
          <a:bodyPr wrap="square" lIns="0" tIns="0" rIns="0" bIns="0" rtlCol="0" anchor="t"/>
          <a:lstStyle/>
          <a:p>
            <a:pPr marL="0" indent="0">
              <a:buNone/>
            </a:pPr>
            <a:r>
              <a:rPr lang="vi-VN" altLang="en-US" sz="1250" dirty="0">
                <a:solidFill>
                  <a:srgbClr val="1F2937"/>
                </a:solidFill>
                <a:latin typeface="Calibri" pitchFamily="34" charset="0"/>
                <a:ea typeface="Calibri" pitchFamily="34" charset="-122"/>
                <a:cs typeface="Calibri" pitchFamily="34" charset="-120"/>
              </a:rPr>
              <a:t>Kiểm tra hợp lệ ở tầng BO trước khi lưu</a:t>
            </a:r>
            <a:endParaRPr lang="vi-VN"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Chiến lược kiểm thử</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Ba lớp kiểm thử: unit test, integration test và kiểm thử hệ thống</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Chất lượng</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30</a:t>
            </a:r>
            <a:endParaRPr lang="vi-VN" sz="900" dirty="0"/>
          </a:p>
        </p:txBody>
      </p:sp>
      <p:sp>
        <p:nvSpPr>
          <p:cNvPr id="12" name="Shape 8"/>
          <p:cNvSpPr/>
          <p:nvPr/>
        </p:nvSpPr>
        <p:spPr>
          <a:xfrm>
            <a:off x="502920" y="1371600"/>
            <a:ext cx="2606040" cy="2834640"/>
          </a:xfrm>
          <a:prstGeom prst="roundRect">
            <a:avLst>
              <a:gd name="adj" fmla="val 3509"/>
            </a:avLst>
          </a:prstGeom>
          <a:solidFill>
            <a:srgbClr val="FFFFFF"/>
          </a:solidFill>
          <a:ln w="12700">
            <a:solidFill>
              <a:srgbClr val="D6E2F5"/>
            </a:solidFill>
            <a:prstDash val="solid"/>
          </a:ln>
        </p:spPr>
      </p:sp>
      <p:sp>
        <p:nvSpPr>
          <p:cNvPr id="13" name="Shape 9"/>
          <p:cNvSpPr/>
          <p:nvPr/>
        </p:nvSpPr>
        <p:spPr>
          <a:xfrm>
            <a:off x="502920" y="1371600"/>
            <a:ext cx="2606040" cy="82296"/>
          </a:xfrm>
          <a:prstGeom prst="rect">
            <a:avLst/>
          </a:prstGeom>
          <a:solidFill>
            <a:srgbClr val="1D4ED8"/>
          </a:solidFill>
          <a:ln w="12700">
            <a:solidFill>
              <a:srgbClr val="1D4ED8"/>
            </a:solidFill>
            <a:prstDash val="solid"/>
          </a:ln>
        </p:spPr>
      </p:sp>
      <p:sp>
        <p:nvSpPr>
          <p:cNvPr id="14" name="Shape 10"/>
          <p:cNvSpPr/>
          <p:nvPr/>
        </p:nvSpPr>
        <p:spPr>
          <a:xfrm>
            <a:off x="685800" y="1600200"/>
            <a:ext cx="457200" cy="457200"/>
          </a:xfrm>
          <a:prstGeom prst="ellipse">
            <a:avLst/>
          </a:prstGeom>
          <a:solidFill>
            <a:srgbClr val="1D4ED8"/>
          </a:solidFill>
          <a:ln w="12700">
            <a:solidFill>
              <a:srgbClr val="1D4ED8"/>
            </a:solidFill>
            <a:prstDash val="solid"/>
          </a:ln>
        </p:spPr>
      </p:sp>
      <p:pic>
        <p:nvPicPr>
          <p:cNvPr id="15" name="Image 1" descr="preencoded.png"/>
          <p:cNvPicPr>
            <a:picLocks noChangeAspect="1"/>
          </p:cNvPicPr>
          <p:nvPr/>
        </p:nvPicPr>
        <p:blipFill>
          <a:blip r:embed="rId4"/>
          <a:stretch>
            <a:fillRect/>
          </a:stretch>
        </p:blipFill>
        <p:spPr>
          <a:xfrm>
            <a:off x="800100" y="1714500"/>
            <a:ext cx="228600" cy="228600"/>
          </a:xfrm>
          <a:prstGeom prst="rect">
            <a:avLst/>
          </a:prstGeom>
        </p:spPr>
      </p:pic>
      <p:sp>
        <p:nvSpPr>
          <p:cNvPr id="16" name="Text 11"/>
          <p:cNvSpPr txBox="1"/>
          <p:nvPr/>
        </p:nvSpPr>
        <p:spPr>
          <a:xfrm>
            <a:off x="1280160" y="1600200"/>
            <a:ext cx="178308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Unit test</a:t>
            </a:r>
            <a:endParaRPr lang="vi-VN" sz="1500" dirty="0"/>
          </a:p>
        </p:txBody>
      </p:sp>
      <p:sp>
        <p:nvSpPr>
          <p:cNvPr id="17" name="Text 12"/>
          <p:cNvSpPr txBox="1"/>
          <p:nvPr/>
        </p:nvSpPr>
        <p:spPr>
          <a:xfrm>
            <a:off x="685800" y="2194560"/>
            <a:ext cx="2286000" cy="731520"/>
          </a:xfrm>
          <a:prstGeom prst="rect">
            <a:avLst/>
          </a:prstGeom>
          <a:noFill/>
          <a:ln/>
        </p:spPr>
        <p:txBody>
          <a:bodyPr wrap="square" lIns="0" tIns="0" rIns="0" bIns="0" rtlCol="0" anchor="t"/>
          <a:lstStyle/>
          <a:p>
            <a:pPr marL="0" indent="0">
              <a:buNone/>
            </a:pPr>
            <a:r>
              <a:rPr lang="vi-VN" altLang="en-US" sz="4200" b="1" dirty="0">
                <a:solidFill>
                  <a:srgbClr val="1D4ED8"/>
                </a:solidFill>
                <a:latin typeface="Calibri" pitchFamily="34" charset="0"/>
                <a:ea typeface="Calibri" pitchFamily="34" charset="-122"/>
                <a:cs typeface="Calibri" pitchFamily="34" charset="-120"/>
              </a:rPr>
              <a:t>201</a:t>
            </a:r>
            <a:endParaRPr lang="vi-VN" sz="4200" dirty="0"/>
          </a:p>
        </p:txBody>
      </p:sp>
      <p:sp>
        <p:nvSpPr>
          <p:cNvPr id="18" name="Text 13"/>
          <p:cNvSpPr txBox="1"/>
          <p:nvPr/>
        </p:nvSpPr>
        <p:spPr>
          <a:xfrm>
            <a:off x="685800" y="2926080"/>
            <a:ext cx="2286000" cy="36576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Không cần CSDL, không cần mạng</a:t>
            </a:r>
            <a:endParaRPr lang="vi-VN" sz="1150" dirty="0"/>
          </a:p>
        </p:txBody>
      </p:sp>
      <p:sp>
        <p:nvSpPr>
          <p:cNvPr id="19" name="Text 14"/>
          <p:cNvSpPr txBox="1"/>
          <p:nvPr/>
        </p:nvSpPr>
        <p:spPr>
          <a:xfrm>
            <a:off x="685800" y="3337560"/>
            <a:ext cx="2286000" cy="822960"/>
          </a:xfrm>
          <a:prstGeom prst="rect">
            <a:avLst/>
          </a:prstGeom>
          <a:noFill/>
          <a:ln/>
        </p:spPr>
        <p:txBody>
          <a:bodyPr wrap="square" lIns="0" tIns="0" rIns="0" bIns="0" rtlCol="0" anchor="t"/>
          <a:lstStyle/>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Quy tắc nghiệp vụ ở BO (giả lập DAO bằng Mockito)</a:t>
            </a:r>
            <a:endParaRPr lang="vi-VN" sz="1150" dirty="0"/>
          </a:p>
          <a:p>
            <a:pPr marL="177800" indent="-177800">
              <a:spcAft>
                <a:spcPts val="600"/>
              </a:spcAft>
              <a:buSzPct val="100000"/>
              <a:buChar char="•"/>
            </a:pPr>
            <a:r>
              <a:rPr lang="en-US" altLang="en-US" sz="1150" dirty="0">
                <a:solidFill>
                  <a:srgbClr val="1F2937"/>
                </a:solidFill>
                <a:latin typeface="Calibri" pitchFamily="34" charset="0"/>
                <a:ea typeface="Calibri" pitchFamily="34" charset="-122"/>
                <a:cs typeface="Calibri" pitchFamily="34" charset="-120"/>
              </a:rPr>
              <a:t>Util</a:t>
            </a:r>
            <a:r>
              <a:rPr lang="vi-VN" altLang="en-US" sz="1150" dirty="0">
                <a:solidFill>
                  <a:srgbClr val="1F2937"/>
                </a:solidFill>
                <a:latin typeface="Calibri" pitchFamily="34" charset="0"/>
                <a:ea typeface="Calibri" pitchFamily="34" charset="-122"/>
                <a:cs typeface="Calibri" pitchFamily="34" charset="-120"/>
              </a:rPr>
              <a:t>, Filter, Model</a:t>
            </a:r>
            <a:endParaRPr lang="vi-VN" sz="1150" dirty="0"/>
          </a:p>
        </p:txBody>
      </p:sp>
      <p:sp>
        <p:nvSpPr>
          <p:cNvPr id="20" name="Shape 15"/>
          <p:cNvSpPr/>
          <p:nvPr/>
        </p:nvSpPr>
        <p:spPr>
          <a:xfrm>
            <a:off x="3264408" y="1371600"/>
            <a:ext cx="2606040" cy="2834640"/>
          </a:xfrm>
          <a:prstGeom prst="roundRect">
            <a:avLst>
              <a:gd name="adj" fmla="val 3509"/>
            </a:avLst>
          </a:prstGeom>
          <a:solidFill>
            <a:srgbClr val="FFFFFF"/>
          </a:solidFill>
          <a:ln w="12700">
            <a:solidFill>
              <a:srgbClr val="D6E2F5"/>
            </a:solidFill>
            <a:prstDash val="solid"/>
          </a:ln>
        </p:spPr>
      </p:sp>
      <p:sp>
        <p:nvSpPr>
          <p:cNvPr id="21" name="Shape 16"/>
          <p:cNvSpPr/>
          <p:nvPr/>
        </p:nvSpPr>
        <p:spPr>
          <a:xfrm>
            <a:off x="3264408" y="1371600"/>
            <a:ext cx="2606040" cy="82296"/>
          </a:xfrm>
          <a:prstGeom prst="rect">
            <a:avLst/>
          </a:prstGeom>
          <a:solidFill>
            <a:srgbClr val="16A34A"/>
          </a:solidFill>
          <a:ln w="12700">
            <a:solidFill>
              <a:srgbClr val="16A34A"/>
            </a:solidFill>
            <a:prstDash val="solid"/>
          </a:ln>
        </p:spPr>
      </p:sp>
      <p:sp>
        <p:nvSpPr>
          <p:cNvPr id="22" name="Shape 17"/>
          <p:cNvSpPr/>
          <p:nvPr/>
        </p:nvSpPr>
        <p:spPr>
          <a:xfrm>
            <a:off x="3447288" y="1600200"/>
            <a:ext cx="457200" cy="457200"/>
          </a:xfrm>
          <a:prstGeom prst="ellipse">
            <a:avLst/>
          </a:prstGeom>
          <a:solidFill>
            <a:srgbClr val="16A34A"/>
          </a:solidFill>
          <a:ln w="12700">
            <a:solidFill>
              <a:srgbClr val="16A34A"/>
            </a:solidFill>
            <a:prstDash val="solid"/>
          </a:ln>
        </p:spPr>
      </p:sp>
      <p:pic>
        <p:nvPicPr>
          <p:cNvPr id="23" name="Image 2" descr="preencoded.png"/>
          <p:cNvPicPr>
            <a:picLocks noChangeAspect="1"/>
          </p:cNvPicPr>
          <p:nvPr/>
        </p:nvPicPr>
        <p:blipFill>
          <a:blip r:embed="rId5"/>
          <a:stretch>
            <a:fillRect/>
          </a:stretch>
        </p:blipFill>
        <p:spPr>
          <a:xfrm>
            <a:off x="3561588" y="1714500"/>
            <a:ext cx="228600" cy="228600"/>
          </a:xfrm>
          <a:prstGeom prst="rect">
            <a:avLst/>
          </a:prstGeom>
        </p:spPr>
      </p:pic>
      <p:sp>
        <p:nvSpPr>
          <p:cNvPr id="24" name="Text 18"/>
          <p:cNvSpPr txBox="1"/>
          <p:nvPr/>
        </p:nvSpPr>
        <p:spPr>
          <a:xfrm>
            <a:off x="4041648" y="1600200"/>
            <a:ext cx="178308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Integration test</a:t>
            </a:r>
            <a:endParaRPr lang="vi-VN" sz="1500" dirty="0"/>
          </a:p>
        </p:txBody>
      </p:sp>
      <p:sp>
        <p:nvSpPr>
          <p:cNvPr id="25" name="Text 19"/>
          <p:cNvSpPr txBox="1"/>
          <p:nvPr/>
        </p:nvSpPr>
        <p:spPr>
          <a:xfrm>
            <a:off x="3447288" y="2194560"/>
            <a:ext cx="2286000" cy="731520"/>
          </a:xfrm>
          <a:prstGeom prst="rect">
            <a:avLst/>
          </a:prstGeom>
          <a:noFill/>
          <a:ln/>
        </p:spPr>
        <p:txBody>
          <a:bodyPr wrap="square" lIns="0" tIns="0" rIns="0" bIns="0" rtlCol="0" anchor="t"/>
          <a:lstStyle/>
          <a:p>
            <a:pPr marL="0" indent="0">
              <a:buNone/>
            </a:pPr>
            <a:r>
              <a:rPr lang="vi-VN" altLang="en-US" sz="4200" b="1" dirty="0">
                <a:solidFill>
                  <a:srgbClr val="16A34A"/>
                </a:solidFill>
                <a:latin typeface="Calibri" pitchFamily="34" charset="0"/>
                <a:ea typeface="Calibri" pitchFamily="34" charset="-122"/>
                <a:cs typeface="Calibri" pitchFamily="34" charset="-120"/>
              </a:rPr>
              <a:t>38</a:t>
            </a:r>
            <a:endParaRPr lang="vi-VN" sz="4200" dirty="0"/>
          </a:p>
        </p:txBody>
      </p:sp>
      <p:sp>
        <p:nvSpPr>
          <p:cNvPr id="26" name="Text 20"/>
          <p:cNvSpPr txBox="1"/>
          <p:nvPr/>
        </p:nvSpPr>
        <p:spPr>
          <a:xfrm>
            <a:off x="3447288" y="2926080"/>
            <a:ext cx="2286000" cy="36576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Chạy trên MySQL thật</a:t>
            </a:r>
            <a:endParaRPr lang="vi-VN" sz="1150" dirty="0"/>
          </a:p>
        </p:txBody>
      </p:sp>
      <p:sp>
        <p:nvSpPr>
          <p:cNvPr id="27" name="Text 21"/>
          <p:cNvSpPr txBox="1"/>
          <p:nvPr/>
        </p:nvSpPr>
        <p:spPr>
          <a:xfrm>
            <a:off x="3447288" y="3337560"/>
            <a:ext cx="2286000" cy="822960"/>
          </a:xfrm>
          <a:prstGeom prst="rect">
            <a:avLst/>
          </a:prstGeom>
          <a:noFill/>
          <a:ln/>
        </p:spPr>
        <p:txBody>
          <a:bodyPr wrap="square" lIns="0" tIns="0" rIns="0" bIns="0" rtlCol="0" anchor="t"/>
          <a:lstStyle/>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Kiểm tra câu SQL của các DAO</a:t>
            </a:r>
            <a:endParaRPr lang="vi-VN" sz="1150" dirty="0"/>
          </a:p>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Tự tạo và tự xoá dữ liệu khi test</a:t>
            </a:r>
            <a:endParaRPr lang="vi-VN" sz="1150" dirty="0"/>
          </a:p>
        </p:txBody>
      </p:sp>
      <p:sp>
        <p:nvSpPr>
          <p:cNvPr id="28" name="Shape 22"/>
          <p:cNvSpPr/>
          <p:nvPr/>
        </p:nvSpPr>
        <p:spPr>
          <a:xfrm>
            <a:off x="6025896" y="1371600"/>
            <a:ext cx="2606040" cy="2834640"/>
          </a:xfrm>
          <a:prstGeom prst="roundRect">
            <a:avLst>
              <a:gd name="adj" fmla="val 3509"/>
            </a:avLst>
          </a:prstGeom>
          <a:solidFill>
            <a:srgbClr val="FFFFFF"/>
          </a:solidFill>
          <a:ln w="12700">
            <a:solidFill>
              <a:srgbClr val="D6E2F5"/>
            </a:solidFill>
            <a:prstDash val="solid"/>
          </a:ln>
        </p:spPr>
      </p:sp>
      <p:sp>
        <p:nvSpPr>
          <p:cNvPr id="29" name="Shape 23"/>
          <p:cNvSpPr/>
          <p:nvPr/>
        </p:nvSpPr>
        <p:spPr>
          <a:xfrm>
            <a:off x="6025896" y="1371600"/>
            <a:ext cx="2606040" cy="82296"/>
          </a:xfrm>
          <a:prstGeom prst="rect">
            <a:avLst/>
          </a:prstGeom>
          <a:solidFill>
            <a:srgbClr val="7C3AED"/>
          </a:solidFill>
          <a:ln w="12700">
            <a:solidFill>
              <a:srgbClr val="7C3AED"/>
            </a:solidFill>
            <a:prstDash val="solid"/>
          </a:ln>
        </p:spPr>
      </p:sp>
      <p:sp>
        <p:nvSpPr>
          <p:cNvPr id="30" name="Shape 24"/>
          <p:cNvSpPr/>
          <p:nvPr/>
        </p:nvSpPr>
        <p:spPr>
          <a:xfrm>
            <a:off x="6208776" y="1600200"/>
            <a:ext cx="457200" cy="457200"/>
          </a:xfrm>
          <a:prstGeom prst="ellipse">
            <a:avLst/>
          </a:prstGeom>
          <a:solidFill>
            <a:srgbClr val="7C3AED"/>
          </a:solidFill>
          <a:ln w="12700">
            <a:solidFill>
              <a:srgbClr val="7C3AED"/>
            </a:solidFill>
            <a:prstDash val="solid"/>
          </a:ln>
        </p:spPr>
      </p:sp>
      <p:pic>
        <p:nvPicPr>
          <p:cNvPr id="31" name="Image 3" descr="preencoded.png"/>
          <p:cNvPicPr>
            <a:picLocks noChangeAspect="1"/>
          </p:cNvPicPr>
          <p:nvPr/>
        </p:nvPicPr>
        <p:blipFill>
          <a:blip r:embed="rId6"/>
          <a:stretch>
            <a:fillRect/>
          </a:stretch>
        </p:blipFill>
        <p:spPr>
          <a:xfrm>
            <a:off x="6323076" y="1714500"/>
            <a:ext cx="228600" cy="228600"/>
          </a:xfrm>
          <a:prstGeom prst="rect">
            <a:avLst/>
          </a:prstGeom>
        </p:spPr>
      </p:pic>
      <p:sp>
        <p:nvSpPr>
          <p:cNvPr id="32" name="Text 25"/>
          <p:cNvSpPr txBox="1"/>
          <p:nvPr/>
        </p:nvSpPr>
        <p:spPr>
          <a:xfrm>
            <a:off x="6803136" y="1600200"/>
            <a:ext cx="1783080" cy="457200"/>
          </a:xfrm>
          <a:prstGeom prst="rect">
            <a:avLst/>
          </a:prstGeom>
          <a:noFill/>
          <a:ln/>
        </p:spPr>
        <p:txBody>
          <a:bodyPr wrap="square" lIns="0" tIns="0" rIns="0" bIns="0" rtlCol="0" anchor="ctr"/>
          <a:lstStyle/>
          <a:p>
            <a:pPr marL="0" indent="0">
              <a:buNone/>
            </a:pPr>
            <a:r>
              <a:rPr lang="vi-VN" altLang="en-US" sz="1500" b="1" dirty="0">
                <a:solidFill>
                  <a:srgbClr val="0F2A5C"/>
                </a:solidFill>
                <a:latin typeface="Calibri" pitchFamily="34" charset="0"/>
                <a:ea typeface="Calibri" pitchFamily="34" charset="-122"/>
                <a:cs typeface="Calibri" pitchFamily="34" charset="-120"/>
              </a:rPr>
              <a:t>Kiểm thử hệ thống</a:t>
            </a:r>
            <a:endParaRPr lang="vi-VN" sz="1500" dirty="0"/>
          </a:p>
        </p:txBody>
      </p:sp>
      <p:sp>
        <p:nvSpPr>
          <p:cNvPr id="33" name="Text 26"/>
          <p:cNvSpPr txBox="1"/>
          <p:nvPr/>
        </p:nvSpPr>
        <p:spPr>
          <a:xfrm>
            <a:off x="6208776" y="2194560"/>
            <a:ext cx="2286000" cy="731520"/>
          </a:xfrm>
          <a:prstGeom prst="rect">
            <a:avLst/>
          </a:prstGeom>
          <a:noFill/>
          <a:ln/>
        </p:spPr>
        <p:txBody>
          <a:bodyPr wrap="square" lIns="0" tIns="0" rIns="0" bIns="0" rtlCol="0" anchor="t"/>
          <a:lstStyle/>
          <a:p>
            <a:pPr marL="0" indent="0">
              <a:buNone/>
            </a:pPr>
            <a:r>
              <a:rPr lang="vi-VN" altLang="en-US" sz="4200" b="1" dirty="0">
                <a:solidFill>
                  <a:srgbClr val="7C3AED"/>
                </a:solidFill>
                <a:latin typeface="Calibri" pitchFamily="34" charset="0"/>
                <a:ea typeface="Calibri" pitchFamily="34" charset="-122"/>
                <a:cs typeface="Calibri" pitchFamily="34" charset="-120"/>
              </a:rPr>
              <a:t>114</a:t>
            </a:r>
            <a:endParaRPr lang="vi-VN" sz="4200" dirty="0"/>
          </a:p>
        </p:txBody>
      </p:sp>
      <p:sp>
        <p:nvSpPr>
          <p:cNvPr id="34" name="Text 27"/>
          <p:cNvSpPr txBox="1"/>
          <p:nvPr/>
        </p:nvSpPr>
        <p:spPr>
          <a:xfrm>
            <a:off x="6208776" y="2926080"/>
            <a:ext cx="2286000" cy="36576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Thủ công trên giao diện</a:t>
            </a:r>
            <a:endParaRPr lang="vi-VN" sz="1150" dirty="0"/>
          </a:p>
        </p:txBody>
      </p:sp>
      <p:sp>
        <p:nvSpPr>
          <p:cNvPr id="35" name="Text 28"/>
          <p:cNvSpPr txBox="1"/>
          <p:nvPr/>
        </p:nvSpPr>
        <p:spPr>
          <a:xfrm>
            <a:off x="6208776" y="3337560"/>
            <a:ext cx="2286000" cy="822960"/>
          </a:xfrm>
          <a:prstGeom prst="rect">
            <a:avLst/>
          </a:prstGeom>
          <a:noFill/>
          <a:ln/>
        </p:spPr>
        <p:txBody>
          <a:bodyPr wrap="square" lIns="0" tIns="0" rIns="0" bIns="0" rtlCol="0" anchor="t"/>
          <a:lstStyle/>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4 chức năng, mỗi chức năng một bộ test case</a:t>
            </a:r>
            <a:endParaRPr lang="vi-VN" sz="1150" dirty="0"/>
          </a:p>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Kết quả 114/114 đạt</a:t>
            </a:r>
            <a:endParaRPr lang="vi-VN" sz="1150" dirty="0"/>
          </a:p>
        </p:txBody>
      </p:sp>
      <p:sp>
        <p:nvSpPr>
          <p:cNvPr id="36" name="Shape 29"/>
          <p:cNvSpPr/>
          <p:nvPr/>
        </p:nvSpPr>
        <p:spPr>
          <a:xfrm>
            <a:off x="502920" y="4297680"/>
            <a:ext cx="8183880" cy="411480"/>
          </a:xfrm>
          <a:prstGeom prst="roundRect">
            <a:avLst>
              <a:gd name="adj" fmla="val 22222"/>
            </a:avLst>
          </a:prstGeom>
          <a:solidFill>
            <a:srgbClr val="EFF6FF"/>
          </a:solidFill>
          <a:ln w="12700">
            <a:solidFill>
              <a:srgbClr val="EFF6FF"/>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Unit test</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201 test kiểm tra quy tắc nghiệp vụ, không cần CSDL</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Chất lượng</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31</a:t>
            </a:r>
            <a:endParaRPr lang="vi-VN" sz="900" dirty="0"/>
          </a:p>
        </p:txBody>
      </p:sp>
      <p:graphicFrame>
        <p:nvGraphicFramePr>
          <p:cNvPr id="12" name="Chart 0"/>
          <p:cNvGraphicFramePr/>
          <p:nvPr/>
        </p:nvGraphicFramePr>
        <p:xfrm>
          <a:off x="502920" y="1371600"/>
          <a:ext cx="3291840" cy="33375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977640" y="1371600"/>
          <a:ext cx="4709160" cy="2980944"/>
        </p:xfrm>
        <a:graphic>
          <a:graphicData uri="http://schemas.openxmlformats.org/drawingml/2006/table">
            <a:tbl>
              <a:tblPr/>
              <a:tblGrid>
                <a:gridCol w="8229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29184">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Nhóm</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Test</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Kiểm tra chính</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59436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BO</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114</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Đăng nhập, đăng ký, vé dò, dò vé, đặt lại mật khẩu, lịch sử, đề xuất số</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Tiện ích</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61</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Đối chiếu giải, thống kê số, kiểm tra dữ liệu, BCrypt, token, phân tích HTML</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Filter</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11</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Chuyển về /login, 403 cho USER, chặn ADMIN dò vé, UTF-8</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Model</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15</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Hiển thị thời gian, định dạng ngày, tách số trúng</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Tổng</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EFF6FF"/>
                    </a:solidFill>
                  </a:tcPr>
                </a:tc>
                <a:tc>
                  <a:txBody>
                    <a:bodyPr/>
                    <a:lstStyle/>
                    <a:p>
                      <a:pPr marL="0" indent="0" algn="ctr">
                        <a:buNone/>
                      </a:pPr>
                      <a:r>
                        <a:rPr lang="vi-VN" altLang="en-US" sz="1200" b="1" dirty="0">
                          <a:solidFill>
                            <a:srgbClr val="1F2937"/>
                          </a:solidFill>
                          <a:latin typeface="Calibri" pitchFamily="34" charset="0"/>
                          <a:ea typeface="Calibri" pitchFamily="34" charset="-122"/>
                          <a:cs typeface="Calibri" pitchFamily="34" charset="-120"/>
                        </a:rPr>
                        <a:t>201</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EFF6FF"/>
                    </a:solidFill>
                  </a:tcPr>
                </a:tc>
                <a:tc>
                  <a:txBody>
                    <a:bodyPr/>
                    <a:lstStyle/>
                    <a:p>
                      <a:pPr marL="0" indent="0">
                        <a:buNone/>
                      </a:pPr>
                      <a:r>
                        <a:rPr lang="vi-VN" altLang="en-US" sz="1150" b="1" dirty="0">
                          <a:solidFill>
                            <a:srgbClr val="1F2937"/>
                          </a:solidFill>
                          <a:latin typeface="Calibri" pitchFamily="34" charset="0"/>
                          <a:ea typeface="Calibri" pitchFamily="34" charset="-122"/>
                          <a:cs typeface="Calibri" pitchFamily="34" charset="-120"/>
                        </a:rPr>
                        <a:t>Giả lập DAO bằng Mockito; không cần MySQL, không cần Internet</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Integration test</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38 test chạy câu SQL thật trên MySQL</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Chất lượng</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32</a:t>
            </a:r>
            <a:endParaRPr lang="vi-VN"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5394960" cy="3209544"/>
        </p:xfrm>
        <a:graphic>
          <a:graphicData uri="http://schemas.openxmlformats.org/drawingml/2006/table">
            <a:tbl>
              <a:tblPr/>
              <a:tblGrid>
                <a:gridCol w="15544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29184">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Nhóm DAO</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Test</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tc>
                  <a:txBody>
                    <a:bodyPr/>
                    <a:lstStyle/>
                    <a:p>
                      <a:pPr marL="0" indent="0">
                        <a:buNone/>
                      </a:pPr>
                      <a:r>
                        <a:rPr lang="vi-VN" altLang="en-US" sz="1200" b="1" dirty="0">
                          <a:solidFill>
                            <a:srgbClr val="FFFFFF"/>
                          </a:solidFill>
                          <a:latin typeface="Calibri" pitchFamily="34" charset="0"/>
                          <a:ea typeface="Calibri" pitchFamily="34" charset="-122"/>
                          <a:cs typeface="Calibri" pitchFamily="34" charset="-120"/>
                        </a:rPr>
                        <a:t>Kiểm tra chính</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68580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Người dùng</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14</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Thêm, tìm, trùng email/SĐT, đổi mật khẩu và ROLE, tìm kiếm, token đặt lại</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Vé dò và giải thưởng</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14</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Thêm vé kèm giải, tìm, publish, đếm lượt dò, mức thưởng theo miền, dữ liệu thống kê</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Lịch sử dò</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6</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Lưu lịch sử, truy vấn, đếm, lọc theo công ty và ngày</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Miền và công ty</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lgn="ctr">
                        <a:buNone/>
                      </a:pPr>
                      <a:r>
                        <a:rPr lang="vi-VN" altLang="en-US" sz="1200" dirty="0">
                          <a:solidFill>
                            <a:srgbClr val="1F2937"/>
                          </a:solidFill>
                          <a:latin typeface="Calibri" pitchFamily="34" charset="0"/>
                          <a:ea typeface="Calibri" pitchFamily="34" charset="-122"/>
                          <a:cs typeface="Calibri" pitchFamily="34" charset="-120"/>
                        </a:rPr>
                        <a:t>4</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tc>
                  <a:txBody>
                    <a:bodyPr/>
                    <a:lstStyle/>
                    <a:p>
                      <a:pPr marL="0" indent="0">
                        <a:buNone/>
                      </a:pPr>
                      <a:r>
                        <a:rPr lang="vi-VN" altLang="en-US" sz="1150" dirty="0">
                          <a:solidFill>
                            <a:srgbClr val="1F2937"/>
                          </a:solidFill>
                          <a:latin typeface="Calibri" pitchFamily="34" charset="0"/>
                          <a:ea typeface="Calibri" pitchFamily="34" charset="-122"/>
                          <a:cs typeface="Calibri" pitchFamily="34" charset="-120"/>
                        </a:rPr>
                        <a:t>Miền theo thứ tự, công ty hoạt động, tìm theo mã</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vi-VN" altLang="en-US" sz="1200" b="1" dirty="0">
                          <a:solidFill>
                            <a:srgbClr val="1F2937"/>
                          </a:solidFill>
                          <a:latin typeface="Calibri" pitchFamily="34" charset="0"/>
                          <a:ea typeface="Calibri" pitchFamily="34" charset="-122"/>
                          <a:cs typeface="Calibri" pitchFamily="34" charset="-120"/>
                        </a:rPr>
                        <a:t>Tổng</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EFF6FF"/>
                    </a:solidFill>
                  </a:tcPr>
                </a:tc>
                <a:tc>
                  <a:txBody>
                    <a:bodyPr/>
                    <a:lstStyle/>
                    <a:p>
                      <a:pPr marL="0" indent="0" algn="ctr">
                        <a:buNone/>
                      </a:pPr>
                      <a:r>
                        <a:rPr lang="vi-VN" altLang="en-US" sz="1200" b="1" dirty="0">
                          <a:solidFill>
                            <a:srgbClr val="1F2937"/>
                          </a:solidFill>
                          <a:latin typeface="Calibri" pitchFamily="34" charset="0"/>
                          <a:ea typeface="Calibri" pitchFamily="34" charset="-122"/>
                          <a:cs typeface="Calibri" pitchFamily="34" charset="-120"/>
                        </a:rPr>
                        <a:t>38</a:t>
                      </a:r>
                      <a:endParaRPr lang="vi-VN" sz="120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EFF6FF"/>
                    </a:solidFill>
                  </a:tcPr>
                </a:tc>
                <a:tc>
                  <a:txBody>
                    <a:bodyPr/>
                    <a:lstStyle/>
                    <a:p>
                      <a:pPr marL="0" indent="0">
                        <a:buNone/>
                      </a:pPr>
                      <a:r>
                        <a:rPr lang="vi-VN" altLang="en-US" sz="1150" b="1" dirty="0">
                          <a:solidFill>
                            <a:srgbClr val="1F2937"/>
                          </a:solidFill>
                          <a:latin typeface="Calibri" pitchFamily="34" charset="0"/>
                          <a:ea typeface="Calibri" pitchFamily="34" charset="-122"/>
                          <a:cs typeface="Calibri" pitchFamily="34" charset="-120"/>
                        </a:rPr>
                        <a:t>Chạy trên MySQL thật</a:t>
                      </a:r>
                      <a:endParaRPr lang="vi-VN" sz="1150" dirty="0">
                        <a:latin typeface="Calibri" charset="0"/>
                        <a:ea typeface="Calibri" charset="0"/>
                        <a:cs typeface="Calibri" charset="0"/>
                      </a:endParaRPr>
                    </a:p>
                  </a:txBody>
                  <a:tcPr anchor="ctr">
                    <a:lnL w="9525" cap="flat" cmpd="sng" algn="ctr">
                      <a:solidFill>
                        <a:srgbClr val="D6E2F5"/>
                      </a:solidFill>
                      <a:prstDash val="solid"/>
                      <a:round/>
                      <a:headEnd type="none" w="med" len="med"/>
                      <a:tailEnd type="none" w="med" len="med"/>
                    </a:lnL>
                    <a:lnR w="9525" cap="flat" cmpd="sng" algn="ctr">
                      <a:solidFill>
                        <a:srgbClr val="D6E2F5"/>
                      </a:solidFill>
                      <a:prstDash val="solid"/>
                      <a:round/>
                      <a:headEnd type="none" w="med" len="med"/>
                      <a:tailEnd type="none" w="med" len="med"/>
                    </a:lnR>
                    <a:lnT w="9525" cap="flat" cmpd="sng" algn="ctr">
                      <a:solidFill>
                        <a:srgbClr val="D6E2F5"/>
                      </a:solidFill>
                      <a:prstDash val="solid"/>
                      <a:round/>
                      <a:headEnd type="none" w="med" len="med"/>
                      <a:tailEnd type="none" w="med" len="med"/>
                    </a:lnT>
                    <a:lnB w="9525" cap="flat" cmpd="sng" algn="ctr">
                      <a:solidFill>
                        <a:srgbClr val="D6E2F5"/>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bl>
          </a:graphicData>
        </a:graphic>
      </p:graphicFrame>
      <p:sp>
        <p:nvSpPr>
          <p:cNvPr id="13" name="Shape 8"/>
          <p:cNvSpPr/>
          <p:nvPr/>
        </p:nvSpPr>
        <p:spPr>
          <a:xfrm>
            <a:off x="6126480" y="1378527"/>
            <a:ext cx="2560320" cy="3246120"/>
          </a:xfrm>
          <a:prstGeom prst="roundRect">
            <a:avLst>
              <a:gd name="adj" fmla="val 3571"/>
            </a:avLst>
          </a:prstGeom>
          <a:solidFill>
            <a:srgbClr val="EFF6FF"/>
          </a:solidFill>
          <a:ln w="12700">
            <a:solidFill>
              <a:srgbClr val="EFF6FF"/>
            </a:solidFill>
            <a:prstDash val="solid"/>
          </a:ln>
        </p:spPr>
      </p:sp>
      <p:sp>
        <p:nvSpPr>
          <p:cNvPr id="14" name="Text 9"/>
          <p:cNvSpPr txBox="1"/>
          <p:nvPr/>
        </p:nvSpPr>
        <p:spPr>
          <a:xfrm>
            <a:off x="6309360" y="1481328"/>
            <a:ext cx="2194560" cy="274320"/>
          </a:xfrm>
          <a:prstGeom prst="rect">
            <a:avLst/>
          </a:prstGeom>
          <a:noFill/>
          <a:ln/>
        </p:spPr>
        <p:txBody>
          <a:bodyPr wrap="square" lIns="0" tIns="0" rIns="0" bIns="0" rtlCol="0" anchor="t"/>
          <a:lstStyle/>
          <a:p>
            <a:pPr marL="0" indent="0">
              <a:buNone/>
            </a:pPr>
            <a:r>
              <a:rPr lang="vi-VN" altLang="en-US" sz="1500" b="1" dirty="0">
                <a:solidFill>
                  <a:srgbClr val="16A34A"/>
                </a:solidFill>
                <a:latin typeface="Calibri" pitchFamily="34" charset="0"/>
                <a:ea typeface="Calibri" pitchFamily="34" charset="-122"/>
                <a:cs typeface="Calibri" pitchFamily="34" charset="-120"/>
              </a:rPr>
              <a:t>Đặc điểm</a:t>
            </a:r>
            <a:endParaRPr lang="vi-VN" sz="1500" dirty="0"/>
          </a:p>
        </p:txBody>
      </p:sp>
      <p:sp>
        <p:nvSpPr>
          <p:cNvPr id="15" name="Text 10"/>
          <p:cNvSpPr txBox="1"/>
          <p:nvPr/>
        </p:nvSpPr>
        <p:spPr>
          <a:xfrm>
            <a:off x="6309360" y="1828800"/>
            <a:ext cx="2240280" cy="2743200"/>
          </a:xfrm>
          <a:prstGeom prst="rect">
            <a:avLst/>
          </a:prstGeom>
          <a:noFill/>
          <a:ln/>
        </p:spPr>
        <p:txBody>
          <a:bodyPr wrap="square" lIns="0" tIns="0" rIns="0" bIns="0" rtlCol="0" anchor="t"/>
          <a:lstStyle/>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Chạy trên MySQL thật, không dùng mock</a:t>
            </a:r>
            <a:endParaRPr lang="vi-VN" sz="1150" dirty="0"/>
          </a:p>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Cần MySQL đang chạy và đã import schema.sql</a:t>
            </a:r>
            <a:endParaRPr lang="vi-VN" sz="1150" dirty="0"/>
          </a:p>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Mỗi test tự tạo và tự xoá dữ liệu</a:t>
            </a:r>
            <a:endParaRPr lang="vi-VN" sz="1150" dirty="0"/>
          </a:p>
          <a:p>
            <a:pPr marL="177800" indent="-177800">
              <a:spcAft>
                <a:spcPts val="600"/>
              </a:spcAft>
              <a:buSzPct val="100000"/>
              <a:buChar char="•"/>
            </a:pPr>
            <a:r>
              <a:rPr lang="vi-VN" altLang="en-US" sz="1150" dirty="0">
                <a:solidFill>
                  <a:srgbClr val="1F2937"/>
                </a:solidFill>
                <a:latin typeface="Calibri" pitchFamily="34" charset="0"/>
                <a:ea typeface="Calibri" pitchFamily="34" charset="-122"/>
                <a:cs typeface="Calibri" pitchFamily="34" charset="-120"/>
              </a:rPr>
              <a:t>Không ảnh hưởng dữ liệu mẫu</a:t>
            </a:r>
            <a:endParaRPr lang="vi-VN"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603504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Kiểm thử hệ thống</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114 test case thủ công trên giao diện, 114/114 đạt</a:t>
            </a:r>
            <a:endParaRPr lang="vi-VN" sz="1500" dirty="0"/>
          </a:p>
        </p:txBody>
      </p:sp>
      <p:sp>
        <p:nvSpPr>
          <p:cNvPr id="5" name="Shape 3"/>
          <p:cNvSpPr/>
          <p:nvPr/>
        </p:nvSpPr>
        <p:spPr>
          <a:xfrm>
            <a:off x="6675120" y="310896"/>
            <a:ext cx="2011680" cy="420624"/>
          </a:xfrm>
          <a:prstGeom prst="roundRect">
            <a:avLst>
              <a:gd name="adj" fmla="val 50000"/>
            </a:avLst>
          </a:prstGeom>
          <a:solidFill>
            <a:srgbClr val="EFF6FF"/>
          </a:solidFill>
          <a:ln w="12700">
            <a:solidFill>
              <a:srgbClr val="EFF6FF"/>
            </a:solidFill>
            <a:prstDash val="solid"/>
          </a:ln>
        </p:spPr>
      </p:sp>
      <p:pic>
        <p:nvPicPr>
          <p:cNvPr id="6" name="Image 0" descr="preencoded.png"/>
          <p:cNvPicPr>
            <a:picLocks noChangeAspect="1"/>
          </p:cNvPicPr>
          <p:nvPr/>
        </p:nvPicPr>
        <p:blipFill>
          <a:blip r:embed="rId3"/>
          <a:stretch>
            <a:fillRect/>
          </a:stretch>
        </p:blipFill>
        <p:spPr>
          <a:xfrm>
            <a:off x="6812280" y="411480"/>
            <a:ext cx="219456" cy="219456"/>
          </a:xfrm>
          <a:prstGeom prst="rect">
            <a:avLst/>
          </a:prstGeom>
        </p:spPr>
      </p:pic>
      <p:sp>
        <p:nvSpPr>
          <p:cNvPr id="7" name="Text 4"/>
          <p:cNvSpPr txBox="1"/>
          <p:nvPr/>
        </p:nvSpPr>
        <p:spPr>
          <a:xfrm>
            <a:off x="7132320" y="310896"/>
            <a:ext cx="1508760" cy="420624"/>
          </a:xfrm>
          <a:prstGeom prst="rect">
            <a:avLst/>
          </a:prstGeom>
          <a:noFill/>
          <a:ln/>
        </p:spPr>
        <p:txBody>
          <a:bodyPr wrap="square" lIns="0" tIns="0" rIns="0" bIns="0" rtlCol="0" anchor="ctr"/>
          <a:lstStyle/>
          <a:p>
            <a:pPr marL="0" indent="0">
              <a:buNone/>
            </a:pPr>
            <a:r>
              <a:rPr lang="vi-VN" altLang="en-US" sz="1200" b="1" dirty="0">
                <a:solidFill>
                  <a:srgbClr val="1D4ED8"/>
                </a:solidFill>
                <a:latin typeface="Calibri" pitchFamily="34" charset="0"/>
                <a:ea typeface="Calibri" pitchFamily="34" charset="-122"/>
                <a:cs typeface="Calibri" pitchFamily="34" charset="-120"/>
              </a:rPr>
              <a:t>Chất lượng</a:t>
            </a:r>
            <a:endParaRPr lang="vi-VN" sz="1200" dirty="0"/>
          </a:p>
        </p:txBody>
      </p:sp>
      <p:sp>
        <p:nvSpPr>
          <p:cNvPr id="8" name="Shape 5"/>
          <p:cNvSpPr/>
          <p:nvPr/>
        </p:nvSpPr>
        <p:spPr>
          <a:xfrm>
            <a:off x="502920" y="4828032"/>
            <a:ext cx="8183880" cy="0"/>
          </a:xfrm>
          <a:prstGeom prst="line">
            <a:avLst/>
          </a:prstGeom>
          <a:noFill/>
          <a:ln w="9525">
            <a:solidFill>
              <a:srgbClr val="D6E2F5"/>
            </a:solidFill>
            <a:prstDash val="solid"/>
          </a:ln>
        </p:spPr>
      </p:sp>
      <p:sp>
        <p:nvSpPr>
          <p:cNvPr id="9" name="Text 6"/>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10" name="Text 7"/>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33</a:t>
            </a:r>
            <a:endParaRPr lang="vi-VN" sz="900" dirty="0"/>
          </a:p>
        </p:txBody>
      </p:sp>
      <p:graphicFrame>
        <p:nvGraphicFramePr>
          <p:cNvPr id="12" name="Chart 0"/>
          <p:cNvGraphicFramePr/>
          <p:nvPr>
            <p:extLst>
              <p:ext uri="{D42A27DB-BD31-4B8C-83A1-F6EECF244321}">
                <p14:modId xmlns:p14="http://schemas.microsoft.com/office/powerpoint/2010/main" val="488431419"/>
              </p:ext>
            </p:extLst>
          </p:nvPr>
        </p:nvGraphicFramePr>
        <p:xfrm>
          <a:off x="502920" y="137160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 8"/>
          <p:cNvSpPr/>
          <p:nvPr/>
        </p:nvSpPr>
        <p:spPr>
          <a:xfrm>
            <a:off x="5303520" y="1371600"/>
            <a:ext cx="3383280" cy="2743200"/>
          </a:xfrm>
          <a:prstGeom prst="roundRect">
            <a:avLst>
              <a:gd name="adj" fmla="val 3333"/>
            </a:avLst>
          </a:prstGeom>
          <a:solidFill>
            <a:srgbClr val="EFF6FF"/>
          </a:solidFill>
          <a:ln w="12700">
            <a:solidFill>
              <a:srgbClr val="EFF6FF"/>
            </a:solidFill>
            <a:prstDash val="solid"/>
          </a:ln>
        </p:spPr>
      </p:sp>
      <p:sp>
        <p:nvSpPr>
          <p:cNvPr id="14" name="Text 9"/>
          <p:cNvSpPr txBox="1"/>
          <p:nvPr/>
        </p:nvSpPr>
        <p:spPr>
          <a:xfrm>
            <a:off x="5486400" y="1463040"/>
            <a:ext cx="1463040" cy="731520"/>
          </a:xfrm>
          <a:prstGeom prst="rect">
            <a:avLst/>
          </a:prstGeom>
          <a:noFill/>
          <a:ln/>
        </p:spPr>
        <p:txBody>
          <a:bodyPr wrap="square" lIns="0" tIns="0" rIns="0" bIns="0" rtlCol="0" anchor="t"/>
          <a:lstStyle/>
          <a:p>
            <a:pPr marL="0" indent="0">
              <a:buNone/>
            </a:pPr>
            <a:r>
              <a:rPr lang="vi-VN" altLang="en-US" sz="4400" b="1" dirty="0">
                <a:solidFill>
                  <a:srgbClr val="7C3AED"/>
                </a:solidFill>
                <a:latin typeface="Calibri" pitchFamily="34" charset="0"/>
                <a:ea typeface="Calibri" pitchFamily="34" charset="-122"/>
                <a:cs typeface="Calibri" pitchFamily="34" charset="-120"/>
              </a:rPr>
              <a:t>114</a:t>
            </a:r>
            <a:endParaRPr lang="vi-VN" sz="4400" dirty="0"/>
          </a:p>
        </p:txBody>
      </p:sp>
      <p:sp>
        <p:nvSpPr>
          <p:cNvPr id="15" name="Text 10"/>
          <p:cNvSpPr txBox="1"/>
          <p:nvPr/>
        </p:nvSpPr>
        <p:spPr>
          <a:xfrm>
            <a:off x="6903720" y="1691640"/>
            <a:ext cx="1737360" cy="457200"/>
          </a:xfrm>
          <a:prstGeom prst="rect">
            <a:avLst/>
          </a:prstGeom>
          <a:noFill/>
          <a:ln/>
        </p:spPr>
        <p:txBody>
          <a:bodyPr wrap="square" lIns="0" tIns="0" rIns="0" bIns="0" rtlCol="0" anchor="t"/>
          <a:lstStyle/>
          <a:p>
            <a:pPr marL="0" indent="0">
              <a:buNone/>
            </a:pPr>
            <a:r>
              <a:rPr lang="vi-VN" altLang="en-US" sz="1300" dirty="0">
                <a:solidFill>
                  <a:srgbClr val="64748B"/>
                </a:solidFill>
                <a:latin typeface="Calibri" pitchFamily="34" charset="0"/>
                <a:ea typeface="Calibri" pitchFamily="34" charset="-122"/>
                <a:cs typeface="Calibri" pitchFamily="34" charset="-120"/>
              </a:rPr>
              <a:t>test case, 0 lỗi</a:t>
            </a:r>
            <a:endParaRPr lang="vi-VN" sz="1300" dirty="0"/>
          </a:p>
        </p:txBody>
      </p:sp>
      <p:sp>
        <p:nvSpPr>
          <p:cNvPr id="16" name="Text 11"/>
          <p:cNvSpPr txBox="1"/>
          <p:nvPr/>
        </p:nvSpPr>
        <p:spPr>
          <a:xfrm>
            <a:off x="5486400" y="2377440"/>
            <a:ext cx="3108960" cy="1645920"/>
          </a:xfrm>
          <a:prstGeom prst="rect">
            <a:avLst/>
          </a:prstGeom>
          <a:noFill/>
          <a:ln/>
        </p:spPr>
        <p:txBody>
          <a:bodyPr wrap="square" lIns="0" tIns="0" rIns="0" bIns="0" rtlCol="0" anchor="t"/>
          <a:lstStyle/>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Môi trường: Windows 10, Chrome</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Tomcat 9, MySQL 8.0, dữ liệu mẫu</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Ngày test: 27/09 đến 02/10/2026</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Đạt 114, lỗi 0, chưa test 0</a:t>
            </a:r>
            <a:endParaRPr lang="vi-VN"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Nội dung trình bày</a:t>
            </a:r>
            <a:endParaRPr lang="vi-VN" sz="28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34</a:t>
            </a:r>
            <a:endParaRPr lang="vi-VN" sz="900" dirty="0"/>
          </a:p>
        </p:txBody>
      </p:sp>
      <p:sp>
        <p:nvSpPr>
          <p:cNvPr id="9" name="Shape 6"/>
          <p:cNvSpPr/>
          <p:nvPr/>
        </p:nvSpPr>
        <p:spPr>
          <a:xfrm>
            <a:off x="502920" y="1170432"/>
            <a:ext cx="4023360" cy="914400"/>
          </a:xfrm>
          <a:prstGeom prst="roundRect">
            <a:avLst>
              <a:gd name="adj" fmla="val 10000"/>
            </a:avLst>
          </a:prstGeom>
          <a:solidFill>
            <a:srgbClr val="F8FAFC"/>
          </a:solidFill>
          <a:ln w="12700">
            <a:solidFill>
              <a:srgbClr val="F1F5F9"/>
            </a:solidFill>
          </a:ln>
        </p:spPr>
      </p:sp>
      <p:sp>
        <p:nvSpPr>
          <p:cNvPr id="10" name="Shape 7"/>
          <p:cNvSpPr/>
          <p:nvPr/>
        </p:nvSpPr>
        <p:spPr>
          <a:xfrm>
            <a:off x="685800" y="1371600"/>
            <a:ext cx="512064" cy="512064"/>
          </a:xfrm>
          <a:prstGeom prst="ellipse">
            <a:avLst/>
          </a:prstGeom>
          <a:solidFill>
            <a:srgbClr val="CBD5E1"/>
          </a:solidFill>
          <a:ln w="12700">
            <a:solidFill>
              <a:srgbClr val="CBD5E1"/>
            </a:solidFill>
          </a:ln>
        </p:spPr>
      </p:sp>
      <p:sp>
        <p:nvSpPr>
          <p:cNvPr id="12" name="Text 8"/>
          <p:cNvSpPr txBox="1"/>
          <p:nvPr/>
        </p:nvSpPr>
        <p:spPr>
          <a:xfrm>
            <a:off x="1325880" y="14433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1.  Bài toán và chức năng</a:t>
            </a:r>
            <a:endParaRPr lang="vi-VN" sz="1600" dirty="0"/>
          </a:p>
        </p:txBody>
      </p:sp>
      <p:sp>
        <p:nvSpPr>
          <p:cNvPr id="14" name="Shape 10"/>
          <p:cNvSpPr/>
          <p:nvPr/>
        </p:nvSpPr>
        <p:spPr>
          <a:xfrm>
            <a:off x="4709160" y="1170432"/>
            <a:ext cx="4023360" cy="914400"/>
          </a:xfrm>
          <a:prstGeom prst="roundRect">
            <a:avLst>
              <a:gd name="adj" fmla="val 10000"/>
            </a:avLst>
          </a:prstGeom>
          <a:solidFill>
            <a:srgbClr val="F8FAFC"/>
          </a:solidFill>
          <a:ln w="12700">
            <a:solidFill>
              <a:srgbClr val="F1F5F9"/>
            </a:solidFill>
          </a:ln>
        </p:spPr>
      </p:sp>
      <p:sp>
        <p:nvSpPr>
          <p:cNvPr id="15" name="Shape 11"/>
          <p:cNvSpPr/>
          <p:nvPr/>
        </p:nvSpPr>
        <p:spPr>
          <a:xfrm>
            <a:off x="4892040" y="1371600"/>
            <a:ext cx="512064" cy="512064"/>
          </a:xfrm>
          <a:prstGeom prst="ellipse">
            <a:avLst/>
          </a:prstGeom>
          <a:solidFill>
            <a:srgbClr val="CBD5E1"/>
          </a:solidFill>
          <a:ln w="12700">
            <a:solidFill>
              <a:srgbClr val="CBD5E1"/>
            </a:solidFill>
          </a:ln>
        </p:spPr>
      </p:sp>
      <p:sp>
        <p:nvSpPr>
          <p:cNvPr id="17" name="Text 12"/>
          <p:cNvSpPr txBox="1"/>
          <p:nvPr/>
        </p:nvSpPr>
        <p:spPr>
          <a:xfrm>
            <a:off x="5577840" y="14752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2.  Kiến trúc và tổ chức mã nguồn</a:t>
            </a:r>
            <a:endParaRPr lang="vi-VN" sz="1600" dirty="0"/>
          </a:p>
        </p:txBody>
      </p:sp>
      <p:sp>
        <p:nvSpPr>
          <p:cNvPr id="19" name="Shape 14"/>
          <p:cNvSpPr/>
          <p:nvPr/>
        </p:nvSpPr>
        <p:spPr>
          <a:xfrm>
            <a:off x="502920" y="2267712"/>
            <a:ext cx="4023360" cy="914400"/>
          </a:xfrm>
          <a:prstGeom prst="roundRect">
            <a:avLst>
              <a:gd name="adj" fmla="val 10000"/>
            </a:avLst>
          </a:prstGeom>
          <a:solidFill>
            <a:srgbClr val="F8FAFC"/>
          </a:solidFill>
          <a:ln w="12700">
            <a:solidFill>
              <a:srgbClr val="F1F5F9"/>
            </a:solidFill>
          </a:ln>
        </p:spPr>
      </p:sp>
      <p:sp>
        <p:nvSpPr>
          <p:cNvPr id="20" name="Shape 15"/>
          <p:cNvSpPr/>
          <p:nvPr/>
        </p:nvSpPr>
        <p:spPr>
          <a:xfrm>
            <a:off x="685800" y="2468880"/>
            <a:ext cx="512064" cy="512064"/>
          </a:xfrm>
          <a:prstGeom prst="ellipse">
            <a:avLst/>
          </a:prstGeom>
          <a:solidFill>
            <a:srgbClr val="CBD5E1"/>
          </a:solidFill>
          <a:ln w="12700">
            <a:solidFill>
              <a:srgbClr val="CBD5E1"/>
            </a:solidFill>
          </a:ln>
        </p:spPr>
      </p:sp>
      <p:sp>
        <p:nvSpPr>
          <p:cNvPr id="22" name="Text 16"/>
          <p:cNvSpPr txBox="1"/>
          <p:nvPr/>
        </p:nvSpPr>
        <p:spPr>
          <a:xfrm>
            <a:off x="1371600" y="254203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3.  Cơ sở dữ liệu</a:t>
            </a:r>
            <a:endParaRPr lang="vi-VN" sz="1600" dirty="0"/>
          </a:p>
        </p:txBody>
      </p:sp>
      <p:sp>
        <p:nvSpPr>
          <p:cNvPr id="24" name="Shape 18"/>
          <p:cNvSpPr/>
          <p:nvPr/>
        </p:nvSpPr>
        <p:spPr>
          <a:xfrm>
            <a:off x="4709160" y="2267712"/>
            <a:ext cx="4023360" cy="914400"/>
          </a:xfrm>
          <a:prstGeom prst="roundRect">
            <a:avLst>
              <a:gd name="adj" fmla="val 10000"/>
            </a:avLst>
          </a:prstGeom>
          <a:solidFill>
            <a:srgbClr val="F8FAFC"/>
          </a:solidFill>
          <a:ln w="12700">
            <a:solidFill>
              <a:srgbClr val="F1F5F9"/>
            </a:solidFill>
          </a:ln>
        </p:spPr>
      </p:sp>
      <p:sp>
        <p:nvSpPr>
          <p:cNvPr id="25" name="Shape 19"/>
          <p:cNvSpPr/>
          <p:nvPr/>
        </p:nvSpPr>
        <p:spPr>
          <a:xfrm>
            <a:off x="4892040" y="2468880"/>
            <a:ext cx="512064" cy="512064"/>
          </a:xfrm>
          <a:prstGeom prst="ellipse">
            <a:avLst/>
          </a:prstGeom>
          <a:solidFill>
            <a:srgbClr val="CBD5E1"/>
          </a:solidFill>
          <a:ln w="12700">
            <a:solidFill>
              <a:srgbClr val="CBD5E1"/>
            </a:solidFill>
          </a:ln>
        </p:spPr>
      </p:sp>
      <p:sp>
        <p:nvSpPr>
          <p:cNvPr id="27" name="Text 20"/>
          <p:cNvSpPr txBox="1"/>
          <p:nvPr/>
        </p:nvSpPr>
        <p:spPr>
          <a:xfrm>
            <a:off x="5577840" y="2536767"/>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4.  Demo theo chức năng</a:t>
            </a:r>
            <a:endParaRPr lang="vi-VN" sz="1600" dirty="0"/>
          </a:p>
        </p:txBody>
      </p:sp>
      <p:sp>
        <p:nvSpPr>
          <p:cNvPr id="29" name="Shape 22"/>
          <p:cNvSpPr/>
          <p:nvPr/>
        </p:nvSpPr>
        <p:spPr>
          <a:xfrm>
            <a:off x="502920" y="3364992"/>
            <a:ext cx="4023360" cy="914400"/>
          </a:xfrm>
          <a:prstGeom prst="roundRect">
            <a:avLst>
              <a:gd name="adj" fmla="val 10000"/>
            </a:avLst>
          </a:prstGeom>
          <a:solidFill>
            <a:srgbClr val="F8FAFC"/>
          </a:solidFill>
          <a:ln w="12700">
            <a:solidFill>
              <a:srgbClr val="F1F5F9"/>
            </a:solidFill>
          </a:ln>
        </p:spPr>
      </p:sp>
      <p:sp>
        <p:nvSpPr>
          <p:cNvPr id="30" name="Shape 23"/>
          <p:cNvSpPr/>
          <p:nvPr/>
        </p:nvSpPr>
        <p:spPr>
          <a:xfrm>
            <a:off x="685800" y="3566160"/>
            <a:ext cx="512064" cy="512064"/>
          </a:xfrm>
          <a:prstGeom prst="ellipse">
            <a:avLst/>
          </a:prstGeom>
          <a:solidFill>
            <a:srgbClr val="CBD5E1"/>
          </a:solidFill>
          <a:ln w="12700">
            <a:solidFill>
              <a:srgbClr val="CBD5E1"/>
            </a:solidFill>
          </a:ln>
        </p:spPr>
      </p:sp>
      <p:sp>
        <p:nvSpPr>
          <p:cNvPr id="32" name="Text 24"/>
          <p:cNvSpPr txBox="1"/>
          <p:nvPr/>
        </p:nvSpPr>
        <p:spPr>
          <a:xfrm>
            <a:off x="1394460" y="3639312"/>
            <a:ext cx="3063240" cy="365760"/>
          </a:xfrm>
          <a:prstGeom prst="rect">
            <a:avLst/>
          </a:prstGeom>
          <a:noFill/>
          <a:ln/>
        </p:spPr>
        <p:txBody>
          <a:bodyPr wrap="square" lIns="0" tIns="0" rIns="0" bIns="0" rtlCol="0" anchor="ctr"/>
          <a:lstStyle/>
          <a:p>
            <a:pPr marL="0" indent="0">
              <a:buNone/>
            </a:pPr>
            <a:r>
              <a:rPr lang="vi-VN" altLang="en-US" sz="1600" b="0" dirty="0">
                <a:solidFill>
                  <a:srgbClr val="B0BCCD"/>
                </a:solidFill>
                <a:latin typeface="Calibri" pitchFamily="34" charset="0"/>
                <a:ea typeface="Calibri" pitchFamily="34" charset="-122"/>
                <a:cs typeface="Calibri" pitchFamily="34" charset="-120"/>
              </a:rPr>
              <a:t>5.  Đảm bảo chất lượng</a:t>
            </a:r>
            <a:endParaRPr lang="vi-VN" sz="1600" dirty="0"/>
          </a:p>
        </p:txBody>
      </p:sp>
      <p:sp>
        <p:nvSpPr>
          <p:cNvPr id="34" name="Shape 26"/>
          <p:cNvSpPr/>
          <p:nvPr/>
        </p:nvSpPr>
        <p:spPr>
          <a:xfrm>
            <a:off x="4709160" y="3364992"/>
            <a:ext cx="4023360" cy="914400"/>
          </a:xfrm>
          <a:prstGeom prst="roundRect">
            <a:avLst>
              <a:gd name="adj" fmla="val 10000"/>
            </a:avLst>
          </a:prstGeom>
          <a:solidFill>
            <a:srgbClr val="DBEAFE"/>
          </a:solidFill>
          <a:ln w="28575">
            <a:solidFill>
              <a:srgbClr val="1D4ED8"/>
            </a:solidFill>
          </a:ln>
        </p:spPr>
      </p:sp>
      <p:sp>
        <p:nvSpPr>
          <p:cNvPr id="35" name="Shape 27"/>
          <p:cNvSpPr/>
          <p:nvPr/>
        </p:nvSpPr>
        <p:spPr>
          <a:xfrm>
            <a:off x="4892040" y="3566160"/>
            <a:ext cx="512064" cy="512064"/>
          </a:xfrm>
          <a:prstGeom prst="ellipse">
            <a:avLst/>
          </a:prstGeom>
          <a:solidFill>
            <a:srgbClr val="1D4ED8"/>
          </a:solidFill>
          <a:ln w="12700">
            <a:solidFill>
              <a:srgbClr val="1D4ED8"/>
            </a:solidFill>
            <a:prstDash val="solid"/>
          </a:ln>
        </p:spPr>
      </p:sp>
      <p:pic>
        <p:nvPicPr>
          <p:cNvPr id="36" name="Image 5" descr="preencoded.png"/>
          <p:cNvPicPr>
            <a:picLocks noChangeAspect="1"/>
          </p:cNvPicPr>
          <p:nvPr/>
        </p:nvPicPr>
        <p:blipFill>
          <a:blip r:embed="rId2"/>
          <a:stretch>
            <a:fillRect/>
          </a:stretch>
        </p:blipFill>
        <p:spPr>
          <a:xfrm>
            <a:off x="5020056" y="3694176"/>
            <a:ext cx="256032" cy="256032"/>
          </a:xfrm>
          <a:prstGeom prst="rect">
            <a:avLst/>
          </a:prstGeom>
        </p:spPr>
      </p:pic>
      <p:sp>
        <p:nvSpPr>
          <p:cNvPr id="37" name="Text 28"/>
          <p:cNvSpPr txBox="1"/>
          <p:nvPr/>
        </p:nvSpPr>
        <p:spPr>
          <a:xfrm>
            <a:off x="5586984" y="3639312"/>
            <a:ext cx="3063240" cy="365760"/>
          </a:xfrm>
          <a:prstGeom prst="rect">
            <a:avLst/>
          </a:prstGeom>
          <a:noFill/>
          <a:ln/>
        </p:spPr>
        <p:txBody>
          <a:bodyPr wrap="square" lIns="0" tIns="0" rIns="0" bIns="0" rtlCol="0" anchor="ctr"/>
          <a:lstStyle/>
          <a:p>
            <a:pPr marL="0" indent="0">
              <a:buNone/>
            </a:pPr>
            <a:r>
              <a:rPr lang="vi-VN" altLang="en-US" sz="1600" b="1" dirty="0">
                <a:solidFill>
                  <a:srgbClr val="0F2A5C"/>
                </a:solidFill>
                <a:latin typeface="Calibri" pitchFamily="34" charset="0"/>
                <a:ea typeface="Calibri" pitchFamily="34" charset="-122"/>
                <a:cs typeface="Calibri" pitchFamily="34" charset="-120"/>
              </a:rPr>
              <a:t>6.  Kết luận và hỏi đáp</a:t>
            </a:r>
            <a:endParaRPr lang="vi-VN"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Kết luận</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Dự án vận dụng đủ các kiến thức trọng tâm của môn học vào một ứng dụng web hoàn chỉnh</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35</a:t>
            </a:r>
            <a:endParaRPr lang="vi-VN" sz="900" dirty="0"/>
          </a:p>
        </p:txBody>
      </p:sp>
      <p:sp>
        <p:nvSpPr>
          <p:cNvPr id="9" name="Shape 6"/>
          <p:cNvSpPr/>
          <p:nvPr/>
        </p:nvSpPr>
        <p:spPr>
          <a:xfrm>
            <a:off x="502920" y="1371600"/>
            <a:ext cx="4023360" cy="987552"/>
          </a:xfrm>
          <a:prstGeom prst="roundRect">
            <a:avLst>
              <a:gd name="adj" fmla="val 9259"/>
            </a:avLst>
          </a:prstGeom>
          <a:solidFill>
            <a:srgbClr val="EFF6FF"/>
          </a:solidFill>
          <a:ln w="12700">
            <a:solidFill>
              <a:srgbClr val="EFF6FF"/>
            </a:solidFill>
            <a:prstDash val="solid"/>
          </a:ln>
        </p:spPr>
      </p:sp>
      <p:sp>
        <p:nvSpPr>
          <p:cNvPr id="10" name="Shape 7"/>
          <p:cNvSpPr/>
          <p:nvPr/>
        </p:nvSpPr>
        <p:spPr>
          <a:xfrm>
            <a:off x="667512" y="1600200"/>
            <a:ext cx="530352" cy="530352"/>
          </a:xfrm>
          <a:prstGeom prst="ellipse">
            <a:avLst/>
          </a:prstGeom>
          <a:solidFill>
            <a:srgbClr val="1D4ED8"/>
          </a:solidFill>
          <a:ln w="12700">
            <a:solidFill>
              <a:srgbClr val="1D4ED8"/>
            </a:solidFill>
            <a:prstDash val="solid"/>
          </a:ln>
        </p:spPr>
      </p:sp>
      <p:pic>
        <p:nvPicPr>
          <p:cNvPr id="11" name="Image 0" descr="preencoded.png"/>
          <p:cNvPicPr>
            <a:picLocks noChangeAspect="1"/>
          </p:cNvPicPr>
          <p:nvPr/>
        </p:nvPicPr>
        <p:blipFill>
          <a:blip r:embed="rId3"/>
          <a:stretch>
            <a:fillRect/>
          </a:stretch>
        </p:blipFill>
        <p:spPr>
          <a:xfrm>
            <a:off x="800100" y="1732788"/>
            <a:ext cx="265176" cy="265176"/>
          </a:xfrm>
          <a:prstGeom prst="rect">
            <a:avLst/>
          </a:prstGeom>
        </p:spPr>
      </p:pic>
      <p:sp>
        <p:nvSpPr>
          <p:cNvPr id="12" name="Text 8"/>
          <p:cNvSpPr txBox="1"/>
          <p:nvPr/>
        </p:nvSpPr>
        <p:spPr>
          <a:xfrm>
            <a:off x="1371600" y="1499616"/>
            <a:ext cx="3063240" cy="36576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Web MVC với Servlet, JSP, JSTL</a:t>
            </a:r>
            <a:endParaRPr lang="vi-VN" sz="1450" dirty="0"/>
          </a:p>
        </p:txBody>
      </p:sp>
      <p:sp>
        <p:nvSpPr>
          <p:cNvPr id="13" name="Text 9"/>
          <p:cNvSpPr txBox="1"/>
          <p:nvPr/>
        </p:nvSpPr>
        <p:spPr>
          <a:xfrm>
            <a:off x="1371600" y="1874520"/>
            <a:ext cx="3063240" cy="4114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4 nhóm chức năng cho 3 nhóm người dùng</a:t>
            </a:r>
            <a:endParaRPr lang="vi-VN" sz="1150" dirty="0"/>
          </a:p>
        </p:txBody>
      </p:sp>
      <p:sp>
        <p:nvSpPr>
          <p:cNvPr id="14" name="Shape 10"/>
          <p:cNvSpPr/>
          <p:nvPr/>
        </p:nvSpPr>
        <p:spPr>
          <a:xfrm>
            <a:off x="4709160" y="1371600"/>
            <a:ext cx="4023360" cy="987552"/>
          </a:xfrm>
          <a:prstGeom prst="roundRect">
            <a:avLst>
              <a:gd name="adj" fmla="val 9259"/>
            </a:avLst>
          </a:prstGeom>
          <a:solidFill>
            <a:srgbClr val="EFF6FF"/>
          </a:solidFill>
          <a:ln w="12700">
            <a:solidFill>
              <a:srgbClr val="EFF6FF"/>
            </a:solidFill>
            <a:prstDash val="solid"/>
          </a:ln>
        </p:spPr>
      </p:sp>
      <p:sp>
        <p:nvSpPr>
          <p:cNvPr id="15" name="Shape 11"/>
          <p:cNvSpPr/>
          <p:nvPr/>
        </p:nvSpPr>
        <p:spPr>
          <a:xfrm>
            <a:off x="4873752" y="1600200"/>
            <a:ext cx="530352" cy="530352"/>
          </a:xfrm>
          <a:prstGeom prst="ellipse">
            <a:avLst/>
          </a:prstGeom>
          <a:solidFill>
            <a:srgbClr val="1D4ED8"/>
          </a:solidFill>
          <a:ln w="12700">
            <a:solidFill>
              <a:srgbClr val="1D4ED8"/>
            </a:solidFill>
            <a:prstDash val="solid"/>
          </a:ln>
        </p:spPr>
      </p:sp>
      <p:pic>
        <p:nvPicPr>
          <p:cNvPr id="16" name="Image 1" descr="preencoded.png"/>
          <p:cNvPicPr>
            <a:picLocks noChangeAspect="1"/>
          </p:cNvPicPr>
          <p:nvPr/>
        </p:nvPicPr>
        <p:blipFill>
          <a:blip r:embed="rId4"/>
          <a:stretch>
            <a:fillRect/>
          </a:stretch>
        </p:blipFill>
        <p:spPr>
          <a:xfrm>
            <a:off x="5006340" y="1732788"/>
            <a:ext cx="265176" cy="265176"/>
          </a:xfrm>
          <a:prstGeom prst="rect">
            <a:avLst/>
          </a:prstGeom>
        </p:spPr>
      </p:pic>
      <p:sp>
        <p:nvSpPr>
          <p:cNvPr id="17" name="Text 12"/>
          <p:cNvSpPr txBox="1"/>
          <p:nvPr/>
        </p:nvSpPr>
        <p:spPr>
          <a:xfrm>
            <a:off x="5577840" y="1499616"/>
            <a:ext cx="3063240" cy="36576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Tổ chức mã nguồn rõ ràng</a:t>
            </a:r>
            <a:endParaRPr lang="vi-VN" sz="1450" dirty="0"/>
          </a:p>
        </p:txBody>
      </p:sp>
      <p:sp>
        <p:nvSpPr>
          <p:cNvPr id="18" name="Text 13"/>
          <p:cNvSpPr txBox="1"/>
          <p:nvPr/>
        </p:nvSpPr>
        <p:spPr>
          <a:xfrm>
            <a:off x="5577840" y="1874520"/>
            <a:ext cx="3063240" cy="4114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Controller, BO, DAO tách biệt; dễ kiểm thử</a:t>
            </a:r>
            <a:endParaRPr lang="vi-VN" sz="1150" dirty="0"/>
          </a:p>
        </p:txBody>
      </p:sp>
      <p:sp>
        <p:nvSpPr>
          <p:cNvPr id="19" name="Shape 14"/>
          <p:cNvSpPr/>
          <p:nvPr/>
        </p:nvSpPr>
        <p:spPr>
          <a:xfrm>
            <a:off x="502920" y="2487168"/>
            <a:ext cx="4023360" cy="987552"/>
          </a:xfrm>
          <a:prstGeom prst="roundRect">
            <a:avLst>
              <a:gd name="adj" fmla="val 9259"/>
            </a:avLst>
          </a:prstGeom>
          <a:solidFill>
            <a:srgbClr val="EFF6FF"/>
          </a:solidFill>
          <a:ln w="12700">
            <a:solidFill>
              <a:srgbClr val="EFF6FF"/>
            </a:solidFill>
            <a:prstDash val="solid"/>
          </a:ln>
        </p:spPr>
      </p:sp>
      <p:sp>
        <p:nvSpPr>
          <p:cNvPr id="20" name="Shape 15"/>
          <p:cNvSpPr/>
          <p:nvPr/>
        </p:nvSpPr>
        <p:spPr>
          <a:xfrm>
            <a:off x="667512" y="2715768"/>
            <a:ext cx="530352" cy="530352"/>
          </a:xfrm>
          <a:prstGeom prst="ellipse">
            <a:avLst/>
          </a:prstGeom>
          <a:solidFill>
            <a:srgbClr val="1D4ED8"/>
          </a:solidFill>
          <a:ln w="12700">
            <a:solidFill>
              <a:srgbClr val="1D4ED8"/>
            </a:solidFill>
            <a:prstDash val="solid"/>
          </a:ln>
        </p:spPr>
      </p:sp>
      <p:pic>
        <p:nvPicPr>
          <p:cNvPr id="21" name="Image 2" descr="preencoded.png"/>
          <p:cNvPicPr>
            <a:picLocks noChangeAspect="1"/>
          </p:cNvPicPr>
          <p:nvPr/>
        </p:nvPicPr>
        <p:blipFill>
          <a:blip r:embed="rId5"/>
          <a:stretch>
            <a:fillRect/>
          </a:stretch>
        </p:blipFill>
        <p:spPr>
          <a:xfrm>
            <a:off x="800100" y="2848356"/>
            <a:ext cx="265176" cy="265176"/>
          </a:xfrm>
          <a:prstGeom prst="rect">
            <a:avLst/>
          </a:prstGeom>
        </p:spPr>
      </p:pic>
      <p:sp>
        <p:nvSpPr>
          <p:cNvPr id="22" name="Text 16"/>
          <p:cNvSpPr txBox="1"/>
          <p:nvPr/>
        </p:nvSpPr>
        <p:spPr>
          <a:xfrm>
            <a:off x="1371600" y="2615184"/>
            <a:ext cx="3063240" cy="36576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CSDL quan hệ và JDBC</a:t>
            </a:r>
            <a:endParaRPr lang="vi-VN" sz="1450" dirty="0"/>
          </a:p>
        </p:txBody>
      </p:sp>
      <p:sp>
        <p:nvSpPr>
          <p:cNvPr id="23" name="Text 17"/>
          <p:cNvSpPr txBox="1"/>
          <p:nvPr/>
        </p:nvSpPr>
        <p:spPr>
          <a:xfrm>
            <a:off x="1371600" y="2990088"/>
            <a:ext cx="3063240" cy="4114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MySQL, PreparedStatement, connection pool</a:t>
            </a:r>
            <a:endParaRPr lang="vi-VN" sz="1150" dirty="0"/>
          </a:p>
        </p:txBody>
      </p:sp>
      <p:sp>
        <p:nvSpPr>
          <p:cNvPr id="24" name="Shape 18"/>
          <p:cNvSpPr/>
          <p:nvPr/>
        </p:nvSpPr>
        <p:spPr>
          <a:xfrm>
            <a:off x="4709160" y="2487168"/>
            <a:ext cx="4023360" cy="987552"/>
          </a:xfrm>
          <a:prstGeom prst="roundRect">
            <a:avLst>
              <a:gd name="adj" fmla="val 9259"/>
            </a:avLst>
          </a:prstGeom>
          <a:solidFill>
            <a:srgbClr val="EFF6FF"/>
          </a:solidFill>
          <a:ln w="12700">
            <a:solidFill>
              <a:srgbClr val="EFF6FF"/>
            </a:solidFill>
            <a:prstDash val="solid"/>
          </a:ln>
        </p:spPr>
      </p:sp>
      <p:sp>
        <p:nvSpPr>
          <p:cNvPr id="25" name="Shape 19"/>
          <p:cNvSpPr/>
          <p:nvPr/>
        </p:nvSpPr>
        <p:spPr>
          <a:xfrm>
            <a:off x="4873752" y="2715768"/>
            <a:ext cx="530352" cy="530352"/>
          </a:xfrm>
          <a:prstGeom prst="ellipse">
            <a:avLst/>
          </a:prstGeom>
          <a:solidFill>
            <a:srgbClr val="1D4ED8"/>
          </a:solidFill>
          <a:ln w="12700">
            <a:solidFill>
              <a:srgbClr val="1D4ED8"/>
            </a:solidFill>
            <a:prstDash val="solid"/>
          </a:ln>
        </p:spPr>
      </p:sp>
      <p:pic>
        <p:nvPicPr>
          <p:cNvPr id="26" name="Image 3" descr="preencoded.png"/>
          <p:cNvPicPr>
            <a:picLocks noChangeAspect="1"/>
          </p:cNvPicPr>
          <p:nvPr/>
        </p:nvPicPr>
        <p:blipFill>
          <a:blip r:embed="rId6"/>
          <a:stretch>
            <a:fillRect/>
          </a:stretch>
        </p:blipFill>
        <p:spPr>
          <a:xfrm>
            <a:off x="5006340" y="2848356"/>
            <a:ext cx="265176" cy="265176"/>
          </a:xfrm>
          <a:prstGeom prst="rect">
            <a:avLst/>
          </a:prstGeom>
        </p:spPr>
      </p:pic>
      <p:sp>
        <p:nvSpPr>
          <p:cNvPr id="27" name="Text 20"/>
          <p:cNvSpPr txBox="1"/>
          <p:nvPr/>
        </p:nvSpPr>
        <p:spPr>
          <a:xfrm>
            <a:off x="5577840" y="2615184"/>
            <a:ext cx="3063240" cy="36576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Bảo mật và phân quyền</a:t>
            </a:r>
            <a:endParaRPr lang="vi-VN" sz="1450" dirty="0"/>
          </a:p>
        </p:txBody>
      </p:sp>
      <p:sp>
        <p:nvSpPr>
          <p:cNvPr id="28" name="Text 21"/>
          <p:cNvSpPr txBox="1"/>
          <p:nvPr/>
        </p:nvSpPr>
        <p:spPr>
          <a:xfrm>
            <a:off x="5577840" y="2990088"/>
            <a:ext cx="3063240" cy="4114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BCrypt, Filter, token đặt lại, biến môi trường</a:t>
            </a:r>
            <a:endParaRPr lang="vi-VN" sz="1150" dirty="0"/>
          </a:p>
        </p:txBody>
      </p:sp>
      <p:sp>
        <p:nvSpPr>
          <p:cNvPr id="29" name="Shape 22"/>
          <p:cNvSpPr/>
          <p:nvPr/>
        </p:nvSpPr>
        <p:spPr>
          <a:xfrm>
            <a:off x="502920" y="3602736"/>
            <a:ext cx="4023360" cy="987552"/>
          </a:xfrm>
          <a:prstGeom prst="roundRect">
            <a:avLst>
              <a:gd name="adj" fmla="val 9259"/>
            </a:avLst>
          </a:prstGeom>
          <a:solidFill>
            <a:srgbClr val="EFF6FF"/>
          </a:solidFill>
          <a:ln w="12700">
            <a:solidFill>
              <a:srgbClr val="EFF6FF"/>
            </a:solidFill>
            <a:prstDash val="solid"/>
          </a:ln>
        </p:spPr>
      </p:sp>
      <p:sp>
        <p:nvSpPr>
          <p:cNvPr id="30" name="Shape 23"/>
          <p:cNvSpPr/>
          <p:nvPr/>
        </p:nvSpPr>
        <p:spPr>
          <a:xfrm>
            <a:off x="667512" y="3831336"/>
            <a:ext cx="530352" cy="530352"/>
          </a:xfrm>
          <a:prstGeom prst="ellipse">
            <a:avLst/>
          </a:prstGeom>
          <a:solidFill>
            <a:srgbClr val="1D4ED8"/>
          </a:solidFill>
          <a:ln w="12700">
            <a:solidFill>
              <a:srgbClr val="1D4ED8"/>
            </a:solidFill>
            <a:prstDash val="solid"/>
          </a:ln>
        </p:spPr>
      </p:sp>
      <p:pic>
        <p:nvPicPr>
          <p:cNvPr id="31" name="Image 4" descr="preencoded.png"/>
          <p:cNvPicPr>
            <a:picLocks noChangeAspect="1"/>
          </p:cNvPicPr>
          <p:nvPr/>
        </p:nvPicPr>
        <p:blipFill>
          <a:blip r:embed="rId7"/>
          <a:stretch>
            <a:fillRect/>
          </a:stretch>
        </p:blipFill>
        <p:spPr>
          <a:xfrm>
            <a:off x="800100" y="3963924"/>
            <a:ext cx="265176" cy="265176"/>
          </a:xfrm>
          <a:prstGeom prst="rect">
            <a:avLst/>
          </a:prstGeom>
        </p:spPr>
      </p:pic>
      <p:sp>
        <p:nvSpPr>
          <p:cNvPr id="32" name="Text 24"/>
          <p:cNvSpPr txBox="1"/>
          <p:nvPr/>
        </p:nvSpPr>
        <p:spPr>
          <a:xfrm>
            <a:off x="1371600" y="3730752"/>
            <a:ext cx="3063240" cy="36576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Kiểm thử phần mềm</a:t>
            </a:r>
            <a:endParaRPr lang="vi-VN" sz="1450" dirty="0"/>
          </a:p>
        </p:txBody>
      </p:sp>
      <p:sp>
        <p:nvSpPr>
          <p:cNvPr id="33" name="Text 25"/>
          <p:cNvSpPr txBox="1"/>
          <p:nvPr/>
        </p:nvSpPr>
        <p:spPr>
          <a:xfrm>
            <a:off x="1371600" y="4105656"/>
            <a:ext cx="3063240" cy="4114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201 unit test, 38 integration test, 114 test case hệ thống</a:t>
            </a:r>
            <a:endParaRPr lang="vi-VN" sz="1150" dirty="0"/>
          </a:p>
        </p:txBody>
      </p:sp>
      <p:sp>
        <p:nvSpPr>
          <p:cNvPr id="34" name="Shape 26"/>
          <p:cNvSpPr/>
          <p:nvPr/>
        </p:nvSpPr>
        <p:spPr>
          <a:xfrm>
            <a:off x="4709160" y="3602736"/>
            <a:ext cx="4023360" cy="987552"/>
          </a:xfrm>
          <a:prstGeom prst="roundRect">
            <a:avLst>
              <a:gd name="adj" fmla="val 9259"/>
            </a:avLst>
          </a:prstGeom>
          <a:solidFill>
            <a:srgbClr val="EFF6FF"/>
          </a:solidFill>
          <a:ln w="12700">
            <a:solidFill>
              <a:srgbClr val="EFF6FF"/>
            </a:solidFill>
            <a:prstDash val="solid"/>
          </a:ln>
        </p:spPr>
      </p:sp>
      <p:sp>
        <p:nvSpPr>
          <p:cNvPr id="35" name="Shape 27"/>
          <p:cNvSpPr/>
          <p:nvPr/>
        </p:nvSpPr>
        <p:spPr>
          <a:xfrm>
            <a:off x="4873752" y="3831336"/>
            <a:ext cx="530352" cy="530352"/>
          </a:xfrm>
          <a:prstGeom prst="ellipse">
            <a:avLst/>
          </a:prstGeom>
          <a:solidFill>
            <a:srgbClr val="1D4ED8"/>
          </a:solidFill>
          <a:ln w="12700">
            <a:solidFill>
              <a:srgbClr val="1D4ED8"/>
            </a:solidFill>
            <a:prstDash val="solid"/>
          </a:ln>
        </p:spPr>
      </p:sp>
      <p:pic>
        <p:nvPicPr>
          <p:cNvPr id="36" name="Image 5" descr="preencoded.png"/>
          <p:cNvPicPr>
            <a:picLocks noChangeAspect="1"/>
          </p:cNvPicPr>
          <p:nvPr/>
        </p:nvPicPr>
        <p:blipFill>
          <a:blip r:embed="rId8"/>
          <a:stretch>
            <a:fillRect/>
          </a:stretch>
        </p:blipFill>
        <p:spPr>
          <a:xfrm>
            <a:off x="5006340" y="3963924"/>
            <a:ext cx="265176" cy="265176"/>
          </a:xfrm>
          <a:prstGeom prst="rect">
            <a:avLst/>
          </a:prstGeom>
        </p:spPr>
      </p:pic>
      <p:sp>
        <p:nvSpPr>
          <p:cNvPr id="37" name="Text 28"/>
          <p:cNvSpPr txBox="1"/>
          <p:nvPr/>
        </p:nvSpPr>
        <p:spPr>
          <a:xfrm>
            <a:off x="5577840" y="3730752"/>
            <a:ext cx="3063240" cy="365760"/>
          </a:xfrm>
          <a:prstGeom prst="rect">
            <a:avLst/>
          </a:prstGeom>
          <a:noFill/>
          <a:ln/>
        </p:spPr>
        <p:txBody>
          <a:bodyPr wrap="square" lIns="0" tIns="0" rIns="0" bIns="0" rtlCol="0" anchor="ctr"/>
          <a:lstStyle/>
          <a:p>
            <a:pPr marL="0" indent="0">
              <a:buNone/>
            </a:pPr>
            <a:r>
              <a:rPr lang="vi-VN" altLang="en-US" sz="1450" b="1" dirty="0">
                <a:solidFill>
                  <a:srgbClr val="0F2A5C"/>
                </a:solidFill>
                <a:latin typeface="Calibri" pitchFamily="34" charset="0"/>
                <a:ea typeface="Calibri" pitchFamily="34" charset="-122"/>
                <a:cs typeface="Calibri" pitchFamily="34" charset="-120"/>
              </a:rPr>
              <a:t>Tài liệu và quy ước</a:t>
            </a:r>
            <a:endParaRPr lang="vi-VN" sz="1450" dirty="0"/>
          </a:p>
        </p:txBody>
      </p:sp>
      <p:sp>
        <p:nvSpPr>
          <p:cNvPr id="38" name="Text 29"/>
          <p:cNvSpPr txBox="1"/>
          <p:nvPr/>
        </p:nvSpPr>
        <p:spPr>
          <a:xfrm>
            <a:off x="5577840" y="4105656"/>
            <a:ext cx="3063240" cy="411480"/>
          </a:xfrm>
          <a:prstGeom prst="rect">
            <a:avLst/>
          </a:prstGeom>
          <a:noFill/>
          <a:ln/>
        </p:spPr>
        <p:txBody>
          <a:bodyPr wrap="square" lIns="0" tIns="0" rIns="0" bIns="0" rtlCol="0" anchor="t"/>
          <a:lstStyle/>
          <a:p>
            <a:pPr marL="0" indent="0">
              <a:buNone/>
            </a:pPr>
            <a:r>
              <a:rPr lang="vi-VN" altLang="en-US" sz="1150" dirty="0">
                <a:solidFill>
                  <a:srgbClr val="64748B"/>
                </a:solidFill>
                <a:latin typeface="Calibri" pitchFamily="34" charset="0"/>
                <a:ea typeface="Calibri" pitchFamily="34" charset="-122"/>
                <a:cs typeface="Calibri" pitchFamily="34" charset="-120"/>
              </a:rPr>
              <a:t>Project Document, README, coding standard, test case</a:t>
            </a:r>
            <a:endParaRPr lang="vi-VN"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Hạn chế và hướng phát triển</a:t>
            </a:r>
            <a:endParaRPr lang="vi-VN" sz="2800" dirty="0"/>
          </a:p>
        </p:txBody>
      </p:sp>
      <p:sp>
        <p:nvSpPr>
          <p:cNvPr id="4" name="Text 2"/>
          <p:cNvSpPr txBox="1"/>
          <p:nvPr/>
        </p:nvSpPr>
        <p:spPr>
          <a:xfrm>
            <a:off x="502920" y="822960"/>
            <a:ext cx="8229600" cy="365760"/>
          </a:xfrm>
          <a:prstGeom prst="rect">
            <a:avLst/>
          </a:prstGeom>
          <a:noFill/>
          <a:ln/>
        </p:spPr>
        <p:txBody>
          <a:bodyPr wrap="square" lIns="0" tIns="0" rIns="0" bIns="0" rtlCol="0" anchor="ctr"/>
          <a:lstStyle/>
          <a:p>
            <a:pPr marL="0" indent="0">
              <a:buNone/>
            </a:pPr>
            <a:r>
              <a:rPr lang="vi-VN" altLang="en-US" sz="1500" dirty="0">
                <a:solidFill>
                  <a:srgbClr val="3B82F6"/>
                </a:solidFill>
                <a:latin typeface="Calibri" pitchFamily="34" charset="0"/>
                <a:ea typeface="Calibri" pitchFamily="34" charset="-122"/>
                <a:cs typeface="Calibri" pitchFamily="34" charset="-120"/>
              </a:rPr>
              <a:t>Nêu rõ phạm vi đã làm và việc sẽ làm tiếp</a:t>
            </a:r>
            <a:endParaRPr lang="vi-VN" sz="1500" dirty="0"/>
          </a:p>
        </p:txBody>
      </p:sp>
      <p:sp>
        <p:nvSpPr>
          <p:cNvPr id="5" name="Shape 3"/>
          <p:cNvSpPr/>
          <p:nvPr/>
        </p:nvSpPr>
        <p:spPr>
          <a:xfrm>
            <a:off x="502920" y="4828032"/>
            <a:ext cx="8183880" cy="0"/>
          </a:xfrm>
          <a:prstGeom prst="line">
            <a:avLst/>
          </a:prstGeom>
          <a:noFill/>
          <a:ln w="9525">
            <a:solidFill>
              <a:srgbClr val="D6E2F5"/>
            </a:solidFill>
            <a:prstDash val="solid"/>
          </a:ln>
        </p:spPr>
      </p:sp>
      <p:sp>
        <p:nvSpPr>
          <p:cNvPr id="6" name="Text 4"/>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7"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36</a:t>
            </a:r>
            <a:endParaRPr lang="vi-VN" sz="900" dirty="0"/>
          </a:p>
        </p:txBody>
      </p:sp>
      <p:sp>
        <p:nvSpPr>
          <p:cNvPr id="9" name="Shape 6"/>
          <p:cNvSpPr/>
          <p:nvPr/>
        </p:nvSpPr>
        <p:spPr>
          <a:xfrm>
            <a:off x="502920" y="1371600"/>
            <a:ext cx="3977640" cy="3291840"/>
          </a:xfrm>
          <a:prstGeom prst="roundRect">
            <a:avLst>
              <a:gd name="adj" fmla="val 2778"/>
            </a:avLst>
          </a:prstGeom>
          <a:solidFill>
            <a:srgbClr val="EFF6FF"/>
          </a:solidFill>
          <a:ln w="12700">
            <a:solidFill>
              <a:srgbClr val="EFF6FF"/>
            </a:solidFill>
            <a:prstDash val="solid"/>
          </a:ln>
        </p:spPr>
      </p:sp>
      <p:sp>
        <p:nvSpPr>
          <p:cNvPr id="10" name="Shape 7"/>
          <p:cNvSpPr/>
          <p:nvPr/>
        </p:nvSpPr>
        <p:spPr>
          <a:xfrm>
            <a:off x="4663440" y="1371600"/>
            <a:ext cx="4023360" cy="3291840"/>
          </a:xfrm>
          <a:prstGeom prst="roundRect">
            <a:avLst>
              <a:gd name="adj" fmla="val 2778"/>
            </a:avLst>
          </a:prstGeom>
          <a:solidFill>
            <a:srgbClr val="EFF6FF"/>
          </a:solidFill>
          <a:ln w="12700">
            <a:solidFill>
              <a:srgbClr val="EFF6FF"/>
            </a:solidFill>
            <a:prstDash val="solid"/>
          </a:ln>
        </p:spPr>
      </p:sp>
      <p:sp>
        <p:nvSpPr>
          <p:cNvPr id="11" name="Shape 8"/>
          <p:cNvSpPr/>
          <p:nvPr/>
        </p:nvSpPr>
        <p:spPr>
          <a:xfrm>
            <a:off x="731520" y="1554480"/>
            <a:ext cx="502920" cy="502920"/>
          </a:xfrm>
          <a:prstGeom prst="ellipse">
            <a:avLst/>
          </a:prstGeom>
          <a:solidFill>
            <a:srgbClr val="D97706"/>
          </a:solidFill>
          <a:ln w="12700">
            <a:solidFill>
              <a:srgbClr val="D97706"/>
            </a:solidFill>
            <a:prstDash val="solid"/>
          </a:ln>
        </p:spPr>
      </p:sp>
      <p:pic>
        <p:nvPicPr>
          <p:cNvPr id="12" name="Image 0" descr="preencoded.png"/>
          <p:cNvPicPr>
            <a:picLocks noChangeAspect="1"/>
          </p:cNvPicPr>
          <p:nvPr/>
        </p:nvPicPr>
        <p:blipFill>
          <a:blip r:embed="rId3"/>
          <a:stretch>
            <a:fillRect/>
          </a:stretch>
        </p:blipFill>
        <p:spPr>
          <a:xfrm>
            <a:off x="857250" y="1680210"/>
            <a:ext cx="251460" cy="251460"/>
          </a:xfrm>
          <a:prstGeom prst="rect">
            <a:avLst/>
          </a:prstGeom>
        </p:spPr>
      </p:pic>
      <p:sp>
        <p:nvSpPr>
          <p:cNvPr id="13" name="Text 9"/>
          <p:cNvSpPr txBox="1"/>
          <p:nvPr/>
        </p:nvSpPr>
        <p:spPr>
          <a:xfrm>
            <a:off x="1371600" y="1554480"/>
            <a:ext cx="2743200" cy="502920"/>
          </a:xfrm>
          <a:prstGeom prst="rect">
            <a:avLst/>
          </a:prstGeom>
          <a:noFill/>
          <a:ln/>
        </p:spPr>
        <p:txBody>
          <a:bodyPr wrap="square" lIns="0" tIns="0" rIns="0" bIns="0" rtlCol="0" anchor="ctr"/>
          <a:lstStyle/>
          <a:p>
            <a:pPr marL="0" indent="0">
              <a:buNone/>
            </a:pPr>
            <a:r>
              <a:rPr lang="vi-VN" altLang="en-US" sz="2000" b="1" dirty="0">
                <a:solidFill>
                  <a:srgbClr val="D97706"/>
                </a:solidFill>
                <a:latin typeface="Calibri" pitchFamily="34" charset="0"/>
                <a:ea typeface="Calibri" pitchFamily="34" charset="-122"/>
                <a:cs typeface="Calibri" pitchFamily="34" charset="-120"/>
              </a:rPr>
              <a:t>Hạn chế</a:t>
            </a:r>
            <a:endParaRPr lang="vi-VN" sz="2000" dirty="0"/>
          </a:p>
        </p:txBody>
      </p:sp>
      <p:sp>
        <p:nvSpPr>
          <p:cNvPr id="14" name="Text 10"/>
          <p:cNvSpPr txBox="1"/>
          <p:nvPr/>
        </p:nvSpPr>
        <p:spPr>
          <a:xfrm>
            <a:off x="731520" y="2286000"/>
            <a:ext cx="3566160" cy="2286000"/>
          </a:xfrm>
          <a:prstGeom prst="rect">
            <a:avLst/>
          </a:prstGeom>
          <a:noFill/>
          <a:ln/>
        </p:spPr>
        <p:txBody>
          <a:bodyPr wrap="square" lIns="0" tIns="0" rIns="0" bIns="0" rtlCol="0" anchor="t"/>
          <a:lstStyle/>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Phụ thuộc nguồn </a:t>
            </a:r>
            <a:r>
              <a:rPr lang="en-US" altLang="en-US" sz="1350" dirty="0" err="1">
                <a:solidFill>
                  <a:srgbClr val="1F2937"/>
                </a:solidFill>
                <a:latin typeface="Calibri" pitchFamily="34" charset="0"/>
                <a:ea typeface="Calibri" pitchFamily="34" charset="-122"/>
                <a:cs typeface="Calibri" pitchFamily="34" charset="-120"/>
              </a:rPr>
              <a:t>dữ</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liệu</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bên</a:t>
            </a:r>
            <a:r>
              <a:rPr lang="en-US" altLang="en-US" sz="1350" dirty="0">
                <a:solidFill>
                  <a:srgbClr val="1F2937"/>
                </a:solidFill>
                <a:latin typeface="Calibri" pitchFamily="34" charset="0"/>
                <a:ea typeface="Calibri" pitchFamily="34" charset="-122"/>
                <a:cs typeface="Calibri" pitchFamily="34" charset="-120"/>
              </a:rPr>
              <a:t> </a:t>
            </a:r>
            <a:r>
              <a:rPr lang="en-US" altLang="en-US" sz="1350" dirty="0" err="1">
                <a:solidFill>
                  <a:srgbClr val="1F2937"/>
                </a:solidFill>
                <a:latin typeface="Calibri" pitchFamily="34" charset="0"/>
                <a:ea typeface="Calibri" pitchFamily="34" charset="-122"/>
                <a:cs typeface="Calibri" pitchFamily="34" charset="-120"/>
              </a:rPr>
              <a:t>ngoài</a:t>
            </a:r>
            <a:r>
              <a:rPr lang="en-US" altLang="en-US" sz="1350" dirty="0">
                <a:solidFill>
                  <a:srgbClr val="1F2937"/>
                </a:solidFill>
                <a:latin typeface="Calibri" pitchFamily="34" charset="0"/>
                <a:ea typeface="Calibri" pitchFamily="34" charset="-122"/>
                <a:cs typeface="Calibri" pitchFamily="34" charset="-120"/>
              </a:rPr>
              <a:t> </a:t>
            </a:r>
            <a:r>
              <a:rPr lang="vi-VN" altLang="en-US" sz="1350" dirty="0">
                <a:solidFill>
                  <a:srgbClr val="1F2937"/>
                </a:solidFill>
                <a:latin typeface="Calibri" pitchFamily="34" charset="0"/>
                <a:ea typeface="Calibri" pitchFamily="34" charset="-122"/>
                <a:cs typeface="Calibri" pitchFamily="34" charset="-120"/>
              </a:rPr>
              <a:t>và Internet</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Đề xuất số chỉ mang tính tham khảo</a:t>
            </a:r>
            <a:endParaRPr lang="vi-VN" sz="1350" dirty="0"/>
          </a:p>
        </p:txBody>
      </p:sp>
      <p:sp>
        <p:nvSpPr>
          <p:cNvPr id="15" name="Shape 11"/>
          <p:cNvSpPr/>
          <p:nvPr/>
        </p:nvSpPr>
        <p:spPr>
          <a:xfrm>
            <a:off x="4892040" y="1554480"/>
            <a:ext cx="502920" cy="502920"/>
          </a:xfrm>
          <a:prstGeom prst="ellipse">
            <a:avLst/>
          </a:prstGeom>
          <a:solidFill>
            <a:srgbClr val="1D4ED8"/>
          </a:solidFill>
          <a:ln w="12700">
            <a:solidFill>
              <a:srgbClr val="1D4ED8"/>
            </a:solidFill>
            <a:prstDash val="solid"/>
          </a:ln>
        </p:spPr>
      </p:sp>
      <p:pic>
        <p:nvPicPr>
          <p:cNvPr id="16" name="Image 1" descr="preencoded.png"/>
          <p:cNvPicPr>
            <a:picLocks noChangeAspect="1"/>
          </p:cNvPicPr>
          <p:nvPr/>
        </p:nvPicPr>
        <p:blipFill>
          <a:blip r:embed="rId4"/>
          <a:stretch>
            <a:fillRect/>
          </a:stretch>
        </p:blipFill>
        <p:spPr>
          <a:xfrm>
            <a:off x="5017770" y="1680210"/>
            <a:ext cx="251460" cy="251460"/>
          </a:xfrm>
          <a:prstGeom prst="rect">
            <a:avLst/>
          </a:prstGeom>
        </p:spPr>
      </p:pic>
      <p:sp>
        <p:nvSpPr>
          <p:cNvPr id="17" name="Text 12"/>
          <p:cNvSpPr txBox="1"/>
          <p:nvPr/>
        </p:nvSpPr>
        <p:spPr>
          <a:xfrm>
            <a:off x="5532120" y="1554480"/>
            <a:ext cx="3017520" cy="502920"/>
          </a:xfrm>
          <a:prstGeom prst="rect">
            <a:avLst/>
          </a:prstGeom>
          <a:noFill/>
          <a:ln/>
        </p:spPr>
        <p:txBody>
          <a:bodyPr wrap="square" lIns="0" tIns="0" rIns="0" bIns="0" rtlCol="0" anchor="ctr"/>
          <a:lstStyle/>
          <a:p>
            <a:pPr marL="0" indent="0">
              <a:buNone/>
            </a:pPr>
            <a:r>
              <a:rPr lang="vi-VN" altLang="en-US" sz="2000" b="1" dirty="0">
                <a:solidFill>
                  <a:srgbClr val="1D4ED8"/>
                </a:solidFill>
                <a:latin typeface="Calibri" pitchFamily="34" charset="0"/>
                <a:ea typeface="Calibri" pitchFamily="34" charset="-122"/>
                <a:cs typeface="Calibri" pitchFamily="34" charset="-120"/>
              </a:rPr>
              <a:t>Hướng phát triển</a:t>
            </a:r>
            <a:endParaRPr lang="vi-VN" sz="2000" dirty="0"/>
          </a:p>
        </p:txBody>
      </p:sp>
      <p:sp>
        <p:nvSpPr>
          <p:cNvPr id="18" name="Text 13"/>
          <p:cNvSpPr txBox="1"/>
          <p:nvPr/>
        </p:nvSpPr>
        <p:spPr>
          <a:xfrm>
            <a:off x="4892040" y="2286000"/>
            <a:ext cx="3611880" cy="2286000"/>
          </a:xfrm>
          <a:prstGeom prst="rect">
            <a:avLst/>
          </a:prstGeom>
          <a:noFill/>
          <a:ln/>
        </p:spPr>
        <p:txBody>
          <a:bodyPr wrap="square" lIns="0" tIns="0" rIns="0" bIns="0" rtlCol="0" anchor="t"/>
          <a:lstStyle/>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Nhập kết quả thủ công làm dự phòng</a:t>
            </a:r>
            <a:endParaRPr lang="en-US" altLang="en-US" sz="1350" dirty="0">
              <a:solidFill>
                <a:srgbClr val="1F2937"/>
              </a:solidFill>
              <a:latin typeface="Calibri" pitchFamily="34" charset="0"/>
              <a:ea typeface="Calibri" pitchFamily="34" charset="-122"/>
              <a:cs typeface="Calibri" pitchFamily="34" charset="-120"/>
            </a:endParaRPr>
          </a:p>
          <a:p>
            <a:pPr marL="177800" indent="-177800">
              <a:spcAft>
                <a:spcPts val="600"/>
              </a:spcAft>
              <a:buSzPct val="100000"/>
              <a:buFontTx/>
              <a:buChar char="•"/>
            </a:pPr>
            <a:r>
              <a:rPr lang="en-US" altLang="en-US" sz="1350" dirty="0">
                <a:solidFill>
                  <a:srgbClr val="1F2937"/>
                </a:solidFill>
                <a:latin typeface="Calibri" pitchFamily="34" charset="0"/>
                <a:ea typeface="Calibri" pitchFamily="34" charset="-122"/>
                <a:cs typeface="Calibri" pitchFamily="34" charset="-120"/>
              </a:rPr>
              <a:t>Đ</a:t>
            </a:r>
            <a:r>
              <a:rPr lang="vi-VN" altLang="en-US" sz="1350" dirty="0">
                <a:solidFill>
                  <a:srgbClr val="1F2937"/>
                </a:solidFill>
                <a:latin typeface="Calibri" pitchFamily="34" charset="0"/>
                <a:ea typeface="Calibri" pitchFamily="34" charset="-122"/>
                <a:cs typeface="Calibri" pitchFamily="34" charset="-120"/>
              </a:rPr>
              <a:t>ăng nhập Facebook/Google, mời qua email</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Thống kê theo giải, biểu đồ</a:t>
            </a:r>
            <a:endParaRPr lang="vi-VN" sz="1350" dirty="0"/>
          </a:p>
          <a:p>
            <a:pPr marL="177800" indent="-177800">
              <a:spcAft>
                <a:spcPts val="600"/>
              </a:spcAft>
              <a:buSzPct val="100000"/>
              <a:buChar char="•"/>
            </a:pPr>
            <a:r>
              <a:rPr lang="vi-VN" altLang="en-US" sz="1350" dirty="0">
                <a:solidFill>
                  <a:srgbClr val="1F2937"/>
                </a:solidFill>
                <a:latin typeface="Calibri" pitchFamily="34" charset="0"/>
                <a:ea typeface="Calibri" pitchFamily="34" charset="-122"/>
                <a:cs typeface="Calibri" pitchFamily="34" charset="-120"/>
              </a:rPr>
              <a:t>Triển khai máy chủ thật có HTTPS</a:t>
            </a:r>
            <a:endParaRPr lang="vi-VN"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Text 1"/>
          <p:cNvSpPr txBox="1"/>
          <p:nvPr/>
        </p:nvSpPr>
        <p:spPr>
          <a:xfrm>
            <a:off x="502920" y="256032"/>
            <a:ext cx="8229600" cy="548640"/>
          </a:xfrm>
          <a:prstGeom prst="rect">
            <a:avLst/>
          </a:prstGeom>
          <a:noFill/>
          <a:ln/>
        </p:spPr>
        <p:txBody>
          <a:bodyPr wrap="square" lIns="0" tIns="0" rIns="0" bIns="0" rtlCol="0" anchor="ctr"/>
          <a:lstStyle/>
          <a:p>
            <a:pPr marL="0" indent="0">
              <a:buNone/>
            </a:pPr>
            <a:r>
              <a:rPr lang="vi-VN" altLang="en-US" sz="2800" b="1" dirty="0">
                <a:solidFill>
                  <a:srgbClr val="0F2A5C"/>
                </a:solidFill>
                <a:latin typeface="Calibri" pitchFamily="34" charset="0"/>
                <a:ea typeface="Calibri" pitchFamily="34" charset="-122"/>
                <a:cs typeface="Calibri" pitchFamily="34" charset="-120"/>
              </a:rPr>
              <a:t>Tài liệu tham khảo</a:t>
            </a:r>
            <a:endParaRPr lang="vi-VN" sz="2800" dirty="0"/>
          </a:p>
        </p:txBody>
      </p:sp>
      <p:sp>
        <p:nvSpPr>
          <p:cNvPr id="4" name="Shape 2"/>
          <p:cNvSpPr/>
          <p:nvPr/>
        </p:nvSpPr>
        <p:spPr>
          <a:xfrm>
            <a:off x="502920" y="4828032"/>
            <a:ext cx="8183880" cy="0"/>
          </a:xfrm>
          <a:prstGeom prst="line">
            <a:avLst/>
          </a:prstGeom>
          <a:noFill/>
          <a:ln w="9525">
            <a:solidFill>
              <a:srgbClr val="D6E2F5"/>
            </a:solidFill>
            <a:prstDash val="solid"/>
          </a:ln>
        </p:spPr>
      </p:sp>
      <p:sp>
        <p:nvSpPr>
          <p:cNvPr id="5" name="Text 3"/>
          <p:cNvSpPr txBox="1"/>
          <p:nvPr/>
        </p:nvSpPr>
        <p:spPr>
          <a:xfrm>
            <a:off x="502920" y="4864608"/>
            <a:ext cx="4572000" cy="201168"/>
          </a:xfrm>
          <a:prstGeom prst="rect">
            <a:avLst/>
          </a:prstGeom>
          <a:noFill/>
          <a:ln/>
        </p:spPr>
        <p:txBody>
          <a:bodyPr wrap="square" lIns="0" tIns="0" rIns="0" bIns="0" rtlCol="0" anchor="t"/>
          <a:lstStyle/>
          <a:p>
            <a:pPr marL="0" indent="0">
              <a:buNone/>
            </a:pPr>
            <a:r>
              <a:rPr lang="vi-VN" altLang="en-US" sz="900" dirty="0">
                <a:solidFill>
                  <a:srgbClr val="64748B"/>
                </a:solidFill>
                <a:latin typeface="Calibri" pitchFamily="34" charset="0"/>
                <a:ea typeface="Calibri" pitchFamily="34" charset="-122"/>
                <a:cs typeface="Calibri" pitchFamily="34" charset="-120"/>
              </a:rPr>
              <a:t>Dò vé số  ·  DucNVFX14814</a:t>
            </a:r>
            <a:endParaRPr lang="vi-VN" sz="900" dirty="0"/>
          </a:p>
        </p:txBody>
      </p:sp>
      <p:sp>
        <p:nvSpPr>
          <p:cNvPr id="6" name="Text 4"/>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37</a:t>
            </a:r>
            <a:endParaRPr lang="vi-VN" sz="900" dirty="0"/>
          </a:p>
        </p:txBody>
      </p:sp>
      <p:sp>
        <p:nvSpPr>
          <p:cNvPr id="8" name="Text 5"/>
          <p:cNvSpPr txBox="1"/>
          <p:nvPr/>
        </p:nvSpPr>
        <p:spPr>
          <a:xfrm>
            <a:off x="502920" y="1097280"/>
            <a:ext cx="4114800" cy="3566160"/>
          </a:xfrm>
          <a:prstGeom prst="rect">
            <a:avLst/>
          </a:prstGeom>
          <a:noFill/>
          <a:ln/>
        </p:spPr>
        <p:txBody>
          <a:bodyPr wrap="square" lIns="0" tIns="0" rIns="0" bIns="0" rtlCol="0" anchor="t"/>
          <a:lstStyle/>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Bootstrap 5 Documentation: getbootstrap.com/docs/5.3</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SB Admin 2 (Start Bootstrap): startbootstrap.com/theme/sb-admin-2</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Apache Tomcat 9 Documentation: tomcat.apache.org/tomcat-9.0-doc</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MySQL 8.0 Reference Manual: dev.mysql.com/doc/refman/8.0/en</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JUnit 5 User Guide: junit.org/junit5/docs/current/user-guide</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Mockito: site.mockito.org</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HikariCP: github.com/brettwooldridge/HikariCP</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Apache Maven: maven.apache.org/guides</a:t>
            </a:r>
            <a:endParaRPr lang="vi-VN" sz="1200" dirty="0"/>
          </a:p>
        </p:txBody>
      </p:sp>
      <p:sp>
        <p:nvSpPr>
          <p:cNvPr id="9" name="Text 6"/>
          <p:cNvSpPr txBox="1"/>
          <p:nvPr/>
        </p:nvSpPr>
        <p:spPr>
          <a:xfrm>
            <a:off x="4709160" y="1097280"/>
            <a:ext cx="4023360" cy="3566160"/>
          </a:xfrm>
          <a:prstGeom prst="rect">
            <a:avLst/>
          </a:prstGeom>
          <a:noFill/>
          <a:ln/>
        </p:spPr>
        <p:txBody>
          <a:bodyPr wrap="square" lIns="0" tIns="0" rIns="0" bIns="0" rtlCol="0" anchor="t"/>
          <a:lstStyle/>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jsoup Java HTML Parser: jsoup.org</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jBCrypt: mindrot.org/projects/jBCrypt</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Google HTML/CSS Style Guide: google.github.io/styleguide/htmlcssguide.html</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Oracle Java Code Conventions, Google Java Style Guide</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Kết quả xổ số Minh Ngọc (nguồn dữ liệu): minhngoc.net.vn/ket-qua-xo-so</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Trang dò vé số tham khảo: xskt.com.vn/do-ve-so</a:t>
            </a:r>
            <a:endParaRPr lang="vi-VN" sz="1200" dirty="0"/>
          </a:p>
          <a:p>
            <a:pPr marL="177800" indent="-177800">
              <a:spcAft>
                <a:spcPts val="600"/>
              </a:spcAft>
              <a:buSzPct val="100000"/>
              <a:buChar char="•"/>
            </a:pPr>
            <a:r>
              <a:rPr lang="vi-VN" altLang="en-US" sz="1200" dirty="0">
                <a:solidFill>
                  <a:srgbClr val="1F2937"/>
                </a:solidFill>
                <a:latin typeface="Calibri" pitchFamily="34" charset="0"/>
                <a:ea typeface="Calibri" pitchFamily="34" charset="-122"/>
                <a:cs typeface="Calibri" pitchFamily="34" charset="-120"/>
              </a:rPr>
              <a:t>Tài liệu môn học LAB301x, FUNiX</a:t>
            </a:r>
            <a:endParaRPr lang="vi-VN"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D4ED8"/>
          </a:solidFill>
          <a:ln w="12700">
            <a:solidFill>
              <a:srgbClr val="1D4ED8"/>
            </a:solidFill>
            <a:prstDash val="solid"/>
          </a:ln>
        </p:spPr>
      </p:sp>
      <p:sp>
        <p:nvSpPr>
          <p:cNvPr id="3" name="Shape 1"/>
          <p:cNvSpPr/>
          <p:nvPr/>
        </p:nvSpPr>
        <p:spPr>
          <a:xfrm>
            <a:off x="731520" y="1371600"/>
            <a:ext cx="1097280" cy="1097280"/>
          </a:xfrm>
          <a:prstGeom prst="ellipse">
            <a:avLst/>
          </a:prstGeom>
          <a:solidFill>
            <a:srgbClr val="1D4ED8"/>
          </a:solidFill>
          <a:ln w="12700">
            <a:solidFill>
              <a:srgbClr val="1D4ED8"/>
            </a:solidFill>
            <a:prstDash val="solid"/>
          </a:ln>
        </p:spPr>
      </p:sp>
      <p:pic>
        <p:nvPicPr>
          <p:cNvPr id="4" name="Image 0" descr="preencoded.png"/>
          <p:cNvPicPr>
            <a:picLocks noChangeAspect="1"/>
          </p:cNvPicPr>
          <p:nvPr/>
        </p:nvPicPr>
        <p:blipFill>
          <a:blip r:embed="rId3"/>
          <a:stretch>
            <a:fillRect/>
          </a:stretch>
        </p:blipFill>
        <p:spPr>
          <a:xfrm>
            <a:off x="1005840" y="1645920"/>
            <a:ext cx="548640" cy="548640"/>
          </a:xfrm>
          <a:prstGeom prst="rect">
            <a:avLst/>
          </a:prstGeom>
        </p:spPr>
      </p:pic>
      <p:sp>
        <p:nvSpPr>
          <p:cNvPr id="5" name="Text 2"/>
          <p:cNvSpPr txBox="1"/>
          <p:nvPr/>
        </p:nvSpPr>
        <p:spPr>
          <a:xfrm>
            <a:off x="2103120" y="1325880"/>
            <a:ext cx="6400800" cy="822960"/>
          </a:xfrm>
          <a:prstGeom prst="rect">
            <a:avLst/>
          </a:prstGeom>
          <a:noFill/>
          <a:ln/>
        </p:spPr>
        <p:txBody>
          <a:bodyPr wrap="square" lIns="0" tIns="0" rIns="0" bIns="0" rtlCol="0" anchor="ctr"/>
          <a:lstStyle/>
          <a:p>
            <a:pPr marL="0" indent="0">
              <a:buNone/>
            </a:pPr>
            <a:r>
              <a:rPr lang="vi-VN" altLang="en-US" sz="4400" b="1" dirty="0">
                <a:solidFill>
                  <a:srgbClr val="0F2A5C"/>
                </a:solidFill>
                <a:latin typeface="Calibri" pitchFamily="34" charset="0"/>
                <a:ea typeface="Calibri" pitchFamily="34" charset="-122"/>
                <a:cs typeface="Calibri" pitchFamily="34" charset="-120"/>
              </a:rPr>
              <a:t>Hỏi và đáp</a:t>
            </a:r>
            <a:endParaRPr lang="vi-VN" sz="4400" dirty="0"/>
          </a:p>
        </p:txBody>
      </p:sp>
      <p:sp>
        <p:nvSpPr>
          <p:cNvPr id="6" name="Text 3"/>
          <p:cNvSpPr txBox="1"/>
          <p:nvPr/>
        </p:nvSpPr>
        <p:spPr>
          <a:xfrm>
            <a:off x="2103120" y="2240280"/>
            <a:ext cx="6400800" cy="457200"/>
          </a:xfrm>
          <a:prstGeom prst="rect">
            <a:avLst/>
          </a:prstGeom>
          <a:noFill/>
          <a:ln/>
        </p:spPr>
        <p:txBody>
          <a:bodyPr wrap="square" lIns="0" tIns="0" rIns="0" bIns="0" rtlCol="0" anchor="t"/>
          <a:lstStyle/>
          <a:p>
            <a:pPr marL="0" indent="0">
              <a:buNone/>
            </a:pPr>
            <a:r>
              <a:rPr lang="vi-VN" altLang="en-US" sz="2000" dirty="0">
                <a:solidFill>
                  <a:srgbClr val="64748B"/>
                </a:solidFill>
                <a:latin typeface="Calibri" pitchFamily="34" charset="0"/>
                <a:ea typeface="Calibri" pitchFamily="34" charset="-122"/>
                <a:cs typeface="Calibri" pitchFamily="34" charset="-120"/>
              </a:rPr>
              <a:t>Em xin cảm ơn hội đồng đã lắng nghe</a:t>
            </a:r>
            <a:endParaRPr lang="vi-VN" sz="2000" dirty="0"/>
          </a:p>
        </p:txBody>
      </p:sp>
      <p:sp>
        <p:nvSpPr>
          <p:cNvPr id="8" name="Text 5"/>
          <p:cNvSpPr txBox="1"/>
          <p:nvPr/>
        </p:nvSpPr>
        <p:spPr>
          <a:xfrm>
            <a:off x="8138160" y="4864608"/>
            <a:ext cx="548640" cy="201168"/>
          </a:xfrm>
          <a:prstGeom prst="rect">
            <a:avLst/>
          </a:prstGeom>
          <a:noFill/>
          <a:ln/>
        </p:spPr>
        <p:txBody>
          <a:bodyPr wrap="square" lIns="0" tIns="0" rIns="0" bIns="0" rtlCol="0" anchor="t"/>
          <a:lstStyle/>
          <a:p>
            <a:pPr marL="0" indent="0" algn="r">
              <a:buNone/>
            </a:pPr>
            <a:r>
              <a:rPr lang="vi-VN" altLang="en-US" sz="900" dirty="0">
                <a:solidFill>
                  <a:srgbClr val="64748B"/>
                </a:solidFill>
                <a:latin typeface="Calibri" pitchFamily="34" charset="0"/>
                <a:ea typeface="Calibri" pitchFamily="34" charset="-122"/>
                <a:cs typeface="Calibri" pitchFamily="34" charset="-120"/>
              </a:rPr>
              <a:t>38</a:t>
            </a:r>
            <a:endParaRPr lang="vi-VN"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4816</Words>
  <Application>Microsoft Office PowerPoint</Application>
  <PresentationFormat>On-screen Show (16:9)</PresentationFormat>
  <Paragraphs>544</Paragraphs>
  <Slides>37</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Dò vé số – Báo cáo dự án</dc:title>
  <dc:subject>PptxGenJS Presentation</dc:subject>
  <dc:creator>Nguyễn Việt Đức</dc:creator>
  <cp:lastModifiedBy>Việt Đức Nguyễn</cp:lastModifiedBy>
  <cp:revision>4</cp:revision>
  <dcterms:created xsi:type="dcterms:W3CDTF">2026-10-16T03:15:30Z</dcterms:created>
  <dcterms:modified xsi:type="dcterms:W3CDTF">2026-10-16T11:07:12Z</dcterms:modified>
</cp:coreProperties>
</file>